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sldIdLst>
    <p:sldId id="256" r:id="rId5"/>
    <p:sldId id="257" r:id="rId6"/>
    <p:sldId id="258" r:id="rId7"/>
    <p:sldId id="259" r:id="rId8"/>
    <p:sldId id="260" r:id="rId9"/>
    <p:sldId id="261" r:id="rId10"/>
    <p:sldId id="262" r:id="rId11"/>
    <p:sldId id="263" r:id="rId12"/>
    <p:sldId id="264" r:id="rId13"/>
    <p:sldId id="265"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0" d="100"/>
          <a:sy n="120" d="100"/>
        </p:scale>
        <p:origin x="11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mien BERGER" userId="3380b072-0d25-4197-b8dd-c274e83c8a47" providerId="ADAL" clId="{C2B5A3A9-1D15-4227-85AA-7BB0FF3A0018}"/>
    <pc:docChg chg="custSel modSld">
      <pc:chgData name="Damien BERGER" userId="3380b072-0d25-4197-b8dd-c274e83c8a47" providerId="ADAL" clId="{C2B5A3A9-1D15-4227-85AA-7BB0FF3A0018}" dt="2026-04-10T15:50:11.986" v="19" actId="27636"/>
      <pc:docMkLst>
        <pc:docMk/>
      </pc:docMkLst>
      <pc:sldChg chg="modSp mod">
        <pc:chgData name="Damien BERGER" userId="3380b072-0d25-4197-b8dd-c274e83c8a47" providerId="ADAL" clId="{C2B5A3A9-1D15-4227-85AA-7BB0FF3A0018}" dt="2026-04-10T15:50:11.907" v="1" actId="27636"/>
        <pc:sldMkLst>
          <pc:docMk/>
          <pc:sldMk cId="0" sldId="259"/>
        </pc:sldMkLst>
        <pc:spChg chg="mod">
          <ac:chgData name="Damien BERGER" userId="3380b072-0d25-4197-b8dd-c274e83c8a47" providerId="ADAL" clId="{C2B5A3A9-1D15-4227-85AA-7BB0FF3A0018}" dt="2026-04-10T15:50:11.907" v="1" actId="27636"/>
          <ac:spMkLst>
            <pc:docMk/>
            <pc:sldMk cId="0" sldId="259"/>
            <ac:spMk id="51" creationId="{00000000-0000-0000-0000-000000000000}"/>
          </ac:spMkLst>
        </pc:spChg>
      </pc:sldChg>
      <pc:sldChg chg="modSp mod">
        <pc:chgData name="Damien BERGER" userId="3380b072-0d25-4197-b8dd-c274e83c8a47" providerId="ADAL" clId="{C2B5A3A9-1D15-4227-85AA-7BB0FF3A0018}" dt="2026-04-10T15:50:11.919" v="2" actId="27636"/>
        <pc:sldMkLst>
          <pc:docMk/>
          <pc:sldMk cId="0" sldId="260"/>
        </pc:sldMkLst>
        <pc:spChg chg="mod">
          <ac:chgData name="Damien BERGER" userId="3380b072-0d25-4197-b8dd-c274e83c8a47" providerId="ADAL" clId="{C2B5A3A9-1D15-4227-85AA-7BB0FF3A0018}" dt="2026-04-10T15:50:11.919" v="2" actId="27636"/>
          <ac:spMkLst>
            <pc:docMk/>
            <pc:sldMk cId="0" sldId="260"/>
            <ac:spMk id="46" creationId="{00000000-0000-0000-0000-000000000000}"/>
          </ac:spMkLst>
        </pc:spChg>
      </pc:sldChg>
      <pc:sldChg chg="modSp mod">
        <pc:chgData name="Damien BERGER" userId="3380b072-0d25-4197-b8dd-c274e83c8a47" providerId="ADAL" clId="{C2B5A3A9-1D15-4227-85AA-7BB0FF3A0018}" dt="2026-04-10T15:50:11.945" v="9" actId="27636"/>
        <pc:sldMkLst>
          <pc:docMk/>
          <pc:sldMk cId="0" sldId="261"/>
        </pc:sldMkLst>
        <pc:spChg chg="mod">
          <ac:chgData name="Damien BERGER" userId="3380b072-0d25-4197-b8dd-c274e83c8a47" providerId="ADAL" clId="{C2B5A3A9-1D15-4227-85AA-7BB0FF3A0018}" dt="2026-04-10T15:50:11.942" v="7" actId="27636"/>
          <ac:spMkLst>
            <pc:docMk/>
            <pc:sldMk cId="0" sldId="261"/>
            <ac:spMk id="22" creationId="{00000000-0000-0000-0000-000000000000}"/>
          </ac:spMkLst>
        </pc:spChg>
        <pc:spChg chg="mod">
          <ac:chgData name="Damien BERGER" userId="3380b072-0d25-4197-b8dd-c274e83c8a47" providerId="ADAL" clId="{C2B5A3A9-1D15-4227-85AA-7BB0FF3A0018}" dt="2026-04-10T15:50:11.925" v="3" actId="27636"/>
          <ac:spMkLst>
            <pc:docMk/>
            <pc:sldMk cId="0" sldId="261"/>
            <ac:spMk id="25" creationId="{00000000-0000-0000-0000-000000000000}"/>
          </ac:spMkLst>
        </pc:spChg>
        <pc:spChg chg="mod">
          <ac:chgData name="Damien BERGER" userId="3380b072-0d25-4197-b8dd-c274e83c8a47" providerId="ADAL" clId="{C2B5A3A9-1D15-4227-85AA-7BB0FF3A0018}" dt="2026-04-10T15:50:11.927" v="4" actId="27636"/>
          <ac:spMkLst>
            <pc:docMk/>
            <pc:sldMk cId="0" sldId="261"/>
            <ac:spMk id="26" creationId="{00000000-0000-0000-0000-000000000000}"/>
          </ac:spMkLst>
        </pc:spChg>
        <pc:spChg chg="mod">
          <ac:chgData name="Damien BERGER" userId="3380b072-0d25-4197-b8dd-c274e83c8a47" providerId="ADAL" clId="{C2B5A3A9-1D15-4227-85AA-7BB0FF3A0018}" dt="2026-04-10T15:50:11.934" v="5" actId="27636"/>
          <ac:spMkLst>
            <pc:docMk/>
            <pc:sldMk cId="0" sldId="261"/>
            <ac:spMk id="28" creationId="{00000000-0000-0000-0000-000000000000}"/>
          </ac:spMkLst>
        </pc:spChg>
        <pc:spChg chg="mod">
          <ac:chgData name="Damien BERGER" userId="3380b072-0d25-4197-b8dd-c274e83c8a47" providerId="ADAL" clId="{C2B5A3A9-1D15-4227-85AA-7BB0FF3A0018}" dt="2026-04-10T15:50:11.945" v="9" actId="27636"/>
          <ac:spMkLst>
            <pc:docMk/>
            <pc:sldMk cId="0" sldId="261"/>
            <ac:spMk id="32" creationId="{00000000-0000-0000-0000-000000000000}"/>
          </ac:spMkLst>
        </pc:spChg>
        <pc:spChg chg="mod">
          <ac:chgData name="Damien BERGER" userId="3380b072-0d25-4197-b8dd-c274e83c8a47" providerId="ADAL" clId="{C2B5A3A9-1D15-4227-85AA-7BB0FF3A0018}" dt="2026-04-10T15:50:11.937" v="6" actId="27636"/>
          <ac:spMkLst>
            <pc:docMk/>
            <pc:sldMk cId="0" sldId="261"/>
            <ac:spMk id="38" creationId="{00000000-0000-0000-0000-000000000000}"/>
          </ac:spMkLst>
        </pc:spChg>
        <pc:spChg chg="mod">
          <ac:chgData name="Damien BERGER" userId="3380b072-0d25-4197-b8dd-c274e83c8a47" providerId="ADAL" clId="{C2B5A3A9-1D15-4227-85AA-7BB0FF3A0018}" dt="2026-04-10T15:50:11.944" v="8" actId="27636"/>
          <ac:spMkLst>
            <pc:docMk/>
            <pc:sldMk cId="0" sldId="261"/>
            <ac:spMk id="41" creationId="{00000000-0000-0000-0000-000000000000}"/>
          </ac:spMkLst>
        </pc:spChg>
      </pc:sldChg>
      <pc:sldChg chg="modSp mod">
        <pc:chgData name="Damien BERGER" userId="3380b072-0d25-4197-b8dd-c274e83c8a47" providerId="ADAL" clId="{C2B5A3A9-1D15-4227-85AA-7BB0FF3A0018}" dt="2026-04-10T15:50:11.963" v="15" actId="27636"/>
        <pc:sldMkLst>
          <pc:docMk/>
          <pc:sldMk cId="0" sldId="262"/>
        </pc:sldMkLst>
        <pc:spChg chg="mod">
          <ac:chgData name="Damien BERGER" userId="3380b072-0d25-4197-b8dd-c274e83c8a47" providerId="ADAL" clId="{C2B5A3A9-1D15-4227-85AA-7BB0FF3A0018}" dt="2026-04-10T15:50:11.955" v="11" actId="27636"/>
          <ac:spMkLst>
            <pc:docMk/>
            <pc:sldMk cId="0" sldId="262"/>
            <ac:spMk id="9" creationId="{00000000-0000-0000-0000-000000000000}"/>
          </ac:spMkLst>
        </pc:spChg>
        <pc:spChg chg="mod">
          <ac:chgData name="Damien BERGER" userId="3380b072-0d25-4197-b8dd-c274e83c8a47" providerId="ADAL" clId="{C2B5A3A9-1D15-4227-85AA-7BB0FF3A0018}" dt="2026-04-10T15:50:11.957" v="12" actId="27636"/>
          <ac:spMkLst>
            <pc:docMk/>
            <pc:sldMk cId="0" sldId="262"/>
            <ac:spMk id="13" creationId="{00000000-0000-0000-0000-000000000000}"/>
          </ac:spMkLst>
        </pc:spChg>
        <pc:spChg chg="mod">
          <ac:chgData name="Damien BERGER" userId="3380b072-0d25-4197-b8dd-c274e83c8a47" providerId="ADAL" clId="{C2B5A3A9-1D15-4227-85AA-7BB0FF3A0018}" dt="2026-04-10T15:50:11.963" v="15" actId="27636"/>
          <ac:spMkLst>
            <pc:docMk/>
            <pc:sldMk cId="0" sldId="262"/>
            <ac:spMk id="17" creationId="{00000000-0000-0000-0000-000000000000}"/>
          </ac:spMkLst>
        </pc:spChg>
        <pc:spChg chg="mod">
          <ac:chgData name="Damien BERGER" userId="3380b072-0d25-4197-b8dd-c274e83c8a47" providerId="ADAL" clId="{C2B5A3A9-1D15-4227-85AA-7BB0FF3A0018}" dt="2026-04-10T15:50:11.952" v="10" actId="27636"/>
          <ac:spMkLst>
            <pc:docMk/>
            <pc:sldMk cId="0" sldId="262"/>
            <ac:spMk id="23" creationId="{00000000-0000-0000-0000-000000000000}"/>
          </ac:spMkLst>
        </pc:spChg>
        <pc:spChg chg="mod">
          <ac:chgData name="Damien BERGER" userId="3380b072-0d25-4197-b8dd-c274e83c8a47" providerId="ADAL" clId="{C2B5A3A9-1D15-4227-85AA-7BB0FF3A0018}" dt="2026-04-10T15:50:11.960" v="14" actId="27636"/>
          <ac:spMkLst>
            <pc:docMk/>
            <pc:sldMk cId="0" sldId="262"/>
            <ac:spMk id="27" creationId="{00000000-0000-0000-0000-000000000000}"/>
          </ac:spMkLst>
        </pc:spChg>
        <pc:spChg chg="mod">
          <ac:chgData name="Damien BERGER" userId="3380b072-0d25-4197-b8dd-c274e83c8a47" providerId="ADAL" clId="{C2B5A3A9-1D15-4227-85AA-7BB0FF3A0018}" dt="2026-04-10T15:50:11.959" v="13" actId="27636"/>
          <ac:spMkLst>
            <pc:docMk/>
            <pc:sldMk cId="0" sldId="262"/>
            <ac:spMk id="33" creationId="{00000000-0000-0000-0000-000000000000}"/>
          </ac:spMkLst>
        </pc:spChg>
      </pc:sldChg>
      <pc:sldChg chg="modSp mod">
        <pc:chgData name="Damien BERGER" userId="3380b072-0d25-4197-b8dd-c274e83c8a47" providerId="ADAL" clId="{C2B5A3A9-1D15-4227-85AA-7BB0FF3A0018}" dt="2026-04-10T15:50:11.986" v="19" actId="27636"/>
        <pc:sldMkLst>
          <pc:docMk/>
          <pc:sldMk cId="0" sldId="264"/>
        </pc:sldMkLst>
        <pc:spChg chg="mod">
          <ac:chgData name="Damien BERGER" userId="3380b072-0d25-4197-b8dd-c274e83c8a47" providerId="ADAL" clId="{C2B5A3A9-1D15-4227-85AA-7BB0FF3A0018}" dt="2026-04-10T15:50:11.977" v="17" actId="27636"/>
          <ac:spMkLst>
            <pc:docMk/>
            <pc:sldMk cId="0" sldId="264"/>
            <ac:spMk id="7" creationId="{00000000-0000-0000-0000-000000000000}"/>
          </ac:spMkLst>
        </pc:spChg>
        <pc:spChg chg="mod">
          <ac:chgData name="Damien BERGER" userId="3380b072-0d25-4197-b8dd-c274e83c8a47" providerId="ADAL" clId="{C2B5A3A9-1D15-4227-85AA-7BB0FF3A0018}" dt="2026-04-10T15:50:11.981" v="18" actId="27636"/>
          <ac:spMkLst>
            <pc:docMk/>
            <pc:sldMk cId="0" sldId="264"/>
            <ac:spMk id="12" creationId="{00000000-0000-0000-0000-000000000000}"/>
          </ac:spMkLst>
        </pc:spChg>
        <pc:spChg chg="mod">
          <ac:chgData name="Damien BERGER" userId="3380b072-0d25-4197-b8dd-c274e83c8a47" providerId="ADAL" clId="{C2B5A3A9-1D15-4227-85AA-7BB0FF3A0018}" dt="2026-04-10T15:50:11.986" v="19" actId="27636"/>
          <ac:spMkLst>
            <pc:docMk/>
            <pc:sldMk cId="0" sldId="264"/>
            <ac:spMk id="17" creationId="{00000000-0000-0000-0000-000000000000}"/>
          </ac:spMkLst>
        </pc:spChg>
        <pc:spChg chg="mod">
          <ac:chgData name="Damien BERGER" userId="3380b072-0d25-4197-b8dd-c274e83c8a47" providerId="ADAL" clId="{C2B5A3A9-1D15-4227-85AA-7BB0FF3A0018}" dt="2026-04-10T15:50:11.974" v="16" actId="27636"/>
          <ac:spMkLst>
            <pc:docMk/>
            <pc:sldMk cId="0" sldId="264"/>
            <ac:spMk id="22" creationId="{00000000-0000-0000-0000-000000000000}"/>
          </ac:spMkLst>
        </pc:spChg>
      </pc:sldChg>
      <pc:sldChg chg="modSp mod">
        <pc:chgData name="Damien BERGER" userId="3380b072-0d25-4197-b8dd-c274e83c8a47" providerId="ADAL" clId="{C2B5A3A9-1D15-4227-85AA-7BB0FF3A0018}" dt="2026-04-10T15:50:11.814" v="0" actId="27636"/>
        <pc:sldMkLst>
          <pc:docMk/>
          <pc:sldMk cId="0" sldId="265"/>
        </pc:sldMkLst>
        <pc:spChg chg="mod">
          <ac:chgData name="Damien BERGER" userId="3380b072-0d25-4197-b8dd-c274e83c8a47" providerId="ADAL" clId="{C2B5A3A9-1D15-4227-85AA-7BB0FF3A0018}" dt="2026-04-10T15:50:11.814" v="0" actId="27636"/>
          <ac:spMkLst>
            <pc:docMk/>
            <pc:sldMk cId="0" sldId="265"/>
            <ac:spMk id="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3129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[Objective]
Ouvrir le COMEX avec une thèse unique et ancrer le deck dans les données de l’enquête.
[Presenter notes]
Le deck ne refait pas l’analyse. Il transforme le matériau existant en séquence de décision : usage déjà réel, valeur déjà visible, risque à cadrer, priorités à lancer.
[Sources]
- A quick survey on AI and your usage of AI(1-70) (1).xlsx / réponses brutes
- ai_survey_analysis_pack_v2.xlsx / COMEX_Dashboard, Exec_Summary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[Objective]
Donner au COMEX la version ultra-condensée du diagnostic et des décisions implicites.
[Presenter notes]
Chaque bloc correspond à une partie du deck. L’idée n’est pas de convaincre que l’IA est intéressante, mais d’obtenir l’accord pour un cadre d’usage et un portefeuille initial de pilotes.
[Sources]
- A quick survey on AI and your usage of AI(1-70) (1).xlsx / réponses brutes
- ai_survey_analysis_pack_v2.xlsx / COMEX_Dashboard, Exec_Summary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[Objective]
Montrer que l’adoption est déjà installée mais non homogène, ce qui justifie un accompagnement ciblé par fonction.
[Presenter notes]
Le message à porter : l’entreprise a déjà franchi le seuil de réalité d’usage. Les écarts entre fonctions ne justifient pas de ralentir ; ils justifient de segmenter le déploiement.
[Sources]
- A quick survey on AI and your usage of AI(1-70) (1).xlsx / colonnes rôle, usage 30 jours, fréquence
- ai_survey_analysis_pack_v2.xlsx / Use_By_Role_%, Adoption_Distribution, Frequency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[Objective]
Ancrer le business case sur les gains déjà observés, sans promettre un ROI abstrait.
[Presenter notes]
Insister sur le fait que les bénéfices sont déjà tangibles avant industrialisation. Cela permet de financer un premier portefeuille de cas d’usage sur la base de preuves internes, pas de benchmark externe.
[Sources]
- A quick survey on AI and your usage of AI(1-70) (1).xlsx / colonnes bénéfices et usages travail
- ai_survey_analysis_pack_v2.xlsx / Benefits, Use_Cases_Work, Exec_Summary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[Objective]
Faire comprendre que la principale raison d’agir est la maîtrise du risque, pas la mode technologique.
[Presenter notes]
Le point à marteler : l’organisation utilise déjà l’IA. La vraie question n’est donc pas “autoriser ou interdire”, mais “mettre un cadre simple et crédible”.
[Sources]
- A quick survey on AI and your usage of AI(1-70) (1).xlsx / colonnes freins, surprises, type de contenu
- ai_survey_analysis_pack_v2.xlsx / Barriers, Issues, Sensitive_Content, Exec_Summary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[Objective]
Faire converger le COMEX vers un portefeuille initial limité et cohérent.
[Presenter notes]
Les trois priorités à lancer ne sont pas des “démos IA” : elles répondent à des frictions métier réelles et visibles dans l’enquête. Le quatrième chantier doit rester sous surveillance, mais pas encombrer la première vague.
[Sources]
- ai_survey_analysis_pack_v2.xlsx / Use_Case_Prioritization, COMEX_Dashboard, Strategic_Domains
- A quick survey on AI and your usage of AI(1-70) (1).xlsx / verbatims irritants et idées 2026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[Objective]
Montrer qu’un lancement crédible peut tenir dans une séquence courte et non bureaucratique.
[Presenter notes]
Le deck propose une trajectoire volontairement sobre : cadre, choix de pilotes, réseau de relais, ateliers ciblés, mesure légère, puis décision de poursuivre ou non.
[Sources]
- ai_survey_analysis_pack_v2.xlsx / Action_Plan_30_60_90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[Objective]
Montrer que l’activation du terrain repose sur des besoins très concrets et déjà exprimés.
[Presenter notes]
Le message utile au COMEX : il ne faut pas lancer un grand programme générique. Il faut des modules courts, par population, et un réseau de relais pour diffuser les pratiques et les garde-fous.
[Sources]
- A quick survey on AI and your usage of AI(1-70) (1).xlsx / colonnes apprentissages, formats, early adopters
- ai_survey_analysis_pack_v2.xlsx / Learning_Priorities, Learning_Formats, Early_Adopters, Role_Training_Plan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[Objective]
Terminer le deck sur des arbitrages simples et actionnables.
[Presenter notes]
Cette slide doit être présentée comme une bascule de pilotage. Le COMEX n’est pas invité à approuver un programme lourd, mais un cadre simple et un portefeuille initial de mise en mouvement.
[Sources]
- ai_survey_analysis_pack_v2.xlsx / COMEX_Dashboard, Action_Plan_30_60_90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[Objective]
Garder en réserve une lecture opérationnelle par population si le COMEX demande comment exécuter.
[Presenter notes]
L’idée à porter est simple : même cadre global, mais messages et formations différents selon les populations. Cela évite un programme générique et peu crédible.
[Sources]
- ai_survey_analysis_pack_v2.xlsx / Role_Training_Plan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3D1104"/>
          </a:solidFill>
          <a:ln w="12700">
            <a:solidFill>
              <a:srgbClr val="3D1104"/>
            </a:solidFill>
            <a:prstDash val="solid"/>
          </a:ln>
        </p:spPr>
        <p:txBody>
          <a:bodyPr/>
          <a:lstStyle/>
          <a:p>
            <a:endParaRPr lang="fr-FR"/>
          </a:p>
        </p:txBody>
      </p:sp>
      <p:sp>
        <p:nvSpPr>
          <p:cNvPr id="3" name="Shape 1"/>
          <p:cNvSpPr/>
          <p:nvPr/>
        </p:nvSpPr>
        <p:spPr>
          <a:xfrm>
            <a:off x="548640" y="6464808"/>
            <a:ext cx="11064240" cy="0"/>
          </a:xfrm>
          <a:prstGeom prst="line">
            <a:avLst/>
          </a:prstGeom>
          <a:noFill/>
          <a:ln w="12700">
            <a:solidFill>
              <a:srgbClr val="E3D8CC"/>
            </a:solidFill>
            <a:prstDash val="solid"/>
          </a:ln>
        </p:spPr>
        <p:txBody>
          <a:bodyPr/>
          <a:lstStyle/>
          <a:p>
            <a:endParaRPr lang="fr-FR"/>
          </a:p>
        </p:txBody>
      </p:sp>
      <p:sp>
        <p:nvSpPr>
          <p:cNvPr id="4" name="Text 2"/>
          <p:cNvSpPr/>
          <p:nvPr/>
        </p:nvSpPr>
        <p:spPr>
          <a:xfrm>
            <a:off x="594360" y="6483096"/>
            <a:ext cx="3200400" cy="201168"/>
          </a:xfrm>
          <a:prstGeom prst="rect">
            <a:avLst/>
          </a:prstGeom>
          <a:noFill/>
          <a:ln/>
        </p:spPr>
        <p:txBody>
          <a:bodyPr wrap="square" lIns="0" tIns="0" rIns="0" bIns="0" rtlCol="0" anchor="ctr"/>
          <a:lstStyle/>
          <a:p>
            <a:pPr marL="0" indent="0">
              <a:buNone/>
            </a:pPr>
            <a:r>
              <a:rPr lang="en-US" sz="850" dirty="0">
                <a:solidFill>
                  <a:srgbClr val="6B7785"/>
                </a:solidFill>
                <a:latin typeface="Aptos" pitchFamily="34" charset="0"/>
                <a:ea typeface="Aptos" pitchFamily="34" charset="-122"/>
                <a:cs typeface="Aptos" pitchFamily="34" charset="-120"/>
              </a:rPr>
              <a:t>Enquête interne IA</a:t>
            </a:r>
            <a:endParaRPr lang="en-US" sz="8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8F4"/>
        </a:solidFill>
        <a:effectLst/>
      </p:bgPr>
    </p:bg>
    <p:spTree>
      <p:nvGrpSpPr>
        <p:cNvPr id="1" name=""/>
        <p:cNvGrpSpPr/>
        <p:nvPr/>
      </p:nvGrpSpPr>
      <p:grpSpPr>
        <a:xfrm>
          <a:off x="0" y="0"/>
          <a:ext cx="0" cy="0"/>
          <a:chOff x="0" y="0"/>
          <a:chExt cx="0" cy="0"/>
        </a:xfrm>
      </p:grpSpPr>
      <p:sp>
        <p:nvSpPr>
          <p:cNvPr id="2" name="Shape 0"/>
          <p:cNvSpPr/>
          <p:nvPr/>
        </p:nvSpPr>
        <p:spPr>
          <a:xfrm>
            <a:off x="640080" y="914400"/>
            <a:ext cx="109728" cy="4480560"/>
          </a:xfrm>
          <a:prstGeom prst="rect">
            <a:avLst/>
          </a:prstGeom>
          <a:solidFill>
            <a:srgbClr val="3D1104"/>
          </a:solidFill>
          <a:ln w="12700">
            <a:solidFill>
              <a:srgbClr val="E3D8CC"/>
            </a:solidFill>
            <a:prstDash val="solid"/>
          </a:ln>
        </p:spPr>
        <p:txBody>
          <a:bodyPr/>
          <a:lstStyle/>
          <a:p>
            <a:endParaRPr/>
          </a:p>
        </p:txBody>
      </p:sp>
      <p:sp>
        <p:nvSpPr>
          <p:cNvPr id="3" name="Text 1"/>
          <p:cNvSpPr/>
          <p:nvPr/>
        </p:nvSpPr>
        <p:spPr>
          <a:xfrm>
            <a:off x="914400" y="1024128"/>
            <a:ext cx="7132320" cy="1097280"/>
          </a:xfrm>
          <a:prstGeom prst="rect">
            <a:avLst/>
          </a:prstGeom>
          <a:noFill/>
          <a:ln>
            <a:noFill/>
          </a:ln>
        </p:spPr>
        <p:txBody>
          <a:bodyPr wrap="square" lIns="0" tIns="0" rIns="0" bIns="0" rtlCol="0" anchor="ctr"/>
          <a:lstStyle/>
          <a:p>
            <a:pPr marL="0" indent="0">
              <a:buNone/>
            </a:pPr>
            <a:r>
              <a:rPr lang="en-US" sz="2600" b="1" dirty="0">
                <a:solidFill>
                  <a:srgbClr val="1F2933"/>
                </a:solidFill>
                <a:latin typeface="Aptos Display" pitchFamily="34" charset="0"/>
                <a:ea typeface="Aptos Display" pitchFamily="34" charset="-122"/>
                <a:cs typeface="Aptos Display" pitchFamily="34" charset="-120"/>
              </a:rPr>
              <a:t>Usages de l’IA — état des lieux</a:t>
            </a:r>
            <a:endParaRPr lang="en-US" sz="2600" dirty="0"/>
          </a:p>
          <a:p>
            <a:pPr marL="0" indent="0">
              <a:buNone/>
            </a:pPr>
            <a:r>
              <a:rPr lang="en-US" sz="2600" b="1" dirty="0">
                <a:solidFill>
                  <a:srgbClr val="1F2933"/>
                </a:solidFill>
                <a:latin typeface="Aptos Display" pitchFamily="34" charset="0"/>
                <a:ea typeface="Aptos Display" pitchFamily="34" charset="-122"/>
                <a:cs typeface="Aptos Display" pitchFamily="34" charset="-120"/>
              </a:rPr>
              <a:t>et décisions COMEX</a:t>
            </a:r>
            <a:endParaRPr lang="en-US" sz="2600" dirty="0"/>
          </a:p>
        </p:txBody>
      </p:sp>
      <p:sp>
        <p:nvSpPr>
          <p:cNvPr id="4" name="Text 2"/>
          <p:cNvSpPr/>
          <p:nvPr/>
        </p:nvSpPr>
        <p:spPr>
          <a:xfrm>
            <a:off x="932688" y="2267712"/>
            <a:ext cx="6583680" cy="310896"/>
          </a:xfrm>
          <a:prstGeom prst="rect">
            <a:avLst/>
          </a:prstGeom>
          <a:noFill/>
          <a:ln>
            <a:noFill/>
          </a:ln>
        </p:spPr>
        <p:txBody>
          <a:bodyPr wrap="square" lIns="0" tIns="0" rIns="0" bIns="0" rtlCol="0" anchor="ctr"/>
          <a:lstStyle/>
          <a:p>
            <a:pPr marL="0" indent="0">
              <a:buNone/>
            </a:pPr>
            <a:r>
              <a:rPr lang="en-US" sz="1200" dirty="0">
                <a:solidFill>
                  <a:srgbClr val="8B7D73"/>
                </a:solidFill>
              </a:rPr>
              <a:t>Enquête interne | 70 réponses | transformation d’un usage déjà réel en déploiement maîtrisé</a:t>
            </a:r>
            <a:endParaRPr lang="en-US" sz="1200" dirty="0"/>
          </a:p>
        </p:txBody>
      </p:sp>
      <p:sp>
        <p:nvSpPr>
          <p:cNvPr id="5" name="Shape 3"/>
          <p:cNvSpPr/>
          <p:nvPr/>
        </p:nvSpPr>
        <p:spPr>
          <a:xfrm>
            <a:off x="914400" y="2971800"/>
            <a:ext cx="7040880" cy="1051560"/>
          </a:xfrm>
          <a:prstGeom prst="roundRect">
            <a:avLst>
              <a:gd name="adj" fmla="val 4348"/>
            </a:avLst>
          </a:prstGeom>
          <a:solidFill>
            <a:srgbClr val="FFFFFF"/>
          </a:solidFill>
          <a:ln w="12700">
            <a:solidFill>
              <a:srgbClr val="E3D8CC"/>
            </a:solidFill>
            <a:prstDash val="solid"/>
          </a:ln>
        </p:spPr>
        <p:txBody>
          <a:bodyPr/>
          <a:lstStyle/>
          <a:p>
            <a:endParaRPr/>
          </a:p>
        </p:txBody>
      </p:sp>
      <p:sp>
        <p:nvSpPr>
          <p:cNvPr id="6" name="Text 4"/>
          <p:cNvSpPr/>
          <p:nvPr/>
        </p:nvSpPr>
        <p:spPr>
          <a:xfrm>
            <a:off x="1078992" y="3182112"/>
            <a:ext cx="1463040" cy="219456"/>
          </a:xfrm>
          <a:prstGeom prst="rect">
            <a:avLst/>
          </a:prstGeom>
          <a:noFill/>
          <a:ln>
            <a:noFill/>
          </a:ln>
        </p:spPr>
        <p:txBody>
          <a:bodyPr wrap="square" lIns="0" tIns="0" rIns="0" bIns="0" rtlCol="0" anchor="ctr"/>
          <a:lstStyle/>
          <a:p>
            <a:pPr marL="0" indent="0">
              <a:buNone/>
            </a:pPr>
            <a:r>
              <a:rPr lang="en-US" sz="1200" b="1" dirty="0">
                <a:solidFill>
                  <a:srgbClr val="3D1104"/>
                </a:solidFill>
              </a:rPr>
              <a:t>Message clé</a:t>
            </a:r>
            <a:endParaRPr lang="en-US" sz="1200" dirty="0"/>
          </a:p>
        </p:txBody>
      </p:sp>
      <p:sp>
        <p:nvSpPr>
          <p:cNvPr id="7" name="Text 5"/>
          <p:cNvSpPr/>
          <p:nvPr/>
        </p:nvSpPr>
        <p:spPr>
          <a:xfrm>
            <a:off x="1078992" y="3493008"/>
            <a:ext cx="6537960" cy="384048"/>
          </a:xfrm>
          <a:prstGeom prst="rect">
            <a:avLst/>
          </a:prstGeom>
          <a:noFill/>
          <a:ln>
            <a:noFill/>
          </a:ln>
        </p:spPr>
        <p:txBody>
          <a:bodyPr wrap="square" lIns="0" tIns="0" rIns="0" bIns="0" rtlCol="0" anchor="ctr"/>
          <a:lstStyle/>
          <a:p>
            <a:pPr marL="0" indent="0">
              <a:buNone/>
            </a:pPr>
            <a:r>
              <a:rPr lang="en-US" sz="1500" dirty="0">
                <a:solidFill>
                  <a:srgbClr val="1F2933"/>
                </a:solidFill>
              </a:rPr>
              <a:t>L’entreprise n’est plus au stade de l’exploration : l’usage est déjà large, la valeur est visible, et le prochain enjeu est de cadrer le risque puis d’industrialiser quelques cas d’usage prioritaires.</a:t>
            </a:r>
            <a:endParaRPr lang="en-US" sz="1500" dirty="0"/>
          </a:p>
        </p:txBody>
      </p:sp>
      <p:sp>
        <p:nvSpPr>
          <p:cNvPr id="8" name="Shape 6"/>
          <p:cNvSpPr/>
          <p:nvPr/>
        </p:nvSpPr>
        <p:spPr>
          <a:xfrm>
            <a:off x="8503920" y="1115568"/>
            <a:ext cx="2743200" cy="1024128"/>
          </a:xfrm>
          <a:prstGeom prst="roundRect">
            <a:avLst>
              <a:gd name="adj" fmla="val 3571"/>
            </a:avLst>
          </a:prstGeom>
          <a:solidFill>
            <a:srgbClr val="EAF4EC"/>
          </a:solidFill>
          <a:ln w="12700">
            <a:solidFill>
              <a:srgbClr val="E3D8CC"/>
            </a:solidFill>
            <a:prstDash val="solid"/>
          </a:ln>
          <a:effectLst>
            <a:outerShdw blurRad="12700" dist="6350" dir="2700000" algn="bl" rotWithShape="0">
              <a:srgbClr val="000000">
                <a:alpha val="8000"/>
              </a:srgbClr>
            </a:outerShdw>
          </a:effectLst>
        </p:spPr>
        <p:txBody>
          <a:bodyPr/>
          <a:lstStyle/>
          <a:p>
            <a:endParaRPr/>
          </a:p>
        </p:txBody>
      </p:sp>
      <p:sp>
        <p:nvSpPr>
          <p:cNvPr id="9" name="Shape 7"/>
          <p:cNvSpPr/>
          <p:nvPr/>
        </p:nvSpPr>
        <p:spPr>
          <a:xfrm>
            <a:off x="8503920" y="1115568"/>
            <a:ext cx="73152" cy="1024128"/>
          </a:xfrm>
          <a:prstGeom prst="rect">
            <a:avLst/>
          </a:prstGeom>
          <a:solidFill>
            <a:srgbClr val="4F8A3D"/>
          </a:solidFill>
          <a:ln w="12700">
            <a:solidFill>
              <a:srgbClr val="E3D8CC"/>
            </a:solidFill>
            <a:prstDash val="solid"/>
          </a:ln>
        </p:spPr>
        <p:txBody>
          <a:bodyPr/>
          <a:lstStyle/>
          <a:p>
            <a:endParaRPr/>
          </a:p>
        </p:txBody>
      </p:sp>
      <p:sp>
        <p:nvSpPr>
          <p:cNvPr id="10" name="Text 8"/>
          <p:cNvSpPr/>
          <p:nvPr/>
        </p:nvSpPr>
        <p:spPr>
          <a:xfrm>
            <a:off x="8668512" y="1280160"/>
            <a:ext cx="2468880" cy="329184"/>
          </a:xfrm>
          <a:prstGeom prst="rect">
            <a:avLst/>
          </a:prstGeom>
          <a:noFill/>
          <a:ln>
            <a:noFill/>
          </a:ln>
        </p:spPr>
        <p:txBody>
          <a:bodyPr wrap="square" lIns="0" tIns="0" rIns="0" bIns="0" rtlCol="0" anchor="ctr"/>
          <a:lstStyle/>
          <a:p>
            <a:pPr marL="0" indent="0" algn="l">
              <a:buNone/>
            </a:pPr>
            <a:r>
              <a:rPr lang="en-US" sz="2100" b="1" dirty="0">
                <a:solidFill>
                  <a:srgbClr val="1F2933"/>
                </a:solidFill>
              </a:rPr>
              <a:t>57 / 70</a:t>
            </a:r>
            <a:endParaRPr lang="en-US" sz="2100" dirty="0"/>
          </a:p>
        </p:txBody>
      </p:sp>
      <p:sp>
        <p:nvSpPr>
          <p:cNvPr id="11" name="Text 9"/>
          <p:cNvSpPr/>
          <p:nvPr/>
        </p:nvSpPr>
        <p:spPr>
          <a:xfrm>
            <a:off x="8668512" y="1682496"/>
            <a:ext cx="2523744" cy="256032"/>
          </a:xfrm>
          <a:prstGeom prst="rect">
            <a:avLst/>
          </a:prstGeom>
          <a:noFill/>
          <a:ln>
            <a:noFill/>
          </a:ln>
        </p:spPr>
        <p:txBody>
          <a:bodyPr wrap="square" lIns="0" tIns="0" rIns="0" bIns="0" rtlCol="0" anchor="ctr"/>
          <a:lstStyle/>
          <a:p>
            <a:pPr marL="0" indent="0">
              <a:buNone/>
            </a:pPr>
            <a:r>
              <a:rPr lang="en-US" sz="1050" dirty="0">
                <a:solidFill>
                  <a:srgbClr val="8B7D73"/>
                </a:solidFill>
              </a:rPr>
              <a:t>ont utilisé l’IA au travail sur les 30 derniers jours</a:t>
            </a:r>
            <a:endParaRPr lang="en-US" sz="1050" dirty="0"/>
          </a:p>
        </p:txBody>
      </p:sp>
      <p:sp>
        <p:nvSpPr>
          <p:cNvPr id="12" name="Shape 10"/>
          <p:cNvSpPr/>
          <p:nvPr/>
        </p:nvSpPr>
        <p:spPr>
          <a:xfrm>
            <a:off x="8503920" y="2331720"/>
            <a:ext cx="2743200" cy="1024128"/>
          </a:xfrm>
          <a:prstGeom prst="roundRect">
            <a:avLst>
              <a:gd name="adj" fmla="val 3571"/>
            </a:avLst>
          </a:prstGeom>
          <a:solidFill>
            <a:srgbClr val="F3E8DD"/>
          </a:solidFill>
          <a:ln w="12700">
            <a:solidFill>
              <a:srgbClr val="E3D8CC"/>
            </a:solidFill>
            <a:prstDash val="solid"/>
          </a:ln>
          <a:effectLst>
            <a:outerShdw blurRad="12700" dist="6350" dir="2700000" algn="bl" rotWithShape="0">
              <a:srgbClr val="000000">
                <a:alpha val="8000"/>
              </a:srgbClr>
            </a:outerShdw>
          </a:effectLst>
        </p:spPr>
        <p:txBody>
          <a:bodyPr/>
          <a:lstStyle/>
          <a:p>
            <a:endParaRPr/>
          </a:p>
        </p:txBody>
      </p:sp>
      <p:sp>
        <p:nvSpPr>
          <p:cNvPr id="13" name="Shape 11"/>
          <p:cNvSpPr/>
          <p:nvPr/>
        </p:nvSpPr>
        <p:spPr>
          <a:xfrm>
            <a:off x="8503920" y="2331720"/>
            <a:ext cx="73152" cy="1024128"/>
          </a:xfrm>
          <a:prstGeom prst="rect">
            <a:avLst/>
          </a:prstGeom>
          <a:solidFill>
            <a:srgbClr val="9C623A"/>
          </a:solidFill>
          <a:ln w="12700">
            <a:solidFill>
              <a:srgbClr val="E3D8CC"/>
            </a:solidFill>
            <a:prstDash val="solid"/>
          </a:ln>
        </p:spPr>
        <p:txBody>
          <a:bodyPr/>
          <a:lstStyle/>
          <a:p>
            <a:endParaRPr/>
          </a:p>
        </p:txBody>
      </p:sp>
      <p:sp>
        <p:nvSpPr>
          <p:cNvPr id="14" name="Text 12"/>
          <p:cNvSpPr/>
          <p:nvPr/>
        </p:nvSpPr>
        <p:spPr>
          <a:xfrm>
            <a:off x="8668512" y="2496312"/>
            <a:ext cx="2468880" cy="329184"/>
          </a:xfrm>
          <a:prstGeom prst="rect">
            <a:avLst/>
          </a:prstGeom>
          <a:noFill/>
          <a:ln>
            <a:noFill/>
          </a:ln>
        </p:spPr>
        <p:txBody>
          <a:bodyPr wrap="square" lIns="0" tIns="0" rIns="0" bIns="0" rtlCol="0" anchor="ctr"/>
          <a:lstStyle/>
          <a:p>
            <a:pPr marL="0" indent="0" algn="l">
              <a:buNone/>
            </a:pPr>
            <a:r>
              <a:rPr lang="en-US" sz="2100" b="1" dirty="0">
                <a:solidFill>
                  <a:srgbClr val="1F2933"/>
                </a:solidFill>
              </a:rPr>
              <a:t>19</a:t>
            </a:r>
            <a:endParaRPr lang="en-US" sz="2100" dirty="0"/>
          </a:p>
        </p:txBody>
      </p:sp>
      <p:sp>
        <p:nvSpPr>
          <p:cNvPr id="15" name="Text 13"/>
          <p:cNvSpPr/>
          <p:nvPr/>
        </p:nvSpPr>
        <p:spPr>
          <a:xfrm>
            <a:off x="8668512" y="2898648"/>
            <a:ext cx="2523744" cy="256032"/>
          </a:xfrm>
          <a:prstGeom prst="rect">
            <a:avLst/>
          </a:prstGeom>
          <a:noFill/>
          <a:ln>
            <a:noFill/>
          </a:ln>
        </p:spPr>
        <p:txBody>
          <a:bodyPr wrap="square" lIns="0" tIns="0" rIns="0" bIns="0" rtlCol="0" anchor="ctr"/>
          <a:lstStyle/>
          <a:p>
            <a:pPr marL="0" indent="0">
              <a:buNone/>
            </a:pPr>
            <a:r>
              <a:rPr lang="en-US" sz="1050" dirty="0">
                <a:solidFill>
                  <a:srgbClr val="8B7D73"/>
                </a:solidFill>
              </a:rPr>
              <a:t>utilisateurs quotidiens</a:t>
            </a:r>
            <a:endParaRPr lang="en-US" sz="1050" dirty="0"/>
          </a:p>
        </p:txBody>
      </p:sp>
      <p:sp>
        <p:nvSpPr>
          <p:cNvPr id="16" name="Shape 14"/>
          <p:cNvSpPr/>
          <p:nvPr/>
        </p:nvSpPr>
        <p:spPr>
          <a:xfrm>
            <a:off x="8503920" y="3547872"/>
            <a:ext cx="2743200" cy="1024128"/>
          </a:xfrm>
          <a:prstGeom prst="roundRect">
            <a:avLst>
              <a:gd name="adj" fmla="val 3571"/>
            </a:avLst>
          </a:prstGeom>
          <a:solidFill>
            <a:srgbClr val="FDF7EB"/>
          </a:solidFill>
          <a:ln w="12700">
            <a:solidFill>
              <a:srgbClr val="E3D8CC"/>
            </a:solidFill>
            <a:prstDash val="solid"/>
          </a:ln>
          <a:effectLst>
            <a:outerShdw blurRad="12700" dist="6350" dir="2700000" algn="bl" rotWithShape="0">
              <a:srgbClr val="000000">
                <a:alpha val="8000"/>
              </a:srgbClr>
            </a:outerShdw>
          </a:effectLst>
        </p:spPr>
        <p:txBody>
          <a:bodyPr/>
          <a:lstStyle/>
          <a:p>
            <a:endParaRPr/>
          </a:p>
        </p:txBody>
      </p:sp>
      <p:sp>
        <p:nvSpPr>
          <p:cNvPr id="17" name="Shape 15"/>
          <p:cNvSpPr/>
          <p:nvPr/>
        </p:nvSpPr>
        <p:spPr>
          <a:xfrm>
            <a:off x="8503920" y="3547872"/>
            <a:ext cx="73152" cy="1024128"/>
          </a:xfrm>
          <a:prstGeom prst="rect">
            <a:avLst/>
          </a:prstGeom>
          <a:solidFill>
            <a:srgbClr val="B07A1A"/>
          </a:solidFill>
          <a:ln w="12700">
            <a:solidFill>
              <a:srgbClr val="E3D8CC"/>
            </a:solidFill>
            <a:prstDash val="solid"/>
          </a:ln>
        </p:spPr>
        <p:txBody>
          <a:bodyPr/>
          <a:lstStyle/>
          <a:p>
            <a:endParaRPr/>
          </a:p>
        </p:txBody>
      </p:sp>
      <p:sp>
        <p:nvSpPr>
          <p:cNvPr id="18" name="Text 16"/>
          <p:cNvSpPr/>
          <p:nvPr/>
        </p:nvSpPr>
        <p:spPr>
          <a:xfrm>
            <a:off x="8668512" y="3712464"/>
            <a:ext cx="2468880" cy="329184"/>
          </a:xfrm>
          <a:prstGeom prst="rect">
            <a:avLst/>
          </a:prstGeom>
          <a:noFill/>
          <a:ln>
            <a:noFill/>
          </a:ln>
        </p:spPr>
        <p:txBody>
          <a:bodyPr wrap="square" lIns="0" tIns="0" rIns="0" bIns="0" rtlCol="0" anchor="ctr"/>
          <a:lstStyle/>
          <a:p>
            <a:pPr marL="0" indent="0" algn="l">
              <a:buNone/>
            </a:pPr>
            <a:r>
              <a:rPr lang="en-US" sz="2100" b="1" dirty="0">
                <a:solidFill>
                  <a:srgbClr val="1F2933"/>
                </a:solidFill>
              </a:rPr>
              <a:t>46 / 50</a:t>
            </a:r>
            <a:endParaRPr lang="en-US" sz="2100" dirty="0"/>
          </a:p>
        </p:txBody>
      </p:sp>
      <p:sp>
        <p:nvSpPr>
          <p:cNvPr id="19" name="Text 17"/>
          <p:cNvSpPr/>
          <p:nvPr/>
        </p:nvSpPr>
        <p:spPr>
          <a:xfrm>
            <a:off x="8668512" y="4114800"/>
            <a:ext cx="2523744" cy="256032"/>
          </a:xfrm>
          <a:prstGeom prst="rect">
            <a:avLst/>
          </a:prstGeom>
          <a:noFill/>
          <a:ln>
            <a:noFill/>
          </a:ln>
        </p:spPr>
        <p:txBody>
          <a:bodyPr wrap="square" lIns="0" tIns="0" rIns="0" bIns="0" rtlCol="0" anchor="ctr"/>
          <a:lstStyle/>
          <a:p>
            <a:pPr marL="0" indent="0">
              <a:buNone/>
            </a:pPr>
            <a:r>
              <a:rPr lang="en-US" sz="1050" dirty="0">
                <a:solidFill>
                  <a:srgbClr val="8B7D73"/>
                </a:solidFill>
              </a:rPr>
              <a:t>répondants prêts à rejoindre ou considérer un réseau Early Adopters</a:t>
            </a:r>
            <a:endParaRPr lang="en-US" sz="1050" dirty="0"/>
          </a:p>
        </p:txBody>
      </p:sp>
      <p:sp>
        <p:nvSpPr>
          <p:cNvPr id="20" name="Text 18"/>
          <p:cNvSpPr/>
          <p:nvPr/>
        </p:nvSpPr>
        <p:spPr>
          <a:xfrm>
            <a:off x="914400" y="5074920"/>
            <a:ext cx="3200400" cy="201168"/>
          </a:xfrm>
          <a:prstGeom prst="rect">
            <a:avLst/>
          </a:prstGeom>
          <a:noFill/>
          <a:ln>
            <a:noFill/>
          </a:ln>
        </p:spPr>
        <p:txBody>
          <a:bodyPr wrap="square" lIns="0" tIns="0" rIns="0" bIns="0" rtlCol="0" anchor="ctr"/>
          <a:lstStyle/>
          <a:p>
            <a:pPr marL="0" indent="0">
              <a:buNone/>
            </a:pPr>
            <a:r>
              <a:rPr lang="en-US" sz="1000" dirty="0">
                <a:solidFill>
                  <a:srgbClr val="8B7D73"/>
                </a:solidFill>
              </a:rPr>
              <a:t>Direction générale | support de décision</a:t>
            </a:r>
            <a:endParaRPr lang="en-US" sz="1000" dirty="0"/>
          </a:p>
        </p:txBody>
      </p:sp>
      <p:sp>
        <p:nvSpPr>
          <p:cNvPr id="21" name="TextBox 20"/>
          <p:cNvSpPr txBox="1"/>
          <p:nvPr/>
        </p:nvSpPr>
        <p:spPr>
          <a:xfrm>
            <a:off x="11292840" y="6455664"/>
            <a:ext cx="502920" cy="182880"/>
          </a:xfrm>
          <a:prstGeom prst="rect">
            <a:avLst/>
          </a:prstGeom>
          <a:noFill/>
          <a:ln>
            <a:noFill/>
          </a:ln>
        </p:spPr>
        <p:txBody>
          <a:bodyPr wrap="none">
            <a:spAutoFit/>
          </a:bodyPr>
          <a:lstStyle/>
          <a:p>
            <a:pPr algn="r">
              <a:defRPr sz="1000">
                <a:solidFill>
                  <a:srgbClr val="27333F"/>
                </a:solidFill>
                <a:latin typeface="Aptos"/>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4"/>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438912"/>
          </a:xfrm>
          <a:prstGeom prst="rect">
            <a:avLst/>
          </a:prstGeom>
          <a:noFill/>
          <a:ln>
            <a:noFill/>
          </a:ln>
        </p:spPr>
        <p:txBody>
          <a:bodyPr wrap="square" lIns="0" tIns="0" rIns="0" bIns="0" rtlCol="0" anchor="ctr"/>
          <a:lstStyle/>
          <a:p>
            <a:pPr marL="0" indent="0">
              <a:buNone/>
            </a:pPr>
            <a:r>
              <a:rPr lang="en-US" sz="2400" b="1" dirty="0">
                <a:solidFill>
                  <a:srgbClr val="1F2933"/>
                </a:solidFill>
                <a:latin typeface="Aptos Display" pitchFamily="34" charset="0"/>
                <a:ea typeface="Aptos Display" pitchFamily="34" charset="-122"/>
                <a:cs typeface="Aptos Display" pitchFamily="34" charset="-120"/>
              </a:rPr>
              <a:t>En une page : le sujet appelle désormais un passage à l’échelle maîtrisé</a:t>
            </a:r>
            <a:endParaRPr lang="en-US" sz="2400" dirty="0"/>
          </a:p>
        </p:txBody>
      </p:sp>
      <p:sp>
        <p:nvSpPr>
          <p:cNvPr id="3" name="Text 1"/>
          <p:cNvSpPr/>
          <p:nvPr/>
        </p:nvSpPr>
        <p:spPr>
          <a:xfrm>
            <a:off x="658368" y="896112"/>
            <a:ext cx="10241280" cy="256032"/>
          </a:xfrm>
          <a:prstGeom prst="rect">
            <a:avLst/>
          </a:prstGeom>
          <a:noFill/>
          <a:ln>
            <a:noFill/>
          </a:ln>
        </p:spPr>
        <p:txBody>
          <a:bodyPr wrap="square" lIns="0" tIns="0" rIns="0" bIns="0" rtlCol="0" anchor="ctr"/>
          <a:lstStyle/>
          <a:p>
            <a:pPr marL="0" indent="0">
              <a:buNone/>
            </a:pPr>
            <a:r>
              <a:rPr lang="en-US" sz="1150" dirty="0">
                <a:solidFill>
                  <a:srgbClr val="8B7D73"/>
                </a:solidFill>
                <a:latin typeface="Aptos" pitchFamily="34" charset="0"/>
                <a:ea typeface="Aptos" pitchFamily="34" charset="-122"/>
                <a:cs typeface="Aptos" pitchFamily="34" charset="-120"/>
              </a:rPr>
              <a:t>Storyline COMEX en 4 messages</a:t>
            </a:r>
            <a:endParaRPr lang="en-US" sz="1150" dirty="0"/>
          </a:p>
        </p:txBody>
      </p:sp>
      <p:sp>
        <p:nvSpPr>
          <p:cNvPr id="4" name="Shape 2"/>
          <p:cNvSpPr/>
          <p:nvPr/>
        </p:nvSpPr>
        <p:spPr>
          <a:xfrm>
            <a:off x="685800" y="1325880"/>
            <a:ext cx="2697480" cy="1024128"/>
          </a:xfrm>
          <a:prstGeom prst="roundRect">
            <a:avLst>
              <a:gd name="adj" fmla="val 3571"/>
            </a:avLst>
          </a:prstGeom>
          <a:solidFill>
            <a:srgbClr val="EAF4EC"/>
          </a:solidFill>
          <a:ln w="12700">
            <a:solidFill>
              <a:srgbClr val="E3D8CC"/>
            </a:solidFill>
            <a:prstDash val="solid"/>
          </a:ln>
          <a:effectLst>
            <a:outerShdw blurRad="12700" dist="6350" dir="2700000" algn="bl" rotWithShape="0">
              <a:srgbClr val="000000">
                <a:alpha val="8000"/>
              </a:srgbClr>
            </a:outerShdw>
          </a:effectLst>
        </p:spPr>
        <p:txBody>
          <a:bodyPr/>
          <a:lstStyle/>
          <a:p>
            <a:endParaRPr/>
          </a:p>
        </p:txBody>
      </p:sp>
      <p:sp>
        <p:nvSpPr>
          <p:cNvPr id="5" name="Shape 3"/>
          <p:cNvSpPr/>
          <p:nvPr/>
        </p:nvSpPr>
        <p:spPr>
          <a:xfrm>
            <a:off x="685800" y="1325880"/>
            <a:ext cx="73152" cy="1024128"/>
          </a:xfrm>
          <a:prstGeom prst="rect">
            <a:avLst/>
          </a:prstGeom>
          <a:solidFill>
            <a:srgbClr val="4F8A3D"/>
          </a:solidFill>
          <a:ln w="12700">
            <a:solidFill>
              <a:srgbClr val="E3D8CC"/>
            </a:solidFill>
            <a:prstDash val="solid"/>
          </a:ln>
        </p:spPr>
        <p:txBody>
          <a:bodyPr/>
          <a:lstStyle/>
          <a:p>
            <a:endParaRPr/>
          </a:p>
        </p:txBody>
      </p:sp>
      <p:sp>
        <p:nvSpPr>
          <p:cNvPr id="6" name="Text 4"/>
          <p:cNvSpPr/>
          <p:nvPr/>
        </p:nvSpPr>
        <p:spPr>
          <a:xfrm>
            <a:off x="850392" y="1490472"/>
            <a:ext cx="2423160" cy="329184"/>
          </a:xfrm>
          <a:prstGeom prst="rect">
            <a:avLst/>
          </a:prstGeom>
          <a:noFill/>
          <a:ln>
            <a:noFill/>
          </a:ln>
        </p:spPr>
        <p:txBody>
          <a:bodyPr wrap="square" lIns="0" tIns="0" rIns="0" bIns="0" rtlCol="0" anchor="ctr"/>
          <a:lstStyle/>
          <a:p>
            <a:pPr marL="0" indent="0" algn="l">
              <a:buNone/>
            </a:pPr>
            <a:r>
              <a:rPr lang="en-US" sz="2100" b="1" dirty="0">
                <a:solidFill>
                  <a:srgbClr val="1F2933"/>
                </a:solidFill>
              </a:rPr>
              <a:t>81.4%</a:t>
            </a:r>
            <a:endParaRPr lang="en-US" sz="2100" dirty="0"/>
          </a:p>
        </p:txBody>
      </p:sp>
      <p:sp>
        <p:nvSpPr>
          <p:cNvPr id="7" name="Text 5"/>
          <p:cNvSpPr/>
          <p:nvPr/>
        </p:nvSpPr>
        <p:spPr>
          <a:xfrm>
            <a:off x="850392" y="1892808"/>
            <a:ext cx="2478024" cy="256032"/>
          </a:xfrm>
          <a:prstGeom prst="rect">
            <a:avLst/>
          </a:prstGeom>
          <a:noFill/>
          <a:ln>
            <a:noFill/>
          </a:ln>
        </p:spPr>
        <p:txBody>
          <a:bodyPr wrap="square" lIns="0" tIns="0" rIns="0" bIns="0" rtlCol="0" anchor="ctr"/>
          <a:lstStyle/>
          <a:p>
            <a:pPr marL="0" indent="0">
              <a:buNone/>
            </a:pPr>
            <a:r>
              <a:rPr lang="en-US" sz="1050" dirty="0">
                <a:solidFill>
                  <a:srgbClr val="8B7D73"/>
                </a:solidFill>
              </a:rPr>
              <a:t>usage au travail dans les 30 derniers jours</a:t>
            </a:r>
            <a:endParaRPr lang="en-US" sz="1050" dirty="0"/>
          </a:p>
        </p:txBody>
      </p:sp>
      <p:sp>
        <p:nvSpPr>
          <p:cNvPr id="8" name="Shape 6"/>
          <p:cNvSpPr/>
          <p:nvPr/>
        </p:nvSpPr>
        <p:spPr>
          <a:xfrm>
            <a:off x="3584448" y="1325880"/>
            <a:ext cx="2697480" cy="1024128"/>
          </a:xfrm>
          <a:prstGeom prst="roundRect">
            <a:avLst>
              <a:gd name="adj" fmla="val 3571"/>
            </a:avLst>
          </a:prstGeom>
          <a:solidFill>
            <a:srgbClr val="F3E8DD"/>
          </a:solidFill>
          <a:ln w="12700">
            <a:solidFill>
              <a:srgbClr val="E3D8CC"/>
            </a:solidFill>
            <a:prstDash val="solid"/>
          </a:ln>
          <a:effectLst>
            <a:outerShdw blurRad="12700" dist="6350" dir="2700000" algn="bl" rotWithShape="0">
              <a:srgbClr val="000000">
                <a:alpha val="8000"/>
              </a:srgbClr>
            </a:outerShdw>
          </a:effectLst>
        </p:spPr>
        <p:txBody>
          <a:bodyPr/>
          <a:lstStyle/>
          <a:p>
            <a:endParaRPr/>
          </a:p>
        </p:txBody>
      </p:sp>
      <p:sp>
        <p:nvSpPr>
          <p:cNvPr id="9" name="Shape 7"/>
          <p:cNvSpPr/>
          <p:nvPr/>
        </p:nvSpPr>
        <p:spPr>
          <a:xfrm>
            <a:off x="3584448" y="1325880"/>
            <a:ext cx="73152" cy="1024128"/>
          </a:xfrm>
          <a:prstGeom prst="rect">
            <a:avLst/>
          </a:prstGeom>
          <a:solidFill>
            <a:srgbClr val="9C623A"/>
          </a:solidFill>
          <a:ln w="12700">
            <a:solidFill>
              <a:srgbClr val="E3D8CC"/>
            </a:solidFill>
            <a:prstDash val="solid"/>
          </a:ln>
        </p:spPr>
        <p:txBody>
          <a:bodyPr/>
          <a:lstStyle/>
          <a:p>
            <a:endParaRPr/>
          </a:p>
        </p:txBody>
      </p:sp>
      <p:sp>
        <p:nvSpPr>
          <p:cNvPr id="10" name="Text 8"/>
          <p:cNvSpPr/>
          <p:nvPr/>
        </p:nvSpPr>
        <p:spPr>
          <a:xfrm>
            <a:off x="3749040" y="1490472"/>
            <a:ext cx="2423160" cy="329184"/>
          </a:xfrm>
          <a:prstGeom prst="rect">
            <a:avLst/>
          </a:prstGeom>
          <a:noFill/>
          <a:ln>
            <a:noFill/>
          </a:ln>
        </p:spPr>
        <p:txBody>
          <a:bodyPr wrap="square" lIns="0" tIns="0" rIns="0" bIns="0" rtlCol="0" anchor="ctr"/>
          <a:lstStyle/>
          <a:p>
            <a:pPr marL="0" indent="0" algn="l">
              <a:buNone/>
            </a:pPr>
            <a:r>
              <a:rPr lang="en-US" sz="2100" b="1" dirty="0">
                <a:solidFill>
                  <a:srgbClr val="1F2933"/>
                </a:solidFill>
              </a:rPr>
              <a:t>19</a:t>
            </a:r>
            <a:endParaRPr lang="en-US" sz="2100" dirty="0"/>
          </a:p>
        </p:txBody>
      </p:sp>
      <p:sp>
        <p:nvSpPr>
          <p:cNvPr id="11" name="Text 9"/>
          <p:cNvSpPr/>
          <p:nvPr/>
        </p:nvSpPr>
        <p:spPr>
          <a:xfrm>
            <a:off x="3749040" y="1892808"/>
            <a:ext cx="2478024" cy="256032"/>
          </a:xfrm>
          <a:prstGeom prst="rect">
            <a:avLst/>
          </a:prstGeom>
          <a:noFill/>
          <a:ln>
            <a:noFill/>
          </a:ln>
        </p:spPr>
        <p:txBody>
          <a:bodyPr wrap="square" lIns="0" tIns="0" rIns="0" bIns="0" rtlCol="0" anchor="ctr"/>
          <a:lstStyle/>
          <a:p>
            <a:pPr marL="0" indent="0">
              <a:buNone/>
            </a:pPr>
            <a:r>
              <a:rPr lang="en-US" sz="1050" dirty="0">
                <a:solidFill>
                  <a:srgbClr val="8B7D73"/>
                </a:solidFill>
              </a:rPr>
              <a:t>utilisateurs quotidiens</a:t>
            </a:r>
            <a:endParaRPr lang="en-US" sz="1050" dirty="0"/>
          </a:p>
        </p:txBody>
      </p:sp>
      <p:sp>
        <p:nvSpPr>
          <p:cNvPr id="12" name="Shape 10"/>
          <p:cNvSpPr/>
          <p:nvPr/>
        </p:nvSpPr>
        <p:spPr>
          <a:xfrm>
            <a:off x="6483096" y="1325880"/>
            <a:ext cx="2697480" cy="1024128"/>
          </a:xfrm>
          <a:prstGeom prst="roundRect">
            <a:avLst>
              <a:gd name="adj" fmla="val 3571"/>
            </a:avLst>
          </a:prstGeom>
          <a:solidFill>
            <a:srgbClr val="F3F8EF"/>
          </a:solidFill>
          <a:ln w="12700">
            <a:solidFill>
              <a:srgbClr val="E3D8CC"/>
            </a:solidFill>
            <a:prstDash val="solid"/>
          </a:ln>
          <a:effectLst>
            <a:outerShdw blurRad="12700" dist="6350" dir="2700000" algn="bl" rotWithShape="0">
              <a:srgbClr val="000000">
                <a:alpha val="8000"/>
              </a:srgbClr>
            </a:outerShdw>
          </a:effectLst>
        </p:spPr>
        <p:txBody>
          <a:bodyPr/>
          <a:lstStyle/>
          <a:p>
            <a:endParaRPr/>
          </a:p>
        </p:txBody>
      </p:sp>
      <p:sp>
        <p:nvSpPr>
          <p:cNvPr id="13" name="Shape 11"/>
          <p:cNvSpPr/>
          <p:nvPr/>
        </p:nvSpPr>
        <p:spPr>
          <a:xfrm>
            <a:off x="6483096" y="1325880"/>
            <a:ext cx="73152" cy="1024128"/>
          </a:xfrm>
          <a:prstGeom prst="rect">
            <a:avLst/>
          </a:prstGeom>
          <a:solidFill>
            <a:srgbClr val="6F8A5C"/>
          </a:solidFill>
          <a:ln w="12700">
            <a:solidFill>
              <a:srgbClr val="E3D8CC"/>
            </a:solidFill>
            <a:prstDash val="solid"/>
          </a:ln>
        </p:spPr>
        <p:txBody>
          <a:bodyPr/>
          <a:lstStyle/>
          <a:p>
            <a:endParaRPr/>
          </a:p>
        </p:txBody>
      </p:sp>
      <p:sp>
        <p:nvSpPr>
          <p:cNvPr id="14" name="Text 12"/>
          <p:cNvSpPr/>
          <p:nvPr/>
        </p:nvSpPr>
        <p:spPr>
          <a:xfrm>
            <a:off x="6647688" y="1490472"/>
            <a:ext cx="2423160" cy="329184"/>
          </a:xfrm>
          <a:prstGeom prst="rect">
            <a:avLst/>
          </a:prstGeom>
          <a:noFill/>
          <a:ln>
            <a:noFill/>
          </a:ln>
        </p:spPr>
        <p:txBody>
          <a:bodyPr wrap="square" lIns="0" tIns="0" rIns="0" bIns="0" rtlCol="0" anchor="ctr"/>
          <a:lstStyle/>
          <a:p>
            <a:pPr marL="0" indent="0" algn="l">
              <a:buNone/>
            </a:pPr>
            <a:r>
              <a:rPr lang="en-US" sz="2100" b="1" dirty="0">
                <a:solidFill>
                  <a:srgbClr val="1F2933"/>
                </a:solidFill>
              </a:rPr>
              <a:t>89.5%</a:t>
            </a:r>
            <a:endParaRPr lang="en-US" sz="2100" dirty="0"/>
          </a:p>
        </p:txBody>
      </p:sp>
      <p:sp>
        <p:nvSpPr>
          <p:cNvPr id="15" name="Text 13"/>
          <p:cNvSpPr/>
          <p:nvPr/>
        </p:nvSpPr>
        <p:spPr>
          <a:xfrm>
            <a:off x="6647688" y="1892808"/>
            <a:ext cx="2478024" cy="256032"/>
          </a:xfrm>
          <a:prstGeom prst="rect">
            <a:avLst/>
          </a:prstGeom>
          <a:noFill/>
          <a:ln>
            <a:noFill/>
          </a:ln>
        </p:spPr>
        <p:txBody>
          <a:bodyPr wrap="square" lIns="0" tIns="0" rIns="0" bIns="0" rtlCol="0" anchor="ctr"/>
          <a:lstStyle/>
          <a:p>
            <a:pPr marL="0" indent="0">
              <a:buNone/>
            </a:pPr>
            <a:r>
              <a:rPr lang="en-US" sz="1050" dirty="0">
                <a:solidFill>
                  <a:srgbClr val="8B7D73"/>
                </a:solidFill>
              </a:rPr>
              <a:t>des utilisateurs citent le gain de temps</a:t>
            </a:r>
            <a:endParaRPr lang="en-US" sz="1050" dirty="0"/>
          </a:p>
        </p:txBody>
      </p:sp>
      <p:sp>
        <p:nvSpPr>
          <p:cNvPr id="16" name="Shape 14"/>
          <p:cNvSpPr/>
          <p:nvPr/>
        </p:nvSpPr>
        <p:spPr>
          <a:xfrm>
            <a:off x="9381744" y="1325880"/>
            <a:ext cx="2121408" cy="1024128"/>
          </a:xfrm>
          <a:prstGeom prst="roundRect">
            <a:avLst>
              <a:gd name="adj" fmla="val 3571"/>
            </a:avLst>
          </a:prstGeom>
          <a:solidFill>
            <a:srgbClr val="FDF7EB"/>
          </a:solidFill>
          <a:ln w="12700">
            <a:solidFill>
              <a:srgbClr val="E3D8CC"/>
            </a:solidFill>
            <a:prstDash val="solid"/>
          </a:ln>
          <a:effectLst>
            <a:outerShdw blurRad="12700" dist="6350" dir="2700000" algn="bl" rotWithShape="0">
              <a:srgbClr val="000000">
                <a:alpha val="8000"/>
              </a:srgbClr>
            </a:outerShdw>
          </a:effectLst>
        </p:spPr>
        <p:txBody>
          <a:bodyPr/>
          <a:lstStyle/>
          <a:p>
            <a:endParaRPr/>
          </a:p>
        </p:txBody>
      </p:sp>
      <p:sp>
        <p:nvSpPr>
          <p:cNvPr id="17" name="Shape 15"/>
          <p:cNvSpPr/>
          <p:nvPr/>
        </p:nvSpPr>
        <p:spPr>
          <a:xfrm>
            <a:off x="9381744" y="1325880"/>
            <a:ext cx="73152" cy="1024128"/>
          </a:xfrm>
          <a:prstGeom prst="rect">
            <a:avLst/>
          </a:prstGeom>
          <a:solidFill>
            <a:srgbClr val="B07A1A"/>
          </a:solidFill>
          <a:ln w="12700">
            <a:solidFill>
              <a:srgbClr val="E3D8CC"/>
            </a:solidFill>
            <a:prstDash val="solid"/>
          </a:ln>
        </p:spPr>
        <p:txBody>
          <a:bodyPr/>
          <a:lstStyle/>
          <a:p>
            <a:endParaRPr/>
          </a:p>
        </p:txBody>
      </p:sp>
      <p:sp>
        <p:nvSpPr>
          <p:cNvPr id="18" name="Text 16"/>
          <p:cNvSpPr/>
          <p:nvPr/>
        </p:nvSpPr>
        <p:spPr>
          <a:xfrm>
            <a:off x="9546336" y="1490472"/>
            <a:ext cx="1847088" cy="329184"/>
          </a:xfrm>
          <a:prstGeom prst="rect">
            <a:avLst/>
          </a:prstGeom>
          <a:noFill/>
          <a:ln>
            <a:noFill/>
          </a:ln>
        </p:spPr>
        <p:txBody>
          <a:bodyPr wrap="square" lIns="0" tIns="0" rIns="0" bIns="0" rtlCol="0" anchor="ctr"/>
          <a:lstStyle/>
          <a:p>
            <a:pPr marL="0" indent="0" algn="l">
              <a:buNone/>
            </a:pPr>
            <a:r>
              <a:rPr lang="en-US" sz="2100" b="1" dirty="0">
                <a:solidFill>
                  <a:srgbClr val="1F2933"/>
                </a:solidFill>
              </a:rPr>
              <a:t>46/50</a:t>
            </a:r>
            <a:endParaRPr lang="en-US" sz="2100" dirty="0"/>
          </a:p>
        </p:txBody>
      </p:sp>
      <p:sp>
        <p:nvSpPr>
          <p:cNvPr id="19" name="Text 17"/>
          <p:cNvSpPr/>
          <p:nvPr/>
        </p:nvSpPr>
        <p:spPr>
          <a:xfrm>
            <a:off x="9546336" y="1892808"/>
            <a:ext cx="1901952" cy="256032"/>
          </a:xfrm>
          <a:prstGeom prst="rect">
            <a:avLst/>
          </a:prstGeom>
          <a:noFill/>
          <a:ln>
            <a:noFill/>
          </a:ln>
        </p:spPr>
        <p:txBody>
          <a:bodyPr wrap="square" lIns="0" tIns="0" rIns="0" bIns="0" rtlCol="0" anchor="ctr"/>
          <a:lstStyle/>
          <a:p>
            <a:pPr marL="0" indent="0">
              <a:buNone/>
            </a:pPr>
            <a:r>
              <a:rPr lang="en-US" sz="1050" dirty="0">
                <a:solidFill>
                  <a:srgbClr val="8B7D73"/>
                </a:solidFill>
              </a:rPr>
              <a:t>réseau Early Adopters potentiel</a:t>
            </a:r>
            <a:endParaRPr lang="en-US" sz="1050" dirty="0"/>
          </a:p>
        </p:txBody>
      </p:sp>
      <p:sp>
        <p:nvSpPr>
          <p:cNvPr id="20" name="Shape 18"/>
          <p:cNvSpPr/>
          <p:nvPr/>
        </p:nvSpPr>
        <p:spPr>
          <a:xfrm>
            <a:off x="685800" y="2743200"/>
            <a:ext cx="2743200" cy="1325880"/>
          </a:xfrm>
          <a:prstGeom prst="roundRect">
            <a:avLst>
              <a:gd name="adj" fmla="val 2759"/>
            </a:avLst>
          </a:prstGeom>
          <a:solidFill>
            <a:srgbClr val="FFFFFF"/>
          </a:solidFill>
          <a:ln w="12700">
            <a:solidFill>
              <a:srgbClr val="E3D8CC"/>
            </a:solidFill>
            <a:prstDash val="solid"/>
          </a:ln>
        </p:spPr>
        <p:txBody>
          <a:bodyPr/>
          <a:lstStyle/>
          <a:p>
            <a:endParaRPr/>
          </a:p>
        </p:txBody>
      </p:sp>
      <p:sp>
        <p:nvSpPr>
          <p:cNvPr id="21" name="Shape 19"/>
          <p:cNvSpPr/>
          <p:nvPr/>
        </p:nvSpPr>
        <p:spPr>
          <a:xfrm>
            <a:off x="685800" y="2743200"/>
            <a:ext cx="2743200" cy="128016"/>
          </a:xfrm>
          <a:prstGeom prst="rect">
            <a:avLst/>
          </a:prstGeom>
          <a:solidFill>
            <a:srgbClr val="4F8A3D"/>
          </a:solidFill>
          <a:ln w="12700">
            <a:solidFill>
              <a:srgbClr val="E3D8CC"/>
            </a:solidFill>
            <a:prstDash val="solid"/>
          </a:ln>
        </p:spPr>
        <p:txBody>
          <a:bodyPr/>
          <a:lstStyle/>
          <a:p>
            <a:endParaRPr/>
          </a:p>
        </p:txBody>
      </p:sp>
      <p:sp>
        <p:nvSpPr>
          <p:cNvPr id="22" name="Text 20"/>
          <p:cNvSpPr/>
          <p:nvPr/>
        </p:nvSpPr>
        <p:spPr>
          <a:xfrm>
            <a:off x="813816" y="2962656"/>
            <a:ext cx="2487168" cy="219456"/>
          </a:xfrm>
          <a:prstGeom prst="rect">
            <a:avLst/>
          </a:prstGeom>
          <a:noFill/>
          <a:ln>
            <a:noFill/>
          </a:ln>
        </p:spPr>
        <p:txBody>
          <a:bodyPr wrap="square" lIns="0" tIns="0" rIns="0" bIns="0" rtlCol="0" anchor="ctr"/>
          <a:lstStyle/>
          <a:p>
            <a:pPr marL="0" indent="0">
              <a:buNone/>
            </a:pPr>
            <a:r>
              <a:rPr lang="en-US" sz="1350" b="1" dirty="0">
                <a:solidFill>
                  <a:srgbClr val="1F2933"/>
                </a:solidFill>
              </a:rPr>
              <a:t>1. Le sujet n’est plus exploratoire</a:t>
            </a:r>
            <a:endParaRPr lang="en-US" sz="1350" dirty="0"/>
          </a:p>
        </p:txBody>
      </p:sp>
      <p:sp>
        <p:nvSpPr>
          <p:cNvPr id="23" name="Text 21"/>
          <p:cNvSpPr/>
          <p:nvPr/>
        </p:nvSpPr>
        <p:spPr>
          <a:xfrm>
            <a:off x="813816" y="3273552"/>
            <a:ext cx="2487168" cy="667512"/>
          </a:xfrm>
          <a:prstGeom prst="rect">
            <a:avLst/>
          </a:prstGeom>
          <a:noFill/>
          <a:ln>
            <a:noFill/>
          </a:ln>
        </p:spPr>
        <p:txBody>
          <a:bodyPr wrap="square" lIns="0" tIns="0" rIns="0" bIns="0" rtlCol="0" anchor="t"/>
          <a:lstStyle/>
          <a:p>
            <a:pPr marL="127000" indent="-127000">
              <a:buSzPct val="100000"/>
              <a:buChar char="•"/>
            </a:pPr>
            <a:r>
              <a:rPr lang="en-US" sz="1080" dirty="0">
                <a:solidFill>
                  <a:srgbClr val="1F2933"/>
                </a:solidFill>
              </a:rPr>
              <a:t>57 répondants sur 70 ont utilisé l’IA récemment au travail.</a:t>
            </a:r>
            <a:endParaRPr lang="en-US" sz="1080" dirty="0"/>
          </a:p>
          <a:p>
            <a:pPr marL="127000" indent="-127000">
              <a:buSzPct val="100000"/>
              <a:buChar char="•"/>
            </a:pPr>
            <a:r>
              <a:rPr lang="en-US" sz="1080" dirty="0">
                <a:solidFill>
                  <a:srgbClr val="1F2933"/>
                </a:solidFill>
              </a:rPr>
              <a:t>La question n’est plus l’évangélisation mais le cadre et la standardisation.</a:t>
            </a:r>
            <a:endParaRPr lang="en-US" sz="1080" dirty="0"/>
          </a:p>
        </p:txBody>
      </p:sp>
      <p:sp>
        <p:nvSpPr>
          <p:cNvPr id="24" name="Shape 22"/>
          <p:cNvSpPr/>
          <p:nvPr/>
        </p:nvSpPr>
        <p:spPr>
          <a:xfrm>
            <a:off x="3621024" y="2743200"/>
            <a:ext cx="2743200" cy="1325880"/>
          </a:xfrm>
          <a:prstGeom prst="roundRect">
            <a:avLst>
              <a:gd name="adj" fmla="val 2759"/>
            </a:avLst>
          </a:prstGeom>
          <a:solidFill>
            <a:srgbClr val="FFFFFF"/>
          </a:solidFill>
          <a:ln w="12700">
            <a:solidFill>
              <a:srgbClr val="E3D8CC"/>
            </a:solidFill>
            <a:prstDash val="solid"/>
          </a:ln>
        </p:spPr>
        <p:txBody>
          <a:bodyPr/>
          <a:lstStyle/>
          <a:p>
            <a:endParaRPr/>
          </a:p>
        </p:txBody>
      </p:sp>
      <p:sp>
        <p:nvSpPr>
          <p:cNvPr id="25" name="Shape 23"/>
          <p:cNvSpPr/>
          <p:nvPr/>
        </p:nvSpPr>
        <p:spPr>
          <a:xfrm>
            <a:off x="3621024" y="2743200"/>
            <a:ext cx="2743200" cy="128016"/>
          </a:xfrm>
          <a:prstGeom prst="rect">
            <a:avLst/>
          </a:prstGeom>
          <a:solidFill>
            <a:srgbClr val="9C623A"/>
          </a:solidFill>
          <a:ln w="12700">
            <a:solidFill>
              <a:srgbClr val="E3D8CC"/>
            </a:solidFill>
            <a:prstDash val="solid"/>
          </a:ln>
        </p:spPr>
        <p:txBody>
          <a:bodyPr/>
          <a:lstStyle/>
          <a:p>
            <a:endParaRPr/>
          </a:p>
        </p:txBody>
      </p:sp>
      <p:sp>
        <p:nvSpPr>
          <p:cNvPr id="26" name="Text 24"/>
          <p:cNvSpPr/>
          <p:nvPr/>
        </p:nvSpPr>
        <p:spPr>
          <a:xfrm>
            <a:off x="3749040" y="2962656"/>
            <a:ext cx="2487168" cy="219456"/>
          </a:xfrm>
          <a:prstGeom prst="rect">
            <a:avLst/>
          </a:prstGeom>
          <a:noFill/>
          <a:ln>
            <a:noFill/>
          </a:ln>
        </p:spPr>
        <p:txBody>
          <a:bodyPr wrap="square" lIns="0" tIns="0" rIns="0" bIns="0" rtlCol="0" anchor="ctr"/>
          <a:lstStyle/>
          <a:p>
            <a:pPr marL="0" indent="0">
              <a:buNone/>
            </a:pPr>
            <a:r>
              <a:rPr lang="en-US" sz="1350" b="1" dirty="0">
                <a:solidFill>
                  <a:srgbClr val="1F2933"/>
                </a:solidFill>
              </a:rPr>
              <a:t>2. La valeur est déjà visible</a:t>
            </a:r>
            <a:endParaRPr lang="en-US" sz="1350" dirty="0"/>
          </a:p>
        </p:txBody>
      </p:sp>
      <p:sp>
        <p:nvSpPr>
          <p:cNvPr id="27" name="Text 25"/>
          <p:cNvSpPr/>
          <p:nvPr/>
        </p:nvSpPr>
        <p:spPr>
          <a:xfrm>
            <a:off x="3749040" y="3273552"/>
            <a:ext cx="2487168" cy="667512"/>
          </a:xfrm>
          <a:prstGeom prst="rect">
            <a:avLst/>
          </a:prstGeom>
          <a:noFill/>
          <a:ln>
            <a:noFill/>
          </a:ln>
        </p:spPr>
        <p:txBody>
          <a:bodyPr wrap="square" lIns="0" tIns="0" rIns="0" bIns="0" rtlCol="0" anchor="t"/>
          <a:lstStyle/>
          <a:p>
            <a:pPr marL="127000" indent="-127000">
              <a:buSzPct val="100000"/>
              <a:buChar char="•"/>
            </a:pPr>
            <a:r>
              <a:rPr lang="en-US" sz="1080" dirty="0">
                <a:solidFill>
                  <a:srgbClr val="1F2933"/>
                </a:solidFill>
              </a:rPr>
              <a:t>Temps gagné, créativité et qualité des livrables arrivent en tête.</a:t>
            </a:r>
            <a:endParaRPr lang="en-US" sz="1080" dirty="0"/>
          </a:p>
          <a:p>
            <a:pPr marL="127000" indent="-127000">
              <a:buSzPct val="100000"/>
              <a:buChar char="•"/>
            </a:pPr>
            <a:r>
              <a:rPr lang="en-US" sz="1080" dirty="0">
                <a:solidFill>
                  <a:srgbClr val="1F2933"/>
                </a:solidFill>
              </a:rPr>
              <a:t>Les gains portent d’abord sur le travail cognitif quotidien.</a:t>
            </a:r>
            <a:endParaRPr lang="en-US" sz="1080" dirty="0"/>
          </a:p>
        </p:txBody>
      </p:sp>
      <p:sp>
        <p:nvSpPr>
          <p:cNvPr id="28" name="Shape 26"/>
          <p:cNvSpPr/>
          <p:nvPr/>
        </p:nvSpPr>
        <p:spPr>
          <a:xfrm>
            <a:off x="6556248" y="2743200"/>
            <a:ext cx="2697480" cy="1325880"/>
          </a:xfrm>
          <a:prstGeom prst="roundRect">
            <a:avLst>
              <a:gd name="adj" fmla="val 2759"/>
            </a:avLst>
          </a:prstGeom>
          <a:solidFill>
            <a:srgbClr val="FFFFFF"/>
          </a:solidFill>
          <a:ln w="12700">
            <a:solidFill>
              <a:srgbClr val="E3D8CC"/>
            </a:solidFill>
            <a:prstDash val="solid"/>
          </a:ln>
        </p:spPr>
        <p:txBody>
          <a:bodyPr/>
          <a:lstStyle/>
          <a:p>
            <a:endParaRPr/>
          </a:p>
        </p:txBody>
      </p:sp>
      <p:sp>
        <p:nvSpPr>
          <p:cNvPr id="29" name="Shape 27"/>
          <p:cNvSpPr/>
          <p:nvPr/>
        </p:nvSpPr>
        <p:spPr>
          <a:xfrm>
            <a:off x="6556248" y="2743200"/>
            <a:ext cx="2697480" cy="128016"/>
          </a:xfrm>
          <a:prstGeom prst="rect">
            <a:avLst/>
          </a:prstGeom>
          <a:solidFill>
            <a:srgbClr val="B1453A"/>
          </a:solidFill>
          <a:ln w="12700">
            <a:solidFill>
              <a:srgbClr val="E3D8CC"/>
            </a:solidFill>
            <a:prstDash val="solid"/>
          </a:ln>
        </p:spPr>
        <p:txBody>
          <a:bodyPr/>
          <a:lstStyle/>
          <a:p>
            <a:endParaRPr/>
          </a:p>
        </p:txBody>
      </p:sp>
      <p:sp>
        <p:nvSpPr>
          <p:cNvPr id="30" name="Text 28"/>
          <p:cNvSpPr/>
          <p:nvPr/>
        </p:nvSpPr>
        <p:spPr>
          <a:xfrm>
            <a:off x="6684264" y="2962656"/>
            <a:ext cx="2441448" cy="219456"/>
          </a:xfrm>
          <a:prstGeom prst="rect">
            <a:avLst/>
          </a:prstGeom>
          <a:noFill/>
          <a:ln>
            <a:noFill/>
          </a:ln>
        </p:spPr>
        <p:txBody>
          <a:bodyPr wrap="square" lIns="0" tIns="0" rIns="0" bIns="0" rtlCol="0" anchor="ctr"/>
          <a:lstStyle/>
          <a:p>
            <a:pPr marL="0" indent="0">
              <a:buNone/>
            </a:pPr>
            <a:r>
              <a:rPr lang="en-US" sz="1350" b="1" dirty="0">
                <a:solidFill>
                  <a:srgbClr val="1F2933"/>
                </a:solidFill>
              </a:rPr>
              <a:t>3. Le frein principal est le risque</a:t>
            </a:r>
            <a:endParaRPr lang="en-US" sz="1350" dirty="0"/>
          </a:p>
        </p:txBody>
      </p:sp>
      <p:sp>
        <p:nvSpPr>
          <p:cNvPr id="31" name="Text 29"/>
          <p:cNvSpPr/>
          <p:nvPr/>
        </p:nvSpPr>
        <p:spPr>
          <a:xfrm>
            <a:off x="6684264" y="3273552"/>
            <a:ext cx="2441448" cy="667512"/>
          </a:xfrm>
          <a:prstGeom prst="rect">
            <a:avLst/>
          </a:prstGeom>
          <a:noFill/>
          <a:ln>
            <a:noFill/>
          </a:ln>
        </p:spPr>
        <p:txBody>
          <a:bodyPr wrap="square" lIns="0" tIns="0" rIns="0" bIns="0" rtlCol="0" anchor="t"/>
          <a:lstStyle/>
          <a:p>
            <a:pPr marL="127000" indent="-127000">
              <a:buSzPct val="100000"/>
              <a:buChar char="•"/>
            </a:pPr>
            <a:r>
              <a:rPr lang="en-US" sz="1080" dirty="0">
                <a:solidFill>
                  <a:srgbClr val="1F2933"/>
                </a:solidFill>
              </a:rPr>
              <a:t>Confidentialité / conformité et fiabilité des réponses dominent les freins.</a:t>
            </a:r>
            <a:endParaRPr lang="en-US" sz="1080" dirty="0"/>
          </a:p>
          <a:p>
            <a:pPr marL="127000" indent="-127000">
              <a:buSzPct val="100000"/>
              <a:buChar char="•"/>
            </a:pPr>
            <a:r>
              <a:rPr lang="en-US" sz="1080" dirty="0">
                <a:solidFill>
                  <a:srgbClr val="1F2933"/>
                </a:solidFill>
              </a:rPr>
              <a:t>Le statu quo laisse se développer des usages sans cadre.</a:t>
            </a:r>
            <a:endParaRPr lang="en-US" sz="1080" dirty="0"/>
          </a:p>
        </p:txBody>
      </p:sp>
      <p:sp>
        <p:nvSpPr>
          <p:cNvPr id="32" name="Shape 30"/>
          <p:cNvSpPr/>
          <p:nvPr/>
        </p:nvSpPr>
        <p:spPr>
          <a:xfrm>
            <a:off x="9445752" y="2743200"/>
            <a:ext cx="2057400" cy="1325880"/>
          </a:xfrm>
          <a:prstGeom prst="roundRect">
            <a:avLst>
              <a:gd name="adj" fmla="val 2759"/>
            </a:avLst>
          </a:prstGeom>
          <a:solidFill>
            <a:srgbClr val="FFFFFF"/>
          </a:solidFill>
          <a:ln w="12700">
            <a:solidFill>
              <a:srgbClr val="E3D8CC"/>
            </a:solidFill>
            <a:prstDash val="solid"/>
          </a:ln>
        </p:spPr>
        <p:txBody>
          <a:bodyPr/>
          <a:lstStyle/>
          <a:p>
            <a:endParaRPr/>
          </a:p>
        </p:txBody>
      </p:sp>
      <p:sp>
        <p:nvSpPr>
          <p:cNvPr id="33" name="Shape 31"/>
          <p:cNvSpPr/>
          <p:nvPr/>
        </p:nvSpPr>
        <p:spPr>
          <a:xfrm>
            <a:off x="9445752" y="2743200"/>
            <a:ext cx="2057400" cy="128016"/>
          </a:xfrm>
          <a:prstGeom prst="rect">
            <a:avLst/>
          </a:prstGeom>
          <a:solidFill>
            <a:srgbClr val="3D1104"/>
          </a:solidFill>
          <a:ln w="12700">
            <a:solidFill>
              <a:srgbClr val="E3D8CC"/>
            </a:solidFill>
            <a:prstDash val="solid"/>
          </a:ln>
        </p:spPr>
        <p:txBody>
          <a:bodyPr/>
          <a:lstStyle/>
          <a:p>
            <a:endParaRPr/>
          </a:p>
        </p:txBody>
      </p:sp>
      <p:sp>
        <p:nvSpPr>
          <p:cNvPr id="34" name="Text 32"/>
          <p:cNvSpPr/>
          <p:nvPr/>
        </p:nvSpPr>
        <p:spPr>
          <a:xfrm>
            <a:off x="9573768" y="2962656"/>
            <a:ext cx="1801368" cy="219456"/>
          </a:xfrm>
          <a:prstGeom prst="rect">
            <a:avLst/>
          </a:prstGeom>
          <a:noFill/>
          <a:ln>
            <a:noFill/>
          </a:ln>
        </p:spPr>
        <p:txBody>
          <a:bodyPr wrap="square" lIns="0" tIns="0" rIns="0" bIns="0" rtlCol="0" anchor="ctr"/>
          <a:lstStyle/>
          <a:p>
            <a:pPr marL="0" indent="0">
              <a:buNone/>
            </a:pPr>
            <a:r>
              <a:rPr lang="en-US" sz="1350" b="1" dirty="0">
                <a:solidFill>
                  <a:srgbClr val="1F2933"/>
                </a:solidFill>
              </a:rPr>
              <a:t>4. Le prochain mouvement</a:t>
            </a:r>
            <a:endParaRPr lang="en-US" sz="1350" dirty="0"/>
          </a:p>
        </p:txBody>
      </p:sp>
      <p:sp>
        <p:nvSpPr>
          <p:cNvPr id="35" name="Text 33"/>
          <p:cNvSpPr/>
          <p:nvPr/>
        </p:nvSpPr>
        <p:spPr>
          <a:xfrm>
            <a:off x="9573768" y="3273552"/>
            <a:ext cx="1801368" cy="667512"/>
          </a:xfrm>
          <a:prstGeom prst="rect">
            <a:avLst/>
          </a:prstGeom>
          <a:noFill/>
          <a:ln>
            <a:noFill/>
          </a:ln>
        </p:spPr>
        <p:txBody>
          <a:bodyPr wrap="square" lIns="0" tIns="0" rIns="0" bIns="0" rtlCol="0" anchor="t"/>
          <a:lstStyle/>
          <a:p>
            <a:pPr marL="127000" indent="-127000">
              <a:buSzPct val="100000"/>
              <a:buChar char="•"/>
            </a:pPr>
            <a:r>
              <a:rPr lang="en-US" sz="1080" dirty="0">
                <a:solidFill>
                  <a:srgbClr val="1F2933"/>
                </a:solidFill>
              </a:rPr>
              <a:t>2 quick wins transverses</a:t>
            </a:r>
            <a:endParaRPr lang="en-US" sz="1080" dirty="0"/>
          </a:p>
          <a:p>
            <a:pPr marL="127000" indent="-127000">
              <a:buSzPct val="100000"/>
              <a:buChar char="•"/>
            </a:pPr>
            <a:r>
              <a:rPr lang="en-US" sz="1080" dirty="0">
                <a:solidFill>
                  <a:srgbClr val="1F2933"/>
                </a:solidFill>
              </a:rPr>
              <a:t>1 pilote métier différenciant</a:t>
            </a:r>
            <a:endParaRPr lang="en-US" sz="1080" dirty="0"/>
          </a:p>
          <a:p>
            <a:pPr marL="127000" indent="-127000">
              <a:buSzPct val="100000"/>
              <a:buChar char="•"/>
            </a:pPr>
            <a:r>
              <a:rPr lang="en-US" sz="1080" dirty="0">
                <a:solidFill>
                  <a:srgbClr val="1F2933"/>
                </a:solidFill>
              </a:rPr>
              <a:t>formation courte par fonction</a:t>
            </a:r>
            <a:endParaRPr lang="en-US" sz="1080" dirty="0"/>
          </a:p>
        </p:txBody>
      </p:sp>
      <p:sp>
        <p:nvSpPr>
          <p:cNvPr id="36" name="Shape 34"/>
          <p:cNvSpPr/>
          <p:nvPr/>
        </p:nvSpPr>
        <p:spPr>
          <a:xfrm>
            <a:off x="685800" y="4498848"/>
            <a:ext cx="10808208" cy="1143000"/>
          </a:xfrm>
          <a:prstGeom prst="roundRect">
            <a:avLst>
              <a:gd name="adj" fmla="val 3200"/>
            </a:avLst>
          </a:prstGeom>
          <a:solidFill>
            <a:srgbClr val="FFFFFF"/>
          </a:solidFill>
          <a:ln w="12700">
            <a:solidFill>
              <a:srgbClr val="E3D8CC"/>
            </a:solidFill>
            <a:prstDash val="solid"/>
          </a:ln>
        </p:spPr>
        <p:txBody>
          <a:bodyPr/>
          <a:lstStyle/>
          <a:p>
            <a:endParaRPr/>
          </a:p>
        </p:txBody>
      </p:sp>
      <p:sp>
        <p:nvSpPr>
          <p:cNvPr id="37" name="Text 35"/>
          <p:cNvSpPr/>
          <p:nvPr/>
        </p:nvSpPr>
        <p:spPr>
          <a:xfrm>
            <a:off x="868680" y="4736592"/>
            <a:ext cx="2011680" cy="201168"/>
          </a:xfrm>
          <a:prstGeom prst="rect">
            <a:avLst/>
          </a:prstGeom>
          <a:noFill/>
          <a:ln>
            <a:noFill/>
          </a:ln>
        </p:spPr>
        <p:txBody>
          <a:bodyPr wrap="square" lIns="0" tIns="0" rIns="0" bIns="0" rtlCol="0" anchor="ctr"/>
          <a:lstStyle/>
          <a:p>
            <a:pPr marL="0" indent="0">
              <a:buNone/>
            </a:pPr>
            <a:r>
              <a:rPr lang="en-US" sz="1150" b="1" dirty="0">
                <a:solidFill>
                  <a:srgbClr val="3D1104"/>
                </a:solidFill>
              </a:rPr>
              <a:t>Décision implicite du deck</a:t>
            </a:r>
            <a:endParaRPr lang="en-US" sz="1150" dirty="0"/>
          </a:p>
        </p:txBody>
      </p:sp>
      <p:sp>
        <p:nvSpPr>
          <p:cNvPr id="38" name="Text 36"/>
          <p:cNvSpPr/>
          <p:nvPr/>
        </p:nvSpPr>
        <p:spPr>
          <a:xfrm>
            <a:off x="868680" y="5047488"/>
            <a:ext cx="10149840" cy="310896"/>
          </a:xfrm>
          <a:prstGeom prst="rect">
            <a:avLst/>
          </a:prstGeom>
          <a:noFill/>
          <a:ln>
            <a:noFill/>
          </a:ln>
        </p:spPr>
        <p:txBody>
          <a:bodyPr wrap="square" lIns="0" tIns="0" rIns="0" bIns="0" rtlCol="0" anchor="ctr"/>
          <a:lstStyle/>
          <a:p>
            <a:pPr marL="0" indent="0">
              <a:buNone/>
            </a:pPr>
            <a:r>
              <a:rPr lang="en-US" sz="1320" dirty="0">
                <a:solidFill>
                  <a:srgbClr val="1F2933"/>
                </a:solidFill>
              </a:rPr>
              <a:t>Passer d’usages individuels déjà installés à un déploiement simple et piloté : règles d’usage, sponsors, 2 quick wins, 1 pilote métier, réseau de relais et mesure légère des gains.</a:t>
            </a:r>
            <a:endParaRPr lang="en-US" sz="1320" dirty="0"/>
          </a:p>
        </p:txBody>
      </p:sp>
      <p:sp>
        <p:nvSpPr>
          <p:cNvPr id="39" name="TextBox 38"/>
          <p:cNvSpPr txBox="1"/>
          <p:nvPr/>
        </p:nvSpPr>
        <p:spPr>
          <a:xfrm>
            <a:off x="11292840" y="6455664"/>
            <a:ext cx="502920" cy="182880"/>
          </a:xfrm>
          <a:prstGeom prst="rect">
            <a:avLst/>
          </a:prstGeom>
          <a:noFill/>
          <a:ln>
            <a:noFill/>
          </a:ln>
        </p:spPr>
        <p:txBody>
          <a:bodyPr wrap="none">
            <a:spAutoFit/>
          </a:bodyPr>
          <a:lstStyle/>
          <a:p>
            <a:pPr algn="r">
              <a:defRPr sz="1000">
                <a:solidFill>
                  <a:srgbClr val="27333F"/>
                </a:solidFill>
                <a:latin typeface="Aptos"/>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8F4"/>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438912"/>
          </a:xfrm>
          <a:prstGeom prst="rect">
            <a:avLst/>
          </a:prstGeom>
          <a:noFill/>
          <a:ln>
            <a:noFill/>
          </a:ln>
        </p:spPr>
        <p:txBody>
          <a:bodyPr wrap="square" lIns="0" tIns="0" rIns="0" bIns="0" rtlCol="0" anchor="ctr"/>
          <a:lstStyle/>
          <a:p>
            <a:pPr marL="0" indent="0">
              <a:buNone/>
            </a:pPr>
            <a:r>
              <a:rPr lang="en-US" sz="2400" b="1" dirty="0">
                <a:solidFill>
                  <a:srgbClr val="1F2933"/>
                </a:solidFill>
                <a:latin typeface="Aptos Display" pitchFamily="34" charset="0"/>
                <a:ea typeface="Aptos Display" pitchFamily="34" charset="-122"/>
                <a:cs typeface="Aptos Display" pitchFamily="34" charset="-120"/>
              </a:rPr>
              <a:t>L’usage est déjà large, mais reste hétérogène selon les fonctions</a:t>
            </a:r>
            <a:endParaRPr lang="en-US" sz="2400" dirty="0"/>
          </a:p>
        </p:txBody>
      </p:sp>
      <p:sp>
        <p:nvSpPr>
          <p:cNvPr id="3" name="Text 1"/>
          <p:cNvSpPr/>
          <p:nvPr/>
        </p:nvSpPr>
        <p:spPr>
          <a:xfrm>
            <a:off x="658368" y="896112"/>
            <a:ext cx="10241280" cy="256032"/>
          </a:xfrm>
          <a:prstGeom prst="rect">
            <a:avLst/>
          </a:prstGeom>
          <a:noFill/>
          <a:ln>
            <a:noFill/>
          </a:ln>
        </p:spPr>
        <p:txBody>
          <a:bodyPr wrap="square" lIns="0" tIns="0" rIns="0" bIns="0" rtlCol="0" anchor="ctr"/>
          <a:lstStyle/>
          <a:p>
            <a:pPr marL="0" indent="0">
              <a:buNone/>
            </a:pPr>
            <a:r>
              <a:rPr lang="en-US" sz="1150" dirty="0">
                <a:solidFill>
                  <a:srgbClr val="8B7D73"/>
                </a:solidFill>
                <a:latin typeface="Aptos" pitchFamily="34" charset="0"/>
                <a:ea typeface="Aptos" pitchFamily="34" charset="-122"/>
                <a:cs typeface="Aptos" pitchFamily="34" charset="-120"/>
              </a:rPr>
              <a:t>Adoption globale, fréquence d’usage et dispersion par population</a:t>
            </a:r>
            <a:endParaRPr lang="en-US" sz="1150" dirty="0"/>
          </a:p>
        </p:txBody>
      </p:sp>
      <p:sp>
        <p:nvSpPr>
          <p:cNvPr id="4" name="Shape 2"/>
          <p:cNvSpPr/>
          <p:nvPr/>
        </p:nvSpPr>
        <p:spPr>
          <a:xfrm>
            <a:off x="713232" y="1207008"/>
            <a:ext cx="1417320" cy="256032"/>
          </a:xfrm>
          <a:prstGeom prst="roundRect">
            <a:avLst>
              <a:gd name="adj" fmla="val 17857"/>
            </a:avLst>
          </a:prstGeom>
          <a:solidFill>
            <a:srgbClr val="4F8A3D"/>
          </a:solidFill>
          <a:ln w="12700">
            <a:solidFill>
              <a:srgbClr val="E3D8CC"/>
            </a:solidFill>
            <a:prstDash val="solid"/>
          </a:ln>
        </p:spPr>
        <p:txBody>
          <a:bodyPr/>
          <a:lstStyle/>
          <a:p>
            <a:endParaRPr/>
          </a:p>
        </p:txBody>
      </p:sp>
      <p:sp>
        <p:nvSpPr>
          <p:cNvPr id="5" name="Text 3"/>
          <p:cNvSpPr/>
          <p:nvPr/>
        </p:nvSpPr>
        <p:spPr>
          <a:xfrm>
            <a:off x="804672" y="1252728"/>
            <a:ext cx="1234440" cy="146304"/>
          </a:xfrm>
          <a:prstGeom prst="rect">
            <a:avLst/>
          </a:prstGeom>
          <a:noFill/>
          <a:ln>
            <a:noFill/>
          </a:ln>
        </p:spPr>
        <p:txBody>
          <a:bodyPr wrap="square" lIns="0" tIns="0" rIns="0" bIns="0" rtlCol="0" anchor="ctr"/>
          <a:lstStyle/>
          <a:p>
            <a:pPr marL="0" indent="0" algn="ctr">
              <a:buNone/>
            </a:pPr>
            <a:r>
              <a:rPr lang="en-US" sz="900" b="1" dirty="0">
                <a:solidFill>
                  <a:srgbClr val="FFFFFF"/>
                </a:solidFill>
              </a:rPr>
              <a:t>CONSTAT</a:t>
            </a:r>
            <a:endParaRPr lang="en-US" sz="900" dirty="0"/>
          </a:p>
        </p:txBody>
      </p:sp>
      <p:sp>
        <p:nvSpPr>
          <p:cNvPr id="6" name="Text 4"/>
          <p:cNvSpPr/>
          <p:nvPr/>
        </p:nvSpPr>
        <p:spPr>
          <a:xfrm>
            <a:off x="2304288" y="1225296"/>
            <a:ext cx="6309360" cy="182880"/>
          </a:xfrm>
          <a:prstGeom prst="rect">
            <a:avLst/>
          </a:prstGeom>
          <a:noFill/>
          <a:ln>
            <a:noFill/>
          </a:ln>
        </p:spPr>
        <p:txBody>
          <a:bodyPr wrap="square" lIns="0" tIns="0" rIns="0" bIns="0" rtlCol="0" anchor="ctr"/>
          <a:lstStyle/>
          <a:p>
            <a:pPr marL="0" indent="0">
              <a:buNone/>
            </a:pPr>
            <a:r>
              <a:rPr lang="en-US" sz="1220" dirty="0">
                <a:solidFill>
                  <a:srgbClr val="1F2933"/>
                </a:solidFill>
              </a:rPr>
              <a:t>Le sujet appelle une logique de cadre, pas une logique d’évangélisation.</a:t>
            </a:r>
            <a:endParaRPr lang="en-US" sz="1220" dirty="0"/>
          </a:p>
        </p:txBody>
      </p:sp>
      <p:sp>
        <p:nvSpPr>
          <p:cNvPr id="7" name="Text 5"/>
          <p:cNvSpPr/>
          <p:nvPr/>
        </p:nvSpPr>
        <p:spPr>
          <a:xfrm>
            <a:off x="731520" y="1627632"/>
            <a:ext cx="2194560" cy="201168"/>
          </a:xfrm>
          <a:prstGeom prst="rect">
            <a:avLst/>
          </a:prstGeom>
          <a:noFill/>
          <a:ln>
            <a:noFill/>
          </a:ln>
        </p:spPr>
        <p:txBody>
          <a:bodyPr wrap="square" lIns="0" tIns="0" rIns="0" bIns="0" rtlCol="0" anchor="ctr"/>
          <a:lstStyle/>
          <a:p>
            <a:pPr marL="0" indent="0">
              <a:buNone/>
            </a:pPr>
            <a:r>
              <a:rPr lang="en-US" sz="1200" b="1" dirty="0">
                <a:solidFill>
                  <a:srgbClr val="1F2933"/>
                </a:solidFill>
              </a:rPr>
              <a:t>Adoption globale</a:t>
            </a:r>
            <a:endParaRPr lang="en-US" sz="1200" dirty="0"/>
          </a:p>
        </p:txBody>
      </p:sp>
      <p:sp>
        <p:nvSpPr>
          <p:cNvPr id="8" name="Shape 6"/>
          <p:cNvSpPr/>
          <p:nvPr/>
        </p:nvSpPr>
        <p:spPr>
          <a:xfrm>
            <a:off x="731520" y="1901952"/>
            <a:ext cx="3536769" cy="402336"/>
          </a:xfrm>
          <a:prstGeom prst="rect">
            <a:avLst/>
          </a:prstGeom>
          <a:solidFill>
            <a:srgbClr val="4F8A3D"/>
          </a:solidFill>
          <a:ln w="12700">
            <a:solidFill>
              <a:srgbClr val="E3D8CC"/>
            </a:solidFill>
            <a:prstDash val="solid"/>
          </a:ln>
        </p:spPr>
        <p:txBody>
          <a:bodyPr/>
          <a:lstStyle/>
          <a:p>
            <a:endParaRPr/>
          </a:p>
        </p:txBody>
      </p:sp>
      <p:sp>
        <p:nvSpPr>
          <p:cNvPr id="9" name="Text 7"/>
          <p:cNvSpPr/>
          <p:nvPr/>
        </p:nvSpPr>
        <p:spPr>
          <a:xfrm>
            <a:off x="786384" y="1975104"/>
            <a:ext cx="3427041" cy="292608"/>
          </a:xfrm>
          <a:prstGeom prst="rect">
            <a:avLst/>
          </a:prstGeom>
          <a:noFill/>
          <a:ln>
            <a:noFill/>
          </a:ln>
        </p:spPr>
        <p:txBody>
          <a:bodyPr wrap="square" lIns="0" tIns="0" rIns="0" bIns="0" rtlCol="0" anchor="ctr"/>
          <a:lstStyle/>
          <a:p>
            <a:pPr marL="0" indent="0" algn="ctr">
              <a:buNone/>
            </a:pPr>
            <a:r>
              <a:rPr lang="en-US" sz="1100" b="1" dirty="0">
                <a:solidFill>
                  <a:srgbClr val="FFFFFF"/>
                </a:solidFill>
              </a:rPr>
              <a:t>Oui 57</a:t>
            </a:r>
            <a:endParaRPr lang="en-US" sz="1100" dirty="0"/>
          </a:p>
        </p:txBody>
      </p:sp>
      <p:sp>
        <p:nvSpPr>
          <p:cNvPr id="10" name="Shape 8"/>
          <p:cNvSpPr/>
          <p:nvPr/>
        </p:nvSpPr>
        <p:spPr>
          <a:xfrm>
            <a:off x="4268289" y="1901952"/>
            <a:ext cx="806631" cy="402336"/>
          </a:xfrm>
          <a:prstGeom prst="rect">
            <a:avLst/>
          </a:prstGeom>
          <a:solidFill>
            <a:srgbClr val="F7F1E8"/>
          </a:solidFill>
          <a:ln w="12700">
            <a:solidFill>
              <a:srgbClr val="E3D8CC"/>
            </a:solidFill>
            <a:prstDash val="solid"/>
          </a:ln>
        </p:spPr>
        <p:txBody>
          <a:bodyPr/>
          <a:lstStyle/>
          <a:p>
            <a:endParaRPr/>
          </a:p>
        </p:txBody>
      </p:sp>
      <p:sp>
        <p:nvSpPr>
          <p:cNvPr id="11" name="Text 9"/>
          <p:cNvSpPr/>
          <p:nvPr/>
        </p:nvSpPr>
        <p:spPr>
          <a:xfrm>
            <a:off x="731520" y="2395728"/>
            <a:ext cx="3017520" cy="164592"/>
          </a:xfrm>
          <a:prstGeom prst="rect">
            <a:avLst/>
          </a:prstGeom>
          <a:noFill/>
          <a:ln>
            <a:noFill/>
          </a:ln>
        </p:spPr>
        <p:txBody>
          <a:bodyPr wrap="square" lIns="0" tIns="0" rIns="0" bIns="0" rtlCol="0" anchor="ctr"/>
          <a:lstStyle/>
          <a:p>
            <a:pPr marL="0" indent="0">
              <a:buNone/>
            </a:pPr>
            <a:r>
              <a:rPr lang="en-US" sz="1050" dirty="0">
                <a:solidFill>
                  <a:srgbClr val="8B7D73"/>
                </a:solidFill>
              </a:rPr>
              <a:t>57/70 utilisent déjà l’IA au travail</a:t>
            </a:r>
            <a:endParaRPr lang="en-US" sz="1050" dirty="0"/>
          </a:p>
        </p:txBody>
      </p:sp>
      <p:sp>
        <p:nvSpPr>
          <p:cNvPr id="12" name="Text 10"/>
          <p:cNvSpPr/>
          <p:nvPr/>
        </p:nvSpPr>
        <p:spPr>
          <a:xfrm>
            <a:off x="731520" y="2642616"/>
            <a:ext cx="4389120" cy="201168"/>
          </a:xfrm>
          <a:prstGeom prst="rect">
            <a:avLst/>
          </a:prstGeom>
          <a:noFill/>
          <a:ln>
            <a:noFill/>
          </a:ln>
        </p:spPr>
        <p:txBody>
          <a:bodyPr wrap="square" lIns="0" tIns="0" rIns="0" bIns="0" rtlCol="0" anchor="ctr"/>
          <a:lstStyle/>
          <a:p>
            <a:pPr marL="0" indent="0">
              <a:buNone/>
            </a:pPr>
            <a:r>
              <a:rPr lang="en-US" sz="1150" b="1" dirty="0">
                <a:solidFill>
                  <a:srgbClr val="1F2933"/>
                </a:solidFill>
              </a:rPr>
              <a:t>Fréquence chez les utilisateurs travail</a:t>
            </a:r>
            <a:endParaRPr lang="en-US" sz="1150" dirty="0"/>
          </a:p>
        </p:txBody>
      </p:sp>
      <p:sp>
        <p:nvSpPr>
          <p:cNvPr id="13" name="Text 11"/>
          <p:cNvSpPr/>
          <p:nvPr/>
        </p:nvSpPr>
        <p:spPr>
          <a:xfrm>
            <a:off x="731520" y="2916936"/>
            <a:ext cx="1920240" cy="310896"/>
          </a:xfrm>
          <a:prstGeom prst="rect">
            <a:avLst/>
          </a:prstGeom>
          <a:noFill/>
          <a:ln>
            <a:noFill/>
          </a:ln>
        </p:spPr>
        <p:txBody>
          <a:bodyPr wrap="square" lIns="0" tIns="0" rIns="0" bIns="0" rtlCol="0" anchor="ctr">
            <a:normAutofit/>
          </a:bodyPr>
          <a:lstStyle/>
          <a:p>
            <a:pPr marL="0" indent="0">
              <a:buNone/>
            </a:pPr>
            <a:r>
              <a:rPr lang="en-US" sz="1020" dirty="0">
                <a:solidFill>
                  <a:srgbClr val="1F2933"/>
                </a:solidFill>
              </a:rPr>
              <a:t>Daily</a:t>
            </a:r>
            <a:endParaRPr lang="en-US" sz="1020" dirty="0"/>
          </a:p>
        </p:txBody>
      </p:sp>
      <p:sp>
        <p:nvSpPr>
          <p:cNvPr id="14" name="Shape 12"/>
          <p:cNvSpPr/>
          <p:nvPr/>
        </p:nvSpPr>
        <p:spPr>
          <a:xfrm>
            <a:off x="2761488" y="2980944"/>
            <a:ext cx="1783080" cy="182880"/>
          </a:xfrm>
          <a:prstGeom prst="rect">
            <a:avLst/>
          </a:prstGeom>
          <a:solidFill>
            <a:srgbClr val="F7F1E8"/>
          </a:solidFill>
          <a:ln w="12700">
            <a:solidFill>
              <a:srgbClr val="E3D8CC"/>
            </a:solidFill>
            <a:prstDash val="solid"/>
          </a:ln>
        </p:spPr>
        <p:txBody>
          <a:bodyPr/>
          <a:lstStyle/>
          <a:p>
            <a:endParaRPr/>
          </a:p>
        </p:txBody>
      </p:sp>
      <p:sp>
        <p:nvSpPr>
          <p:cNvPr id="15" name="Shape 13"/>
          <p:cNvSpPr/>
          <p:nvPr/>
        </p:nvSpPr>
        <p:spPr>
          <a:xfrm>
            <a:off x="2761488" y="2980944"/>
            <a:ext cx="1783080" cy="182880"/>
          </a:xfrm>
          <a:prstGeom prst="rect">
            <a:avLst/>
          </a:prstGeom>
          <a:solidFill>
            <a:srgbClr val="9C623A"/>
          </a:solidFill>
          <a:ln w="12700">
            <a:solidFill>
              <a:srgbClr val="E3D8CC"/>
            </a:solidFill>
            <a:prstDash val="solid"/>
          </a:ln>
        </p:spPr>
        <p:txBody>
          <a:bodyPr/>
          <a:lstStyle/>
          <a:p>
            <a:endParaRPr/>
          </a:p>
        </p:txBody>
      </p:sp>
      <p:sp>
        <p:nvSpPr>
          <p:cNvPr id="16" name="Text 14"/>
          <p:cNvSpPr/>
          <p:nvPr/>
        </p:nvSpPr>
        <p:spPr>
          <a:xfrm>
            <a:off x="4617720" y="2916936"/>
            <a:ext cx="457200" cy="329184"/>
          </a:xfrm>
          <a:prstGeom prst="rect">
            <a:avLst/>
          </a:prstGeom>
          <a:noFill/>
          <a:ln>
            <a:noFill/>
          </a:ln>
        </p:spPr>
        <p:txBody>
          <a:bodyPr wrap="square" lIns="0" tIns="0" rIns="0" bIns="0" rtlCol="0" anchor="ctr"/>
          <a:lstStyle/>
          <a:p>
            <a:pPr marL="0" indent="0" algn="r">
              <a:buNone/>
            </a:pPr>
            <a:r>
              <a:rPr lang="en-US" sz="1050" b="1" dirty="0">
                <a:solidFill>
                  <a:srgbClr val="1F2933"/>
                </a:solidFill>
              </a:rPr>
              <a:t>19</a:t>
            </a:r>
            <a:endParaRPr lang="en-US" sz="1050" dirty="0"/>
          </a:p>
        </p:txBody>
      </p:sp>
      <p:sp>
        <p:nvSpPr>
          <p:cNvPr id="17" name="Text 15"/>
          <p:cNvSpPr/>
          <p:nvPr/>
        </p:nvSpPr>
        <p:spPr>
          <a:xfrm>
            <a:off x="731520" y="3282696"/>
            <a:ext cx="1920240" cy="310896"/>
          </a:xfrm>
          <a:prstGeom prst="rect">
            <a:avLst/>
          </a:prstGeom>
          <a:noFill/>
          <a:ln>
            <a:noFill/>
          </a:ln>
        </p:spPr>
        <p:txBody>
          <a:bodyPr wrap="square" lIns="0" tIns="0" rIns="0" bIns="0" rtlCol="0" anchor="ctr">
            <a:normAutofit/>
          </a:bodyPr>
          <a:lstStyle/>
          <a:p>
            <a:pPr marL="0" indent="0">
              <a:buNone/>
            </a:pPr>
            <a:r>
              <a:rPr lang="en-US" sz="1020" dirty="0">
                <a:solidFill>
                  <a:srgbClr val="1F2933"/>
                </a:solidFill>
              </a:rPr>
              <a:t>2–3 times/week</a:t>
            </a:r>
            <a:endParaRPr lang="en-US" sz="1020" dirty="0"/>
          </a:p>
        </p:txBody>
      </p:sp>
      <p:sp>
        <p:nvSpPr>
          <p:cNvPr id="18" name="Shape 16"/>
          <p:cNvSpPr/>
          <p:nvPr/>
        </p:nvSpPr>
        <p:spPr>
          <a:xfrm>
            <a:off x="2761488" y="3346704"/>
            <a:ext cx="1783080" cy="182880"/>
          </a:xfrm>
          <a:prstGeom prst="rect">
            <a:avLst/>
          </a:prstGeom>
          <a:solidFill>
            <a:srgbClr val="F7F1E8"/>
          </a:solidFill>
          <a:ln w="12700">
            <a:solidFill>
              <a:srgbClr val="E3D8CC"/>
            </a:solidFill>
            <a:prstDash val="solid"/>
          </a:ln>
        </p:spPr>
        <p:txBody>
          <a:bodyPr/>
          <a:lstStyle/>
          <a:p>
            <a:endParaRPr/>
          </a:p>
        </p:txBody>
      </p:sp>
      <p:sp>
        <p:nvSpPr>
          <p:cNvPr id="19" name="Shape 17"/>
          <p:cNvSpPr/>
          <p:nvPr/>
        </p:nvSpPr>
        <p:spPr>
          <a:xfrm>
            <a:off x="2761488" y="3346704"/>
            <a:ext cx="1220002" cy="182880"/>
          </a:xfrm>
          <a:prstGeom prst="rect">
            <a:avLst/>
          </a:prstGeom>
          <a:solidFill>
            <a:srgbClr val="9C623A"/>
          </a:solidFill>
          <a:ln w="12700">
            <a:solidFill>
              <a:srgbClr val="E3D8CC"/>
            </a:solidFill>
            <a:prstDash val="solid"/>
          </a:ln>
        </p:spPr>
        <p:txBody>
          <a:bodyPr/>
          <a:lstStyle/>
          <a:p>
            <a:endParaRPr/>
          </a:p>
        </p:txBody>
      </p:sp>
      <p:sp>
        <p:nvSpPr>
          <p:cNvPr id="20" name="Text 18"/>
          <p:cNvSpPr/>
          <p:nvPr/>
        </p:nvSpPr>
        <p:spPr>
          <a:xfrm>
            <a:off x="4617720" y="3282696"/>
            <a:ext cx="457200" cy="329184"/>
          </a:xfrm>
          <a:prstGeom prst="rect">
            <a:avLst/>
          </a:prstGeom>
          <a:noFill/>
          <a:ln>
            <a:noFill/>
          </a:ln>
        </p:spPr>
        <p:txBody>
          <a:bodyPr wrap="square" lIns="0" tIns="0" rIns="0" bIns="0" rtlCol="0" anchor="ctr"/>
          <a:lstStyle/>
          <a:p>
            <a:pPr marL="0" indent="0" algn="r">
              <a:buNone/>
            </a:pPr>
            <a:r>
              <a:rPr lang="en-US" sz="1050" b="1" dirty="0">
                <a:solidFill>
                  <a:srgbClr val="1F2933"/>
                </a:solidFill>
              </a:rPr>
              <a:t>13</a:t>
            </a:r>
            <a:endParaRPr lang="en-US" sz="1050" dirty="0"/>
          </a:p>
        </p:txBody>
      </p:sp>
      <p:sp>
        <p:nvSpPr>
          <p:cNvPr id="21" name="Text 19"/>
          <p:cNvSpPr/>
          <p:nvPr/>
        </p:nvSpPr>
        <p:spPr>
          <a:xfrm>
            <a:off x="731520" y="3648456"/>
            <a:ext cx="1920240" cy="310896"/>
          </a:xfrm>
          <a:prstGeom prst="rect">
            <a:avLst/>
          </a:prstGeom>
          <a:noFill/>
          <a:ln>
            <a:noFill/>
          </a:ln>
        </p:spPr>
        <p:txBody>
          <a:bodyPr wrap="square" lIns="0" tIns="0" rIns="0" bIns="0" rtlCol="0" anchor="ctr">
            <a:normAutofit/>
          </a:bodyPr>
          <a:lstStyle/>
          <a:p>
            <a:pPr marL="0" indent="0">
              <a:buNone/>
            </a:pPr>
            <a:r>
              <a:rPr lang="en-US" sz="1020" dirty="0">
                <a:solidFill>
                  <a:srgbClr val="1F2933"/>
                </a:solidFill>
              </a:rPr>
              <a:t>Weekly</a:t>
            </a:r>
            <a:endParaRPr lang="en-US" sz="1020" dirty="0"/>
          </a:p>
        </p:txBody>
      </p:sp>
      <p:sp>
        <p:nvSpPr>
          <p:cNvPr id="22" name="Shape 20"/>
          <p:cNvSpPr/>
          <p:nvPr/>
        </p:nvSpPr>
        <p:spPr>
          <a:xfrm>
            <a:off x="2761488" y="3712464"/>
            <a:ext cx="1783080" cy="182880"/>
          </a:xfrm>
          <a:prstGeom prst="rect">
            <a:avLst/>
          </a:prstGeom>
          <a:solidFill>
            <a:srgbClr val="F7F1E8"/>
          </a:solidFill>
          <a:ln w="12700">
            <a:solidFill>
              <a:srgbClr val="E3D8CC"/>
            </a:solidFill>
            <a:prstDash val="solid"/>
          </a:ln>
        </p:spPr>
        <p:txBody>
          <a:bodyPr/>
          <a:lstStyle/>
          <a:p>
            <a:endParaRPr/>
          </a:p>
        </p:txBody>
      </p:sp>
      <p:sp>
        <p:nvSpPr>
          <p:cNvPr id="23" name="Shape 21"/>
          <p:cNvSpPr/>
          <p:nvPr/>
        </p:nvSpPr>
        <p:spPr>
          <a:xfrm>
            <a:off x="2761488" y="3712464"/>
            <a:ext cx="1501541" cy="182880"/>
          </a:xfrm>
          <a:prstGeom prst="rect">
            <a:avLst/>
          </a:prstGeom>
          <a:solidFill>
            <a:srgbClr val="9C623A"/>
          </a:solidFill>
          <a:ln w="12700">
            <a:solidFill>
              <a:srgbClr val="E3D8CC"/>
            </a:solidFill>
            <a:prstDash val="solid"/>
          </a:ln>
        </p:spPr>
        <p:txBody>
          <a:bodyPr/>
          <a:lstStyle/>
          <a:p>
            <a:endParaRPr/>
          </a:p>
        </p:txBody>
      </p:sp>
      <p:sp>
        <p:nvSpPr>
          <p:cNvPr id="24" name="Text 22"/>
          <p:cNvSpPr/>
          <p:nvPr/>
        </p:nvSpPr>
        <p:spPr>
          <a:xfrm>
            <a:off x="4617720" y="3648456"/>
            <a:ext cx="457200" cy="329184"/>
          </a:xfrm>
          <a:prstGeom prst="rect">
            <a:avLst/>
          </a:prstGeom>
          <a:noFill/>
          <a:ln>
            <a:noFill/>
          </a:ln>
        </p:spPr>
        <p:txBody>
          <a:bodyPr wrap="square" lIns="0" tIns="0" rIns="0" bIns="0" rtlCol="0" anchor="ctr"/>
          <a:lstStyle/>
          <a:p>
            <a:pPr marL="0" indent="0" algn="r">
              <a:buNone/>
            </a:pPr>
            <a:r>
              <a:rPr lang="en-US" sz="1050" b="1" dirty="0">
                <a:solidFill>
                  <a:srgbClr val="1F2933"/>
                </a:solidFill>
              </a:rPr>
              <a:t>16</a:t>
            </a:r>
            <a:endParaRPr lang="en-US" sz="1050" dirty="0"/>
          </a:p>
        </p:txBody>
      </p:sp>
      <p:sp>
        <p:nvSpPr>
          <p:cNvPr id="25" name="Text 23"/>
          <p:cNvSpPr/>
          <p:nvPr/>
        </p:nvSpPr>
        <p:spPr>
          <a:xfrm>
            <a:off x="731520" y="4014216"/>
            <a:ext cx="1920240" cy="310896"/>
          </a:xfrm>
          <a:prstGeom prst="rect">
            <a:avLst/>
          </a:prstGeom>
          <a:noFill/>
          <a:ln>
            <a:noFill/>
          </a:ln>
        </p:spPr>
        <p:txBody>
          <a:bodyPr wrap="square" lIns="0" tIns="0" rIns="0" bIns="0" rtlCol="0" anchor="ctr">
            <a:normAutofit/>
          </a:bodyPr>
          <a:lstStyle/>
          <a:p>
            <a:pPr marL="0" indent="0">
              <a:buNone/>
            </a:pPr>
            <a:r>
              <a:rPr lang="en-US" sz="1020" dirty="0">
                <a:solidFill>
                  <a:srgbClr val="1F2933"/>
                </a:solidFill>
              </a:rPr>
              <a:t>1–2 times/month</a:t>
            </a:r>
            <a:endParaRPr lang="en-US" sz="1020" dirty="0"/>
          </a:p>
        </p:txBody>
      </p:sp>
      <p:sp>
        <p:nvSpPr>
          <p:cNvPr id="26" name="Shape 24"/>
          <p:cNvSpPr/>
          <p:nvPr/>
        </p:nvSpPr>
        <p:spPr>
          <a:xfrm>
            <a:off x="2761488" y="4078224"/>
            <a:ext cx="1783080" cy="182880"/>
          </a:xfrm>
          <a:prstGeom prst="rect">
            <a:avLst/>
          </a:prstGeom>
          <a:solidFill>
            <a:srgbClr val="F7F1E8"/>
          </a:solidFill>
          <a:ln w="12700">
            <a:solidFill>
              <a:srgbClr val="E3D8CC"/>
            </a:solidFill>
            <a:prstDash val="solid"/>
          </a:ln>
        </p:spPr>
        <p:txBody>
          <a:bodyPr/>
          <a:lstStyle/>
          <a:p>
            <a:endParaRPr/>
          </a:p>
        </p:txBody>
      </p:sp>
      <p:sp>
        <p:nvSpPr>
          <p:cNvPr id="27" name="Shape 25"/>
          <p:cNvSpPr/>
          <p:nvPr/>
        </p:nvSpPr>
        <p:spPr>
          <a:xfrm>
            <a:off x="2761488" y="4078224"/>
            <a:ext cx="656924" cy="182880"/>
          </a:xfrm>
          <a:prstGeom prst="rect">
            <a:avLst/>
          </a:prstGeom>
          <a:solidFill>
            <a:srgbClr val="9C623A"/>
          </a:solidFill>
          <a:ln w="12700">
            <a:solidFill>
              <a:srgbClr val="E3D8CC"/>
            </a:solidFill>
            <a:prstDash val="solid"/>
          </a:ln>
        </p:spPr>
        <p:txBody>
          <a:bodyPr/>
          <a:lstStyle/>
          <a:p>
            <a:endParaRPr/>
          </a:p>
        </p:txBody>
      </p:sp>
      <p:sp>
        <p:nvSpPr>
          <p:cNvPr id="28" name="Text 26"/>
          <p:cNvSpPr/>
          <p:nvPr/>
        </p:nvSpPr>
        <p:spPr>
          <a:xfrm>
            <a:off x="4617720" y="4014216"/>
            <a:ext cx="457200" cy="329184"/>
          </a:xfrm>
          <a:prstGeom prst="rect">
            <a:avLst/>
          </a:prstGeom>
          <a:noFill/>
          <a:ln>
            <a:noFill/>
          </a:ln>
        </p:spPr>
        <p:txBody>
          <a:bodyPr wrap="square" lIns="0" tIns="0" rIns="0" bIns="0" rtlCol="0" anchor="ctr"/>
          <a:lstStyle/>
          <a:p>
            <a:pPr marL="0" indent="0" algn="r">
              <a:buNone/>
            </a:pPr>
            <a:r>
              <a:rPr lang="en-US" sz="1050" b="1" dirty="0">
                <a:solidFill>
                  <a:srgbClr val="1F2933"/>
                </a:solidFill>
              </a:rPr>
              <a:t>7</a:t>
            </a:r>
            <a:endParaRPr lang="en-US" sz="1050" dirty="0"/>
          </a:p>
        </p:txBody>
      </p:sp>
      <p:sp>
        <p:nvSpPr>
          <p:cNvPr id="29" name="Text 27"/>
          <p:cNvSpPr/>
          <p:nvPr/>
        </p:nvSpPr>
        <p:spPr>
          <a:xfrm>
            <a:off x="731520" y="4379976"/>
            <a:ext cx="1920240" cy="310896"/>
          </a:xfrm>
          <a:prstGeom prst="rect">
            <a:avLst/>
          </a:prstGeom>
          <a:noFill/>
          <a:ln>
            <a:noFill/>
          </a:ln>
        </p:spPr>
        <p:txBody>
          <a:bodyPr wrap="square" lIns="0" tIns="0" rIns="0" bIns="0" rtlCol="0" anchor="ctr">
            <a:normAutofit/>
          </a:bodyPr>
          <a:lstStyle/>
          <a:p>
            <a:pPr marL="0" indent="0">
              <a:buNone/>
            </a:pPr>
            <a:r>
              <a:rPr lang="en-US" sz="1020" dirty="0">
                <a:solidFill>
                  <a:srgbClr val="1F2933"/>
                </a:solidFill>
              </a:rPr>
              <a:t>Rarely</a:t>
            </a:r>
            <a:endParaRPr lang="en-US" sz="1020" dirty="0"/>
          </a:p>
        </p:txBody>
      </p:sp>
      <p:sp>
        <p:nvSpPr>
          <p:cNvPr id="30" name="Shape 28"/>
          <p:cNvSpPr/>
          <p:nvPr/>
        </p:nvSpPr>
        <p:spPr>
          <a:xfrm>
            <a:off x="2761488" y="4443984"/>
            <a:ext cx="1783080" cy="182880"/>
          </a:xfrm>
          <a:prstGeom prst="rect">
            <a:avLst/>
          </a:prstGeom>
          <a:solidFill>
            <a:srgbClr val="F7F1E8"/>
          </a:solidFill>
          <a:ln w="12700">
            <a:solidFill>
              <a:srgbClr val="E3D8CC"/>
            </a:solidFill>
            <a:prstDash val="solid"/>
          </a:ln>
        </p:spPr>
        <p:txBody>
          <a:bodyPr/>
          <a:lstStyle/>
          <a:p>
            <a:endParaRPr/>
          </a:p>
        </p:txBody>
      </p:sp>
      <p:sp>
        <p:nvSpPr>
          <p:cNvPr id="31" name="Shape 29"/>
          <p:cNvSpPr/>
          <p:nvPr/>
        </p:nvSpPr>
        <p:spPr>
          <a:xfrm>
            <a:off x="2761488" y="4443984"/>
            <a:ext cx="187693" cy="182880"/>
          </a:xfrm>
          <a:prstGeom prst="rect">
            <a:avLst/>
          </a:prstGeom>
          <a:solidFill>
            <a:srgbClr val="9C623A"/>
          </a:solidFill>
          <a:ln w="12700">
            <a:solidFill>
              <a:srgbClr val="E3D8CC"/>
            </a:solidFill>
            <a:prstDash val="solid"/>
          </a:ln>
        </p:spPr>
        <p:txBody>
          <a:bodyPr/>
          <a:lstStyle/>
          <a:p>
            <a:endParaRPr/>
          </a:p>
        </p:txBody>
      </p:sp>
      <p:sp>
        <p:nvSpPr>
          <p:cNvPr id="32" name="Text 30"/>
          <p:cNvSpPr/>
          <p:nvPr/>
        </p:nvSpPr>
        <p:spPr>
          <a:xfrm>
            <a:off x="4617720" y="4379976"/>
            <a:ext cx="457200" cy="329184"/>
          </a:xfrm>
          <a:prstGeom prst="rect">
            <a:avLst/>
          </a:prstGeom>
          <a:noFill/>
          <a:ln>
            <a:noFill/>
          </a:ln>
        </p:spPr>
        <p:txBody>
          <a:bodyPr wrap="square" lIns="0" tIns="0" rIns="0" bIns="0" rtlCol="0" anchor="ctr"/>
          <a:lstStyle/>
          <a:p>
            <a:pPr marL="0" indent="0" algn="r">
              <a:buNone/>
            </a:pPr>
            <a:r>
              <a:rPr lang="en-US" sz="1050" b="1" dirty="0">
                <a:solidFill>
                  <a:srgbClr val="1F2933"/>
                </a:solidFill>
              </a:rPr>
              <a:t>2</a:t>
            </a:r>
            <a:endParaRPr lang="en-US" sz="1050" dirty="0"/>
          </a:p>
        </p:txBody>
      </p:sp>
      <p:sp>
        <p:nvSpPr>
          <p:cNvPr id="33" name="Text 31"/>
          <p:cNvSpPr/>
          <p:nvPr/>
        </p:nvSpPr>
        <p:spPr>
          <a:xfrm>
            <a:off x="6126480" y="1499616"/>
            <a:ext cx="5394960" cy="201168"/>
          </a:xfrm>
          <a:prstGeom prst="rect">
            <a:avLst/>
          </a:prstGeom>
          <a:noFill/>
          <a:ln>
            <a:noFill/>
          </a:ln>
        </p:spPr>
        <p:txBody>
          <a:bodyPr wrap="square" lIns="0" tIns="0" rIns="0" bIns="0" rtlCol="0" anchor="ctr"/>
          <a:lstStyle/>
          <a:p>
            <a:pPr marL="0" indent="0">
              <a:buNone/>
            </a:pPr>
            <a:r>
              <a:rPr lang="en-US" sz="1150" b="1" dirty="0">
                <a:solidFill>
                  <a:srgbClr val="1F2933"/>
                </a:solidFill>
              </a:rPr>
              <a:t>Usage au travail par fonction</a:t>
            </a:r>
            <a:endParaRPr lang="en-US" sz="1150" dirty="0"/>
          </a:p>
        </p:txBody>
      </p:sp>
      <p:sp>
        <p:nvSpPr>
          <p:cNvPr id="34" name="Text 32"/>
          <p:cNvSpPr/>
          <p:nvPr/>
        </p:nvSpPr>
        <p:spPr>
          <a:xfrm>
            <a:off x="6126480" y="1773936"/>
            <a:ext cx="2651760" cy="612648"/>
          </a:xfrm>
          <a:prstGeom prst="rect">
            <a:avLst/>
          </a:prstGeom>
          <a:noFill/>
          <a:ln>
            <a:noFill/>
          </a:ln>
        </p:spPr>
        <p:txBody>
          <a:bodyPr wrap="square" lIns="0" tIns="0" rIns="0" bIns="0" rtlCol="0" anchor="ctr">
            <a:normAutofit/>
          </a:bodyPr>
          <a:lstStyle/>
          <a:p>
            <a:pPr marL="0" indent="0">
              <a:buNone/>
            </a:pPr>
            <a:r>
              <a:rPr lang="en-US" sz="1000" dirty="0">
                <a:solidFill>
                  <a:srgbClr val="1F2933"/>
                </a:solidFill>
              </a:rPr>
              <a:t>Finance / Legal / Procurement</a:t>
            </a:r>
            <a:endParaRPr lang="en-US" sz="1000" dirty="0"/>
          </a:p>
        </p:txBody>
      </p:sp>
      <p:sp>
        <p:nvSpPr>
          <p:cNvPr id="35" name="Shape 33"/>
          <p:cNvSpPr/>
          <p:nvPr/>
        </p:nvSpPr>
        <p:spPr>
          <a:xfrm>
            <a:off x="8887968" y="1837944"/>
            <a:ext cx="2057400" cy="484632"/>
          </a:xfrm>
          <a:prstGeom prst="rect">
            <a:avLst/>
          </a:prstGeom>
          <a:solidFill>
            <a:srgbClr val="F7F1E8"/>
          </a:solidFill>
          <a:ln w="12700">
            <a:solidFill>
              <a:srgbClr val="E3D8CC"/>
            </a:solidFill>
            <a:prstDash val="solid"/>
          </a:ln>
        </p:spPr>
        <p:txBody>
          <a:bodyPr/>
          <a:lstStyle/>
          <a:p>
            <a:endParaRPr/>
          </a:p>
        </p:txBody>
      </p:sp>
      <p:sp>
        <p:nvSpPr>
          <p:cNvPr id="36" name="Shape 34"/>
          <p:cNvSpPr/>
          <p:nvPr/>
        </p:nvSpPr>
        <p:spPr>
          <a:xfrm>
            <a:off x="8887968" y="1837944"/>
            <a:ext cx="2057400" cy="484632"/>
          </a:xfrm>
          <a:prstGeom prst="rect">
            <a:avLst/>
          </a:prstGeom>
          <a:solidFill>
            <a:srgbClr val="6F8A5C"/>
          </a:solidFill>
          <a:ln w="12700">
            <a:solidFill>
              <a:srgbClr val="E3D8CC"/>
            </a:solidFill>
            <a:prstDash val="solid"/>
          </a:ln>
        </p:spPr>
        <p:txBody>
          <a:bodyPr/>
          <a:lstStyle/>
          <a:p>
            <a:endParaRPr/>
          </a:p>
        </p:txBody>
      </p:sp>
      <p:sp>
        <p:nvSpPr>
          <p:cNvPr id="37" name="Text 35"/>
          <p:cNvSpPr/>
          <p:nvPr/>
        </p:nvSpPr>
        <p:spPr>
          <a:xfrm>
            <a:off x="11018520" y="1773936"/>
            <a:ext cx="457200" cy="630936"/>
          </a:xfrm>
          <a:prstGeom prst="rect">
            <a:avLst/>
          </a:prstGeom>
          <a:noFill/>
          <a:ln>
            <a:noFill/>
          </a:ln>
        </p:spPr>
        <p:txBody>
          <a:bodyPr wrap="square" lIns="0" tIns="0" rIns="0" bIns="0" rtlCol="0" anchor="ctr"/>
          <a:lstStyle/>
          <a:p>
            <a:pPr marL="0" indent="0" algn="r">
              <a:buNone/>
            </a:pPr>
            <a:r>
              <a:rPr lang="en-US" sz="1050" b="1" dirty="0">
                <a:solidFill>
                  <a:srgbClr val="1F2933"/>
                </a:solidFill>
              </a:rPr>
              <a:t>100%</a:t>
            </a:r>
            <a:endParaRPr lang="en-US" sz="1050" dirty="0"/>
          </a:p>
        </p:txBody>
      </p:sp>
      <p:sp>
        <p:nvSpPr>
          <p:cNvPr id="38" name="Text 36"/>
          <p:cNvSpPr/>
          <p:nvPr/>
        </p:nvSpPr>
        <p:spPr>
          <a:xfrm>
            <a:off x="6126480" y="2441448"/>
            <a:ext cx="2651760" cy="612648"/>
          </a:xfrm>
          <a:prstGeom prst="rect">
            <a:avLst/>
          </a:prstGeom>
          <a:noFill/>
          <a:ln>
            <a:noFill/>
          </a:ln>
        </p:spPr>
        <p:txBody>
          <a:bodyPr wrap="square" lIns="0" tIns="0" rIns="0" bIns="0" rtlCol="0" anchor="ctr">
            <a:normAutofit/>
          </a:bodyPr>
          <a:lstStyle/>
          <a:p>
            <a:pPr marL="0" indent="0">
              <a:buNone/>
            </a:pPr>
            <a:r>
              <a:rPr lang="en-US" sz="1000" dirty="0">
                <a:solidFill>
                  <a:srgbClr val="1F2933"/>
                </a:solidFill>
              </a:rPr>
              <a:t>R&amp;D / Innovation</a:t>
            </a:r>
            <a:endParaRPr lang="en-US" sz="1000" dirty="0"/>
          </a:p>
        </p:txBody>
      </p:sp>
      <p:sp>
        <p:nvSpPr>
          <p:cNvPr id="39" name="Shape 37"/>
          <p:cNvSpPr/>
          <p:nvPr/>
        </p:nvSpPr>
        <p:spPr>
          <a:xfrm>
            <a:off x="8887968" y="2505456"/>
            <a:ext cx="2057400" cy="484632"/>
          </a:xfrm>
          <a:prstGeom prst="rect">
            <a:avLst/>
          </a:prstGeom>
          <a:solidFill>
            <a:srgbClr val="F7F1E8"/>
          </a:solidFill>
          <a:ln w="12700">
            <a:solidFill>
              <a:srgbClr val="E3D8CC"/>
            </a:solidFill>
            <a:prstDash val="solid"/>
          </a:ln>
        </p:spPr>
        <p:txBody>
          <a:bodyPr/>
          <a:lstStyle/>
          <a:p>
            <a:endParaRPr/>
          </a:p>
        </p:txBody>
      </p:sp>
      <p:sp>
        <p:nvSpPr>
          <p:cNvPr id="40" name="Shape 38"/>
          <p:cNvSpPr/>
          <p:nvPr/>
        </p:nvSpPr>
        <p:spPr>
          <a:xfrm>
            <a:off x="8887968" y="2505456"/>
            <a:ext cx="1872234" cy="484632"/>
          </a:xfrm>
          <a:prstGeom prst="rect">
            <a:avLst/>
          </a:prstGeom>
          <a:solidFill>
            <a:srgbClr val="6F8A5C"/>
          </a:solidFill>
          <a:ln w="12700">
            <a:solidFill>
              <a:srgbClr val="E3D8CC"/>
            </a:solidFill>
            <a:prstDash val="solid"/>
          </a:ln>
        </p:spPr>
        <p:txBody>
          <a:bodyPr/>
          <a:lstStyle/>
          <a:p>
            <a:endParaRPr/>
          </a:p>
        </p:txBody>
      </p:sp>
      <p:sp>
        <p:nvSpPr>
          <p:cNvPr id="41" name="Text 39"/>
          <p:cNvSpPr/>
          <p:nvPr/>
        </p:nvSpPr>
        <p:spPr>
          <a:xfrm>
            <a:off x="11018520" y="2441448"/>
            <a:ext cx="457200" cy="630936"/>
          </a:xfrm>
          <a:prstGeom prst="rect">
            <a:avLst/>
          </a:prstGeom>
          <a:noFill/>
          <a:ln>
            <a:noFill/>
          </a:ln>
        </p:spPr>
        <p:txBody>
          <a:bodyPr wrap="square" lIns="0" tIns="0" rIns="0" bIns="0" rtlCol="0" anchor="ctr"/>
          <a:lstStyle/>
          <a:p>
            <a:pPr marL="0" indent="0" algn="r">
              <a:buNone/>
            </a:pPr>
            <a:r>
              <a:rPr lang="en-US" sz="1050" b="1" dirty="0">
                <a:solidFill>
                  <a:srgbClr val="1F2933"/>
                </a:solidFill>
              </a:rPr>
              <a:t>91%</a:t>
            </a:r>
            <a:endParaRPr lang="en-US" sz="1050" dirty="0"/>
          </a:p>
        </p:txBody>
      </p:sp>
      <p:sp>
        <p:nvSpPr>
          <p:cNvPr id="42" name="Text 40"/>
          <p:cNvSpPr/>
          <p:nvPr/>
        </p:nvSpPr>
        <p:spPr>
          <a:xfrm>
            <a:off x="6126480" y="3108960"/>
            <a:ext cx="2651760" cy="612648"/>
          </a:xfrm>
          <a:prstGeom prst="rect">
            <a:avLst/>
          </a:prstGeom>
          <a:noFill/>
          <a:ln>
            <a:noFill/>
          </a:ln>
        </p:spPr>
        <p:txBody>
          <a:bodyPr wrap="square" lIns="0" tIns="0" rIns="0" bIns="0" rtlCol="0" anchor="ctr">
            <a:normAutofit/>
          </a:bodyPr>
          <a:lstStyle/>
          <a:p>
            <a:pPr marL="0" indent="0">
              <a:buNone/>
            </a:pPr>
            <a:r>
              <a:rPr lang="en-US" sz="1000" dirty="0">
                <a:solidFill>
                  <a:srgbClr val="1F2933"/>
                </a:solidFill>
              </a:rPr>
              <a:t>Sales / Marketing / Communication</a:t>
            </a:r>
            <a:endParaRPr lang="en-US" sz="1000" dirty="0"/>
          </a:p>
        </p:txBody>
      </p:sp>
      <p:sp>
        <p:nvSpPr>
          <p:cNvPr id="43" name="Shape 41"/>
          <p:cNvSpPr/>
          <p:nvPr/>
        </p:nvSpPr>
        <p:spPr>
          <a:xfrm>
            <a:off x="8887968" y="3172968"/>
            <a:ext cx="2057400" cy="484632"/>
          </a:xfrm>
          <a:prstGeom prst="rect">
            <a:avLst/>
          </a:prstGeom>
          <a:solidFill>
            <a:srgbClr val="F7F1E8"/>
          </a:solidFill>
          <a:ln w="12700">
            <a:solidFill>
              <a:srgbClr val="E3D8CC"/>
            </a:solidFill>
            <a:prstDash val="solid"/>
          </a:ln>
        </p:spPr>
        <p:txBody>
          <a:bodyPr/>
          <a:lstStyle/>
          <a:p>
            <a:endParaRPr/>
          </a:p>
        </p:txBody>
      </p:sp>
      <p:sp>
        <p:nvSpPr>
          <p:cNvPr id="44" name="Shape 42"/>
          <p:cNvSpPr/>
          <p:nvPr/>
        </p:nvSpPr>
        <p:spPr>
          <a:xfrm>
            <a:off x="8887968" y="3172968"/>
            <a:ext cx="1728216" cy="484632"/>
          </a:xfrm>
          <a:prstGeom prst="rect">
            <a:avLst/>
          </a:prstGeom>
          <a:solidFill>
            <a:srgbClr val="6F8A5C"/>
          </a:solidFill>
          <a:ln w="12700">
            <a:solidFill>
              <a:srgbClr val="E3D8CC"/>
            </a:solidFill>
            <a:prstDash val="solid"/>
          </a:ln>
        </p:spPr>
        <p:txBody>
          <a:bodyPr/>
          <a:lstStyle/>
          <a:p>
            <a:endParaRPr/>
          </a:p>
        </p:txBody>
      </p:sp>
      <p:sp>
        <p:nvSpPr>
          <p:cNvPr id="45" name="Text 43"/>
          <p:cNvSpPr/>
          <p:nvPr/>
        </p:nvSpPr>
        <p:spPr>
          <a:xfrm>
            <a:off x="11018520" y="3108960"/>
            <a:ext cx="457200" cy="630936"/>
          </a:xfrm>
          <a:prstGeom prst="rect">
            <a:avLst/>
          </a:prstGeom>
          <a:noFill/>
          <a:ln>
            <a:noFill/>
          </a:ln>
        </p:spPr>
        <p:txBody>
          <a:bodyPr wrap="square" lIns="0" tIns="0" rIns="0" bIns="0" rtlCol="0" anchor="ctr"/>
          <a:lstStyle/>
          <a:p>
            <a:pPr marL="0" indent="0" algn="r">
              <a:buNone/>
            </a:pPr>
            <a:r>
              <a:rPr lang="en-US" sz="1050" b="1" dirty="0">
                <a:solidFill>
                  <a:srgbClr val="1F2933"/>
                </a:solidFill>
              </a:rPr>
              <a:t>84%</a:t>
            </a:r>
            <a:endParaRPr lang="en-US" sz="1050" dirty="0"/>
          </a:p>
        </p:txBody>
      </p:sp>
      <p:sp>
        <p:nvSpPr>
          <p:cNvPr id="46" name="Text 44"/>
          <p:cNvSpPr/>
          <p:nvPr/>
        </p:nvSpPr>
        <p:spPr>
          <a:xfrm>
            <a:off x="6126480" y="3776472"/>
            <a:ext cx="2651760" cy="612648"/>
          </a:xfrm>
          <a:prstGeom prst="rect">
            <a:avLst/>
          </a:prstGeom>
          <a:noFill/>
          <a:ln>
            <a:noFill/>
          </a:ln>
        </p:spPr>
        <p:txBody>
          <a:bodyPr wrap="square" lIns="0" tIns="0" rIns="0" bIns="0" rtlCol="0" anchor="ctr">
            <a:normAutofit/>
          </a:bodyPr>
          <a:lstStyle/>
          <a:p>
            <a:pPr marL="0" indent="0">
              <a:buNone/>
            </a:pPr>
            <a:r>
              <a:rPr lang="en-US" sz="1000" dirty="0">
                <a:solidFill>
                  <a:srgbClr val="1F2933"/>
                </a:solidFill>
              </a:rPr>
              <a:t>Direction / Executive</a:t>
            </a:r>
            <a:endParaRPr lang="en-US" sz="1000" dirty="0"/>
          </a:p>
        </p:txBody>
      </p:sp>
      <p:sp>
        <p:nvSpPr>
          <p:cNvPr id="47" name="Shape 45"/>
          <p:cNvSpPr/>
          <p:nvPr/>
        </p:nvSpPr>
        <p:spPr>
          <a:xfrm>
            <a:off x="8887968" y="3840480"/>
            <a:ext cx="2057400" cy="484632"/>
          </a:xfrm>
          <a:prstGeom prst="rect">
            <a:avLst/>
          </a:prstGeom>
          <a:solidFill>
            <a:srgbClr val="F7F1E8"/>
          </a:solidFill>
          <a:ln w="12700">
            <a:solidFill>
              <a:srgbClr val="E3D8CC"/>
            </a:solidFill>
            <a:prstDash val="solid"/>
          </a:ln>
        </p:spPr>
        <p:txBody>
          <a:bodyPr/>
          <a:lstStyle/>
          <a:p>
            <a:endParaRPr/>
          </a:p>
        </p:txBody>
      </p:sp>
      <p:sp>
        <p:nvSpPr>
          <p:cNvPr id="48" name="Shape 46"/>
          <p:cNvSpPr/>
          <p:nvPr/>
        </p:nvSpPr>
        <p:spPr>
          <a:xfrm>
            <a:off x="8887968" y="3840480"/>
            <a:ext cx="1460754" cy="484632"/>
          </a:xfrm>
          <a:prstGeom prst="rect">
            <a:avLst/>
          </a:prstGeom>
          <a:solidFill>
            <a:srgbClr val="6F8A5C"/>
          </a:solidFill>
          <a:ln w="12700">
            <a:solidFill>
              <a:srgbClr val="E3D8CC"/>
            </a:solidFill>
            <a:prstDash val="solid"/>
          </a:ln>
        </p:spPr>
        <p:txBody>
          <a:bodyPr/>
          <a:lstStyle/>
          <a:p>
            <a:endParaRPr/>
          </a:p>
        </p:txBody>
      </p:sp>
      <p:sp>
        <p:nvSpPr>
          <p:cNvPr id="49" name="Text 47"/>
          <p:cNvSpPr/>
          <p:nvPr/>
        </p:nvSpPr>
        <p:spPr>
          <a:xfrm>
            <a:off x="11018520" y="3776472"/>
            <a:ext cx="457200" cy="630936"/>
          </a:xfrm>
          <a:prstGeom prst="rect">
            <a:avLst/>
          </a:prstGeom>
          <a:noFill/>
          <a:ln>
            <a:noFill/>
          </a:ln>
        </p:spPr>
        <p:txBody>
          <a:bodyPr wrap="square" lIns="0" tIns="0" rIns="0" bIns="0" rtlCol="0" anchor="ctr"/>
          <a:lstStyle/>
          <a:p>
            <a:pPr marL="0" indent="0" algn="r">
              <a:buNone/>
            </a:pPr>
            <a:r>
              <a:rPr lang="en-US" sz="1050" b="1" dirty="0">
                <a:solidFill>
                  <a:srgbClr val="1F2933"/>
                </a:solidFill>
              </a:rPr>
              <a:t>71%</a:t>
            </a:r>
            <a:endParaRPr lang="en-US" sz="1050" dirty="0"/>
          </a:p>
        </p:txBody>
      </p:sp>
      <p:sp>
        <p:nvSpPr>
          <p:cNvPr id="50" name="Text 48"/>
          <p:cNvSpPr/>
          <p:nvPr/>
        </p:nvSpPr>
        <p:spPr>
          <a:xfrm>
            <a:off x="6126480" y="4443984"/>
            <a:ext cx="2651760" cy="612648"/>
          </a:xfrm>
          <a:prstGeom prst="rect">
            <a:avLst/>
          </a:prstGeom>
          <a:noFill/>
          <a:ln>
            <a:noFill/>
          </a:ln>
        </p:spPr>
        <p:txBody>
          <a:bodyPr wrap="square" lIns="0" tIns="0" rIns="0" bIns="0" rtlCol="0" anchor="ctr">
            <a:normAutofit/>
          </a:bodyPr>
          <a:lstStyle/>
          <a:p>
            <a:pPr marL="0" indent="0">
              <a:buNone/>
            </a:pPr>
            <a:r>
              <a:rPr lang="en-US" sz="1000" dirty="0">
                <a:solidFill>
                  <a:srgbClr val="1F2933"/>
                </a:solidFill>
              </a:rPr>
              <a:t>Operations / Supply / Quality</a:t>
            </a:r>
            <a:endParaRPr lang="en-US" sz="1000" dirty="0"/>
          </a:p>
        </p:txBody>
      </p:sp>
      <p:sp>
        <p:nvSpPr>
          <p:cNvPr id="51" name="Shape 49"/>
          <p:cNvSpPr/>
          <p:nvPr/>
        </p:nvSpPr>
        <p:spPr>
          <a:xfrm>
            <a:off x="8887968" y="4507992"/>
            <a:ext cx="2057400" cy="484632"/>
          </a:xfrm>
          <a:prstGeom prst="rect">
            <a:avLst/>
          </a:prstGeom>
          <a:solidFill>
            <a:srgbClr val="F7F1E8"/>
          </a:solidFill>
          <a:ln w="12700">
            <a:solidFill>
              <a:srgbClr val="E3D8CC"/>
            </a:solidFill>
            <a:prstDash val="solid"/>
          </a:ln>
        </p:spPr>
        <p:txBody>
          <a:bodyPr/>
          <a:lstStyle/>
          <a:p>
            <a:endParaRPr/>
          </a:p>
        </p:txBody>
      </p:sp>
      <p:sp>
        <p:nvSpPr>
          <p:cNvPr id="52" name="Shape 50"/>
          <p:cNvSpPr/>
          <p:nvPr/>
        </p:nvSpPr>
        <p:spPr>
          <a:xfrm>
            <a:off x="8887968" y="4507992"/>
            <a:ext cx="1460754" cy="484632"/>
          </a:xfrm>
          <a:prstGeom prst="rect">
            <a:avLst/>
          </a:prstGeom>
          <a:solidFill>
            <a:srgbClr val="6F8A5C"/>
          </a:solidFill>
          <a:ln w="12700">
            <a:solidFill>
              <a:srgbClr val="E3D8CC"/>
            </a:solidFill>
            <a:prstDash val="solid"/>
          </a:ln>
        </p:spPr>
        <p:txBody>
          <a:bodyPr/>
          <a:lstStyle/>
          <a:p>
            <a:endParaRPr/>
          </a:p>
        </p:txBody>
      </p:sp>
      <p:sp>
        <p:nvSpPr>
          <p:cNvPr id="53" name="Text 51"/>
          <p:cNvSpPr/>
          <p:nvPr/>
        </p:nvSpPr>
        <p:spPr>
          <a:xfrm>
            <a:off x="11018520" y="4443984"/>
            <a:ext cx="457200" cy="630936"/>
          </a:xfrm>
          <a:prstGeom prst="rect">
            <a:avLst/>
          </a:prstGeom>
          <a:noFill/>
          <a:ln>
            <a:noFill/>
          </a:ln>
        </p:spPr>
        <p:txBody>
          <a:bodyPr wrap="square" lIns="0" tIns="0" rIns="0" bIns="0" rtlCol="0" anchor="ctr"/>
          <a:lstStyle/>
          <a:p>
            <a:pPr marL="0" indent="0" algn="r">
              <a:buNone/>
            </a:pPr>
            <a:r>
              <a:rPr lang="en-US" sz="1050" b="1" dirty="0">
                <a:solidFill>
                  <a:srgbClr val="1F2933"/>
                </a:solidFill>
              </a:rPr>
              <a:t>71%</a:t>
            </a:r>
            <a:endParaRPr lang="en-US" sz="1050" dirty="0"/>
          </a:p>
        </p:txBody>
      </p:sp>
      <p:sp>
        <p:nvSpPr>
          <p:cNvPr id="54" name="Text 52"/>
          <p:cNvSpPr/>
          <p:nvPr/>
        </p:nvSpPr>
        <p:spPr>
          <a:xfrm>
            <a:off x="6126480" y="5212080"/>
            <a:ext cx="5029200" cy="164592"/>
          </a:xfrm>
          <a:prstGeom prst="rect">
            <a:avLst/>
          </a:prstGeom>
          <a:noFill/>
          <a:ln>
            <a:noFill/>
          </a:ln>
        </p:spPr>
        <p:txBody>
          <a:bodyPr wrap="square" lIns="0" tIns="0" rIns="0" bIns="0" rtlCol="0" anchor="ctr"/>
          <a:lstStyle/>
          <a:p>
            <a:pPr marL="0" indent="0">
              <a:buNone/>
            </a:pPr>
            <a:r>
              <a:rPr lang="en-US" sz="1050" dirty="0">
                <a:solidFill>
                  <a:srgbClr val="8B7D73"/>
                </a:solidFill>
              </a:rPr>
              <a:t>Lecture : les écarts existent, mais aucune grande fonction n’est au point zéro.</a:t>
            </a:r>
            <a:endParaRPr lang="en-US" sz="1050" dirty="0"/>
          </a:p>
        </p:txBody>
      </p:sp>
      <p:sp>
        <p:nvSpPr>
          <p:cNvPr id="55" name="TextBox 54"/>
          <p:cNvSpPr txBox="1"/>
          <p:nvPr/>
        </p:nvSpPr>
        <p:spPr>
          <a:xfrm>
            <a:off x="11292840" y="6455664"/>
            <a:ext cx="502920" cy="182880"/>
          </a:xfrm>
          <a:prstGeom prst="rect">
            <a:avLst/>
          </a:prstGeom>
          <a:noFill/>
          <a:ln>
            <a:noFill/>
          </a:ln>
        </p:spPr>
        <p:txBody>
          <a:bodyPr wrap="none">
            <a:spAutoFit/>
          </a:bodyPr>
          <a:lstStyle/>
          <a:p>
            <a:pPr algn="r">
              <a:defRPr sz="1000">
                <a:solidFill>
                  <a:srgbClr val="27333F"/>
                </a:solidFill>
                <a:latin typeface="Aptos"/>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F4"/>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438912"/>
          </a:xfrm>
          <a:prstGeom prst="rect">
            <a:avLst/>
          </a:prstGeom>
          <a:noFill/>
          <a:ln>
            <a:noFill/>
          </a:ln>
        </p:spPr>
        <p:txBody>
          <a:bodyPr wrap="square" lIns="0" tIns="0" rIns="0" bIns="0" rtlCol="0" anchor="ctr"/>
          <a:lstStyle/>
          <a:p>
            <a:pPr marL="0" indent="0">
              <a:buNone/>
            </a:pPr>
            <a:r>
              <a:rPr lang="en-US" sz="2400" b="1" dirty="0">
                <a:solidFill>
                  <a:srgbClr val="1F2933"/>
                </a:solidFill>
                <a:latin typeface="Aptos Display" pitchFamily="34" charset="0"/>
                <a:ea typeface="Aptos Display" pitchFamily="34" charset="-122"/>
                <a:cs typeface="Aptos Display" pitchFamily="34" charset="-120"/>
              </a:rPr>
              <a:t>La valeur captée aujourd’hui est d’abord un gain de temps sur le travail cognitif</a:t>
            </a:r>
            <a:endParaRPr lang="en-US" sz="2400" dirty="0"/>
          </a:p>
        </p:txBody>
      </p:sp>
      <p:sp>
        <p:nvSpPr>
          <p:cNvPr id="3" name="Text 1"/>
          <p:cNvSpPr/>
          <p:nvPr/>
        </p:nvSpPr>
        <p:spPr>
          <a:xfrm>
            <a:off x="658368" y="896112"/>
            <a:ext cx="10241280" cy="256032"/>
          </a:xfrm>
          <a:prstGeom prst="rect">
            <a:avLst/>
          </a:prstGeom>
          <a:noFill/>
          <a:ln>
            <a:noFill/>
          </a:ln>
        </p:spPr>
        <p:txBody>
          <a:bodyPr wrap="square" lIns="0" tIns="0" rIns="0" bIns="0" rtlCol="0" anchor="ctr"/>
          <a:lstStyle/>
          <a:p>
            <a:pPr marL="0" indent="0">
              <a:buNone/>
            </a:pPr>
            <a:r>
              <a:rPr lang="en-US" sz="1150" dirty="0">
                <a:solidFill>
                  <a:srgbClr val="8B7D73"/>
                </a:solidFill>
                <a:latin typeface="Aptos" pitchFamily="34" charset="0"/>
                <a:ea typeface="Aptos" pitchFamily="34" charset="-122"/>
                <a:cs typeface="Aptos" pitchFamily="34" charset="-120"/>
              </a:rPr>
              <a:t>Bénéfices déjà visibles et usages actuels</a:t>
            </a:r>
            <a:endParaRPr lang="en-US" sz="1150" dirty="0"/>
          </a:p>
        </p:txBody>
      </p:sp>
      <p:sp>
        <p:nvSpPr>
          <p:cNvPr id="4" name="Text 2"/>
          <p:cNvSpPr/>
          <p:nvPr/>
        </p:nvSpPr>
        <p:spPr>
          <a:xfrm>
            <a:off x="713232" y="1362456"/>
            <a:ext cx="5166360" cy="201168"/>
          </a:xfrm>
          <a:prstGeom prst="rect">
            <a:avLst/>
          </a:prstGeom>
          <a:noFill/>
          <a:ln>
            <a:noFill/>
          </a:ln>
        </p:spPr>
        <p:txBody>
          <a:bodyPr wrap="square" lIns="0" tIns="0" rIns="0" bIns="0" rtlCol="0" anchor="ctr"/>
          <a:lstStyle/>
          <a:p>
            <a:pPr marL="0" indent="0">
              <a:buNone/>
            </a:pPr>
            <a:r>
              <a:rPr lang="en-US" sz="1150" b="1" dirty="0">
                <a:solidFill>
                  <a:srgbClr val="1F2933"/>
                </a:solidFill>
              </a:rPr>
              <a:t>Bénéfices perçus par les utilisateurs travail</a:t>
            </a:r>
            <a:endParaRPr lang="en-US" sz="1150" dirty="0"/>
          </a:p>
        </p:txBody>
      </p:sp>
      <p:sp>
        <p:nvSpPr>
          <p:cNvPr id="5" name="Text 3"/>
          <p:cNvSpPr/>
          <p:nvPr/>
        </p:nvSpPr>
        <p:spPr>
          <a:xfrm>
            <a:off x="713232" y="1636776"/>
            <a:ext cx="2331720" cy="539496"/>
          </a:xfrm>
          <a:prstGeom prst="rect">
            <a:avLst/>
          </a:prstGeom>
          <a:noFill/>
          <a:ln>
            <a:noFill/>
          </a:ln>
        </p:spPr>
        <p:txBody>
          <a:bodyPr wrap="square" lIns="0" tIns="0" rIns="0" bIns="0" rtlCol="0" anchor="ctr">
            <a:normAutofit/>
          </a:bodyPr>
          <a:lstStyle/>
          <a:p>
            <a:pPr marL="0" indent="0">
              <a:buNone/>
            </a:pPr>
            <a:r>
              <a:rPr lang="en-US" sz="1010" dirty="0">
                <a:solidFill>
                  <a:srgbClr val="1F2933"/>
                </a:solidFill>
              </a:rPr>
              <a:t>Time saved</a:t>
            </a:r>
            <a:endParaRPr lang="en-US" sz="1010" dirty="0"/>
          </a:p>
        </p:txBody>
      </p:sp>
      <p:sp>
        <p:nvSpPr>
          <p:cNvPr id="6" name="Shape 4"/>
          <p:cNvSpPr/>
          <p:nvPr/>
        </p:nvSpPr>
        <p:spPr>
          <a:xfrm>
            <a:off x="3154680" y="1700784"/>
            <a:ext cx="2148840" cy="411480"/>
          </a:xfrm>
          <a:prstGeom prst="rect">
            <a:avLst/>
          </a:prstGeom>
          <a:solidFill>
            <a:srgbClr val="F7F1E8"/>
          </a:solidFill>
          <a:ln w="12700">
            <a:solidFill>
              <a:srgbClr val="E3D8CC"/>
            </a:solidFill>
            <a:prstDash val="solid"/>
          </a:ln>
        </p:spPr>
        <p:txBody>
          <a:bodyPr/>
          <a:lstStyle/>
          <a:p>
            <a:endParaRPr/>
          </a:p>
        </p:txBody>
      </p:sp>
      <p:sp>
        <p:nvSpPr>
          <p:cNvPr id="7" name="Shape 5"/>
          <p:cNvSpPr/>
          <p:nvPr/>
        </p:nvSpPr>
        <p:spPr>
          <a:xfrm>
            <a:off x="3154680" y="1700784"/>
            <a:ext cx="1922646" cy="411480"/>
          </a:xfrm>
          <a:prstGeom prst="rect">
            <a:avLst/>
          </a:prstGeom>
          <a:solidFill>
            <a:srgbClr val="4F8A3D"/>
          </a:solidFill>
          <a:ln w="12700">
            <a:solidFill>
              <a:srgbClr val="E3D8CC"/>
            </a:solidFill>
            <a:prstDash val="solid"/>
          </a:ln>
        </p:spPr>
        <p:txBody>
          <a:bodyPr/>
          <a:lstStyle/>
          <a:p>
            <a:endParaRPr/>
          </a:p>
        </p:txBody>
      </p:sp>
      <p:sp>
        <p:nvSpPr>
          <p:cNvPr id="8" name="Text 6"/>
          <p:cNvSpPr/>
          <p:nvPr/>
        </p:nvSpPr>
        <p:spPr>
          <a:xfrm>
            <a:off x="5376672" y="1636776"/>
            <a:ext cx="457200" cy="557784"/>
          </a:xfrm>
          <a:prstGeom prst="rect">
            <a:avLst/>
          </a:prstGeom>
          <a:noFill/>
          <a:ln>
            <a:noFill/>
          </a:ln>
        </p:spPr>
        <p:txBody>
          <a:bodyPr wrap="square" lIns="0" tIns="0" rIns="0" bIns="0" rtlCol="0" anchor="ctr"/>
          <a:lstStyle/>
          <a:p>
            <a:pPr marL="0" indent="0" algn="r">
              <a:buNone/>
            </a:pPr>
            <a:r>
              <a:rPr lang="en-US" sz="1050" b="1" dirty="0">
                <a:solidFill>
                  <a:srgbClr val="1F2933"/>
                </a:solidFill>
              </a:rPr>
              <a:t>51 (89.5%)</a:t>
            </a:r>
            <a:endParaRPr lang="en-US" sz="1050" dirty="0"/>
          </a:p>
        </p:txBody>
      </p:sp>
      <p:sp>
        <p:nvSpPr>
          <p:cNvPr id="9" name="Text 7"/>
          <p:cNvSpPr/>
          <p:nvPr/>
        </p:nvSpPr>
        <p:spPr>
          <a:xfrm>
            <a:off x="713232" y="2231136"/>
            <a:ext cx="2331720" cy="539496"/>
          </a:xfrm>
          <a:prstGeom prst="rect">
            <a:avLst/>
          </a:prstGeom>
          <a:noFill/>
          <a:ln>
            <a:noFill/>
          </a:ln>
        </p:spPr>
        <p:txBody>
          <a:bodyPr wrap="square" lIns="0" tIns="0" rIns="0" bIns="0" rtlCol="0" anchor="ctr">
            <a:normAutofit/>
          </a:bodyPr>
          <a:lstStyle/>
          <a:p>
            <a:pPr marL="0" indent="0">
              <a:buNone/>
            </a:pPr>
            <a:r>
              <a:rPr lang="en-US" sz="1010" dirty="0">
                <a:solidFill>
                  <a:srgbClr val="1F2933"/>
                </a:solidFill>
              </a:rPr>
              <a:t>More ideas / creativity</a:t>
            </a:r>
            <a:endParaRPr lang="en-US" sz="1010" dirty="0"/>
          </a:p>
        </p:txBody>
      </p:sp>
      <p:sp>
        <p:nvSpPr>
          <p:cNvPr id="10" name="Shape 8"/>
          <p:cNvSpPr/>
          <p:nvPr/>
        </p:nvSpPr>
        <p:spPr>
          <a:xfrm>
            <a:off x="3154680" y="2295144"/>
            <a:ext cx="2148840" cy="411480"/>
          </a:xfrm>
          <a:prstGeom prst="rect">
            <a:avLst/>
          </a:prstGeom>
          <a:solidFill>
            <a:srgbClr val="F7F1E8"/>
          </a:solidFill>
          <a:ln w="12700">
            <a:solidFill>
              <a:srgbClr val="E3D8CC"/>
            </a:solidFill>
            <a:prstDash val="solid"/>
          </a:ln>
        </p:spPr>
        <p:txBody>
          <a:bodyPr/>
          <a:lstStyle/>
          <a:p>
            <a:endParaRPr/>
          </a:p>
        </p:txBody>
      </p:sp>
      <p:sp>
        <p:nvSpPr>
          <p:cNvPr id="11" name="Shape 9"/>
          <p:cNvSpPr/>
          <p:nvPr/>
        </p:nvSpPr>
        <p:spPr>
          <a:xfrm>
            <a:off x="3154680" y="2295144"/>
            <a:ext cx="1357162" cy="411480"/>
          </a:xfrm>
          <a:prstGeom prst="rect">
            <a:avLst/>
          </a:prstGeom>
          <a:solidFill>
            <a:srgbClr val="4F8A3D"/>
          </a:solidFill>
          <a:ln w="12700">
            <a:solidFill>
              <a:srgbClr val="E3D8CC"/>
            </a:solidFill>
            <a:prstDash val="solid"/>
          </a:ln>
        </p:spPr>
        <p:txBody>
          <a:bodyPr/>
          <a:lstStyle/>
          <a:p>
            <a:endParaRPr/>
          </a:p>
        </p:txBody>
      </p:sp>
      <p:sp>
        <p:nvSpPr>
          <p:cNvPr id="12" name="Text 10"/>
          <p:cNvSpPr/>
          <p:nvPr/>
        </p:nvSpPr>
        <p:spPr>
          <a:xfrm>
            <a:off x="5376672" y="2231136"/>
            <a:ext cx="457200" cy="557784"/>
          </a:xfrm>
          <a:prstGeom prst="rect">
            <a:avLst/>
          </a:prstGeom>
          <a:noFill/>
          <a:ln>
            <a:noFill/>
          </a:ln>
        </p:spPr>
        <p:txBody>
          <a:bodyPr wrap="square" lIns="0" tIns="0" rIns="0" bIns="0" rtlCol="0" anchor="ctr"/>
          <a:lstStyle/>
          <a:p>
            <a:pPr marL="0" indent="0" algn="r">
              <a:buNone/>
            </a:pPr>
            <a:r>
              <a:rPr lang="en-US" sz="1050" b="1" dirty="0">
                <a:solidFill>
                  <a:srgbClr val="1F2933"/>
                </a:solidFill>
              </a:rPr>
              <a:t>36 (63.2%)</a:t>
            </a:r>
            <a:endParaRPr lang="en-US" sz="1050" dirty="0"/>
          </a:p>
        </p:txBody>
      </p:sp>
      <p:sp>
        <p:nvSpPr>
          <p:cNvPr id="13" name="Text 11"/>
          <p:cNvSpPr/>
          <p:nvPr/>
        </p:nvSpPr>
        <p:spPr>
          <a:xfrm>
            <a:off x="713232" y="2825496"/>
            <a:ext cx="2331720" cy="539496"/>
          </a:xfrm>
          <a:prstGeom prst="rect">
            <a:avLst/>
          </a:prstGeom>
          <a:noFill/>
          <a:ln>
            <a:noFill/>
          </a:ln>
        </p:spPr>
        <p:txBody>
          <a:bodyPr wrap="square" lIns="0" tIns="0" rIns="0" bIns="0" rtlCol="0" anchor="ctr">
            <a:normAutofit/>
          </a:bodyPr>
          <a:lstStyle/>
          <a:p>
            <a:pPr marL="0" indent="0">
              <a:buNone/>
            </a:pPr>
            <a:r>
              <a:rPr lang="en-US" sz="1010" dirty="0">
                <a:solidFill>
                  <a:srgbClr val="1F2933"/>
                </a:solidFill>
              </a:rPr>
              <a:t>Better quality / clearer</a:t>
            </a:r>
            <a:endParaRPr lang="en-US" sz="1010" dirty="0"/>
          </a:p>
          <a:p>
            <a:pPr marL="0" indent="0">
              <a:buNone/>
            </a:pPr>
            <a:r>
              <a:rPr lang="en-US" sz="1010" dirty="0">
                <a:solidFill>
                  <a:srgbClr val="1F2933"/>
                </a:solidFill>
              </a:rPr>
              <a:t>output</a:t>
            </a:r>
            <a:endParaRPr lang="en-US" sz="1010" dirty="0"/>
          </a:p>
        </p:txBody>
      </p:sp>
      <p:sp>
        <p:nvSpPr>
          <p:cNvPr id="14" name="Shape 12"/>
          <p:cNvSpPr/>
          <p:nvPr/>
        </p:nvSpPr>
        <p:spPr>
          <a:xfrm>
            <a:off x="3154680" y="2889504"/>
            <a:ext cx="2148840" cy="411480"/>
          </a:xfrm>
          <a:prstGeom prst="rect">
            <a:avLst/>
          </a:prstGeom>
          <a:solidFill>
            <a:srgbClr val="F7F1E8"/>
          </a:solidFill>
          <a:ln w="12700">
            <a:solidFill>
              <a:srgbClr val="E3D8CC"/>
            </a:solidFill>
            <a:prstDash val="solid"/>
          </a:ln>
        </p:spPr>
        <p:txBody>
          <a:bodyPr/>
          <a:lstStyle/>
          <a:p>
            <a:endParaRPr/>
          </a:p>
        </p:txBody>
      </p:sp>
      <p:sp>
        <p:nvSpPr>
          <p:cNvPr id="15" name="Shape 13"/>
          <p:cNvSpPr/>
          <p:nvPr/>
        </p:nvSpPr>
        <p:spPr>
          <a:xfrm>
            <a:off x="3154680" y="2889504"/>
            <a:ext cx="1281764" cy="411480"/>
          </a:xfrm>
          <a:prstGeom prst="rect">
            <a:avLst/>
          </a:prstGeom>
          <a:solidFill>
            <a:srgbClr val="4F8A3D"/>
          </a:solidFill>
          <a:ln w="12700">
            <a:solidFill>
              <a:srgbClr val="E3D8CC"/>
            </a:solidFill>
            <a:prstDash val="solid"/>
          </a:ln>
        </p:spPr>
        <p:txBody>
          <a:bodyPr/>
          <a:lstStyle/>
          <a:p>
            <a:endParaRPr/>
          </a:p>
        </p:txBody>
      </p:sp>
      <p:sp>
        <p:nvSpPr>
          <p:cNvPr id="16" name="Text 14"/>
          <p:cNvSpPr/>
          <p:nvPr/>
        </p:nvSpPr>
        <p:spPr>
          <a:xfrm>
            <a:off x="5376672" y="2825496"/>
            <a:ext cx="457200" cy="557784"/>
          </a:xfrm>
          <a:prstGeom prst="rect">
            <a:avLst/>
          </a:prstGeom>
          <a:noFill/>
          <a:ln>
            <a:noFill/>
          </a:ln>
        </p:spPr>
        <p:txBody>
          <a:bodyPr wrap="square" lIns="0" tIns="0" rIns="0" bIns="0" rtlCol="0" anchor="ctr"/>
          <a:lstStyle/>
          <a:p>
            <a:pPr marL="0" indent="0" algn="r">
              <a:buNone/>
            </a:pPr>
            <a:r>
              <a:rPr lang="en-US" sz="1050" b="1" dirty="0">
                <a:solidFill>
                  <a:srgbClr val="1F2933"/>
                </a:solidFill>
              </a:rPr>
              <a:t>34 (59.6%)</a:t>
            </a:r>
            <a:endParaRPr lang="en-US" sz="1050" dirty="0"/>
          </a:p>
        </p:txBody>
      </p:sp>
      <p:sp>
        <p:nvSpPr>
          <p:cNvPr id="17" name="Text 15"/>
          <p:cNvSpPr/>
          <p:nvPr/>
        </p:nvSpPr>
        <p:spPr>
          <a:xfrm>
            <a:off x="713232" y="3419856"/>
            <a:ext cx="2331720" cy="539496"/>
          </a:xfrm>
          <a:prstGeom prst="rect">
            <a:avLst/>
          </a:prstGeom>
          <a:noFill/>
          <a:ln>
            <a:noFill/>
          </a:ln>
        </p:spPr>
        <p:txBody>
          <a:bodyPr wrap="square" lIns="0" tIns="0" rIns="0" bIns="0" rtlCol="0" anchor="ctr">
            <a:normAutofit/>
          </a:bodyPr>
          <a:lstStyle/>
          <a:p>
            <a:pPr marL="0" indent="0">
              <a:buNone/>
            </a:pPr>
            <a:r>
              <a:rPr lang="en-US" sz="1010" dirty="0">
                <a:solidFill>
                  <a:srgbClr val="1F2933"/>
                </a:solidFill>
              </a:rPr>
              <a:t>Faster learning / upskilling</a:t>
            </a:r>
            <a:endParaRPr lang="en-US" sz="1010" dirty="0"/>
          </a:p>
        </p:txBody>
      </p:sp>
      <p:sp>
        <p:nvSpPr>
          <p:cNvPr id="18" name="Shape 16"/>
          <p:cNvSpPr/>
          <p:nvPr/>
        </p:nvSpPr>
        <p:spPr>
          <a:xfrm>
            <a:off x="3154680" y="3483864"/>
            <a:ext cx="2148840" cy="411480"/>
          </a:xfrm>
          <a:prstGeom prst="rect">
            <a:avLst/>
          </a:prstGeom>
          <a:solidFill>
            <a:srgbClr val="F7F1E8"/>
          </a:solidFill>
          <a:ln w="12700">
            <a:solidFill>
              <a:srgbClr val="E3D8CC"/>
            </a:solidFill>
            <a:prstDash val="solid"/>
          </a:ln>
        </p:spPr>
        <p:txBody>
          <a:bodyPr/>
          <a:lstStyle/>
          <a:p>
            <a:endParaRPr/>
          </a:p>
        </p:txBody>
      </p:sp>
      <p:sp>
        <p:nvSpPr>
          <p:cNvPr id="19" name="Shape 17"/>
          <p:cNvSpPr/>
          <p:nvPr/>
        </p:nvSpPr>
        <p:spPr>
          <a:xfrm>
            <a:off x="3154680" y="3483864"/>
            <a:ext cx="867076" cy="411480"/>
          </a:xfrm>
          <a:prstGeom prst="rect">
            <a:avLst/>
          </a:prstGeom>
          <a:solidFill>
            <a:srgbClr val="4F8A3D"/>
          </a:solidFill>
          <a:ln w="12700">
            <a:solidFill>
              <a:srgbClr val="E3D8CC"/>
            </a:solidFill>
            <a:prstDash val="solid"/>
          </a:ln>
        </p:spPr>
        <p:txBody>
          <a:bodyPr/>
          <a:lstStyle/>
          <a:p>
            <a:endParaRPr/>
          </a:p>
        </p:txBody>
      </p:sp>
      <p:sp>
        <p:nvSpPr>
          <p:cNvPr id="20" name="Text 18"/>
          <p:cNvSpPr/>
          <p:nvPr/>
        </p:nvSpPr>
        <p:spPr>
          <a:xfrm>
            <a:off x="5376672" y="3419856"/>
            <a:ext cx="457200" cy="557784"/>
          </a:xfrm>
          <a:prstGeom prst="rect">
            <a:avLst/>
          </a:prstGeom>
          <a:noFill/>
          <a:ln>
            <a:noFill/>
          </a:ln>
        </p:spPr>
        <p:txBody>
          <a:bodyPr wrap="square" lIns="0" tIns="0" rIns="0" bIns="0" rtlCol="0" anchor="ctr"/>
          <a:lstStyle/>
          <a:p>
            <a:pPr marL="0" indent="0" algn="r">
              <a:buNone/>
            </a:pPr>
            <a:r>
              <a:rPr lang="en-US" sz="1050" b="1" dirty="0">
                <a:solidFill>
                  <a:srgbClr val="1F2933"/>
                </a:solidFill>
              </a:rPr>
              <a:t>23 (40.4%)</a:t>
            </a:r>
            <a:endParaRPr lang="en-US" sz="1050" dirty="0"/>
          </a:p>
        </p:txBody>
      </p:sp>
      <p:sp>
        <p:nvSpPr>
          <p:cNvPr id="21" name="Text 19"/>
          <p:cNvSpPr/>
          <p:nvPr/>
        </p:nvSpPr>
        <p:spPr>
          <a:xfrm>
            <a:off x="713232" y="4014216"/>
            <a:ext cx="2331720" cy="539496"/>
          </a:xfrm>
          <a:prstGeom prst="rect">
            <a:avLst/>
          </a:prstGeom>
          <a:noFill/>
          <a:ln>
            <a:noFill/>
          </a:ln>
        </p:spPr>
        <p:txBody>
          <a:bodyPr wrap="square" lIns="0" tIns="0" rIns="0" bIns="0" rtlCol="0" anchor="ctr">
            <a:normAutofit/>
          </a:bodyPr>
          <a:lstStyle/>
          <a:p>
            <a:pPr marL="0" indent="0">
              <a:buNone/>
            </a:pPr>
            <a:r>
              <a:rPr lang="en-US" sz="1010" dirty="0">
                <a:solidFill>
                  <a:srgbClr val="1F2933"/>
                </a:solidFill>
              </a:rPr>
              <a:t>Better decision support</a:t>
            </a:r>
            <a:endParaRPr lang="en-US" sz="1010" dirty="0"/>
          </a:p>
          <a:p>
            <a:pPr marL="0" indent="0">
              <a:buNone/>
            </a:pPr>
            <a:r>
              <a:rPr lang="en-US" sz="1010" dirty="0">
                <a:solidFill>
                  <a:srgbClr val="1F2933"/>
                </a:solidFill>
              </a:rPr>
              <a:t>(options, trade-offs)</a:t>
            </a:r>
            <a:endParaRPr lang="en-US" sz="1010" dirty="0"/>
          </a:p>
        </p:txBody>
      </p:sp>
      <p:sp>
        <p:nvSpPr>
          <p:cNvPr id="22" name="Shape 20"/>
          <p:cNvSpPr/>
          <p:nvPr/>
        </p:nvSpPr>
        <p:spPr>
          <a:xfrm>
            <a:off x="3154680" y="4078224"/>
            <a:ext cx="2148840" cy="411480"/>
          </a:xfrm>
          <a:prstGeom prst="rect">
            <a:avLst/>
          </a:prstGeom>
          <a:solidFill>
            <a:srgbClr val="F7F1E8"/>
          </a:solidFill>
          <a:ln w="12700">
            <a:solidFill>
              <a:srgbClr val="E3D8CC"/>
            </a:solidFill>
            <a:prstDash val="solid"/>
          </a:ln>
        </p:spPr>
        <p:txBody>
          <a:bodyPr/>
          <a:lstStyle/>
          <a:p>
            <a:endParaRPr/>
          </a:p>
        </p:txBody>
      </p:sp>
      <p:sp>
        <p:nvSpPr>
          <p:cNvPr id="23" name="Shape 21"/>
          <p:cNvSpPr/>
          <p:nvPr/>
        </p:nvSpPr>
        <p:spPr>
          <a:xfrm>
            <a:off x="3154680" y="4078224"/>
            <a:ext cx="490086" cy="411480"/>
          </a:xfrm>
          <a:prstGeom prst="rect">
            <a:avLst/>
          </a:prstGeom>
          <a:solidFill>
            <a:srgbClr val="4F8A3D"/>
          </a:solidFill>
          <a:ln w="12700">
            <a:solidFill>
              <a:srgbClr val="E3D8CC"/>
            </a:solidFill>
            <a:prstDash val="solid"/>
          </a:ln>
        </p:spPr>
        <p:txBody>
          <a:bodyPr/>
          <a:lstStyle/>
          <a:p>
            <a:endParaRPr/>
          </a:p>
        </p:txBody>
      </p:sp>
      <p:sp>
        <p:nvSpPr>
          <p:cNvPr id="24" name="Text 22"/>
          <p:cNvSpPr/>
          <p:nvPr/>
        </p:nvSpPr>
        <p:spPr>
          <a:xfrm>
            <a:off x="5376672" y="4014216"/>
            <a:ext cx="457200" cy="557784"/>
          </a:xfrm>
          <a:prstGeom prst="rect">
            <a:avLst/>
          </a:prstGeom>
          <a:noFill/>
          <a:ln>
            <a:noFill/>
          </a:ln>
        </p:spPr>
        <p:txBody>
          <a:bodyPr wrap="square" lIns="0" tIns="0" rIns="0" bIns="0" rtlCol="0" anchor="ctr"/>
          <a:lstStyle/>
          <a:p>
            <a:pPr marL="0" indent="0" algn="r">
              <a:buNone/>
            </a:pPr>
            <a:r>
              <a:rPr lang="en-US" sz="1050" b="1" dirty="0">
                <a:solidFill>
                  <a:srgbClr val="1F2933"/>
                </a:solidFill>
              </a:rPr>
              <a:t>13 (22.8%)</a:t>
            </a:r>
            <a:endParaRPr lang="en-US" sz="1050" dirty="0"/>
          </a:p>
        </p:txBody>
      </p:sp>
      <p:sp>
        <p:nvSpPr>
          <p:cNvPr id="25" name="Text 23"/>
          <p:cNvSpPr/>
          <p:nvPr/>
        </p:nvSpPr>
        <p:spPr>
          <a:xfrm>
            <a:off x="6309360" y="1362456"/>
            <a:ext cx="5074920" cy="201168"/>
          </a:xfrm>
          <a:prstGeom prst="rect">
            <a:avLst/>
          </a:prstGeom>
          <a:noFill/>
          <a:ln>
            <a:noFill/>
          </a:ln>
        </p:spPr>
        <p:txBody>
          <a:bodyPr wrap="square" lIns="0" tIns="0" rIns="0" bIns="0" rtlCol="0" anchor="ctr"/>
          <a:lstStyle/>
          <a:p>
            <a:pPr marL="0" indent="0">
              <a:buNone/>
            </a:pPr>
            <a:r>
              <a:rPr lang="en-US" sz="1150" b="1" dirty="0">
                <a:solidFill>
                  <a:srgbClr val="1F2933"/>
                </a:solidFill>
              </a:rPr>
              <a:t>Usages actuels les plus fréquents</a:t>
            </a:r>
            <a:endParaRPr lang="en-US" sz="1150" dirty="0"/>
          </a:p>
        </p:txBody>
      </p:sp>
      <p:sp>
        <p:nvSpPr>
          <p:cNvPr id="26" name="Text 24"/>
          <p:cNvSpPr/>
          <p:nvPr/>
        </p:nvSpPr>
        <p:spPr>
          <a:xfrm>
            <a:off x="6309360" y="1636776"/>
            <a:ext cx="2560320" cy="486156"/>
          </a:xfrm>
          <a:prstGeom prst="rect">
            <a:avLst/>
          </a:prstGeom>
          <a:noFill/>
          <a:ln>
            <a:noFill/>
          </a:ln>
        </p:spPr>
        <p:txBody>
          <a:bodyPr wrap="square" lIns="0" tIns="0" rIns="0" bIns="0" rtlCol="0" anchor="ctr">
            <a:normAutofit/>
          </a:bodyPr>
          <a:lstStyle/>
          <a:p>
            <a:pPr marL="0" indent="0">
              <a:buNone/>
            </a:pPr>
            <a:r>
              <a:rPr lang="en-US" sz="980" dirty="0">
                <a:solidFill>
                  <a:srgbClr val="1F2933"/>
                </a:solidFill>
              </a:rPr>
              <a:t>Research / prep (briefs,</a:t>
            </a:r>
            <a:endParaRPr lang="en-US" sz="980" dirty="0"/>
          </a:p>
          <a:p>
            <a:pPr marL="0" indent="0">
              <a:buNone/>
            </a:pPr>
            <a:r>
              <a:rPr lang="en-US" sz="980" dirty="0">
                <a:solidFill>
                  <a:srgbClr val="1F2933"/>
                </a:solidFill>
              </a:rPr>
              <a:t>questions, exploration)</a:t>
            </a:r>
            <a:endParaRPr lang="en-US" sz="980" dirty="0"/>
          </a:p>
        </p:txBody>
      </p:sp>
      <p:sp>
        <p:nvSpPr>
          <p:cNvPr id="27" name="Shape 25"/>
          <p:cNvSpPr/>
          <p:nvPr/>
        </p:nvSpPr>
        <p:spPr>
          <a:xfrm>
            <a:off x="8979408" y="1700784"/>
            <a:ext cx="1828800" cy="358140"/>
          </a:xfrm>
          <a:prstGeom prst="rect">
            <a:avLst/>
          </a:prstGeom>
          <a:solidFill>
            <a:srgbClr val="F7F1E8"/>
          </a:solidFill>
          <a:ln w="12700">
            <a:solidFill>
              <a:srgbClr val="E3D8CC"/>
            </a:solidFill>
            <a:prstDash val="solid"/>
          </a:ln>
        </p:spPr>
        <p:txBody>
          <a:bodyPr/>
          <a:lstStyle/>
          <a:p>
            <a:endParaRPr/>
          </a:p>
        </p:txBody>
      </p:sp>
      <p:sp>
        <p:nvSpPr>
          <p:cNvPr id="28" name="Shape 26"/>
          <p:cNvSpPr/>
          <p:nvPr/>
        </p:nvSpPr>
        <p:spPr>
          <a:xfrm>
            <a:off x="8979408" y="1700784"/>
            <a:ext cx="1828800" cy="358140"/>
          </a:xfrm>
          <a:prstGeom prst="rect">
            <a:avLst/>
          </a:prstGeom>
          <a:solidFill>
            <a:srgbClr val="9C623A"/>
          </a:solidFill>
          <a:ln w="12700">
            <a:solidFill>
              <a:srgbClr val="E3D8CC"/>
            </a:solidFill>
            <a:prstDash val="solid"/>
          </a:ln>
        </p:spPr>
        <p:txBody>
          <a:bodyPr/>
          <a:lstStyle/>
          <a:p>
            <a:endParaRPr/>
          </a:p>
        </p:txBody>
      </p:sp>
      <p:sp>
        <p:nvSpPr>
          <p:cNvPr id="29" name="Text 27"/>
          <p:cNvSpPr/>
          <p:nvPr/>
        </p:nvSpPr>
        <p:spPr>
          <a:xfrm>
            <a:off x="10881360" y="1636776"/>
            <a:ext cx="457200" cy="504444"/>
          </a:xfrm>
          <a:prstGeom prst="rect">
            <a:avLst/>
          </a:prstGeom>
          <a:noFill/>
          <a:ln>
            <a:noFill/>
          </a:ln>
        </p:spPr>
        <p:txBody>
          <a:bodyPr wrap="square" lIns="0" tIns="0" rIns="0" bIns="0" rtlCol="0" anchor="ctr"/>
          <a:lstStyle/>
          <a:p>
            <a:pPr marL="0" indent="0" algn="r">
              <a:buNone/>
            </a:pPr>
            <a:r>
              <a:rPr lang="en-US" sz="1050" b="1" dirty="0">
                <a:solidFill>
                  <a:srgbClr val="1F2933"/>
                </a:solidFill>
              </a:rPr>
              <a:t>45</a:t>
            </a:r>
            <a:endParaRPr lang="en-US" sz="1050" dirty="0"/>
          </a:p>
        </p:txBody>
      </p:sp>
      <p:sp>
        <p:nvSpPr>
          <p:cNvPr id="30" name="Text 28"/>
          <p:cNvSpPr/>
          <p:nvPr/>
        </p:nvSpPr>
        <p:spPr>
          <a:xfrm>
            <a:off x="6309360" y="2177796"/>
            <a:ext cx="2560320" cy="486156"/>
          </a:xfrm>
          <a:prstGeom prst="rect">
            <a:avLst/>
          </a:prstGeom>
          <a:noFill/>
          <a:ln>
            <a:noFill/>
          </a:ln>
        </p:spPr>
        <p:txBody>
          <a:bodyPr wrap="square" lIns="0" tIns="0" rIns="0" bIns="0" rtlCol="0" anchor="ctr">
            <a:normAutofit/>
          </a:bodyPr>
          <a:lstStyle/>
          <a:p>
            <a:pPr marL="0" indent="0">
              <a:buNone/>
            </a:pPr>
            <a:r>
              <a:rPr lang="en-US" sz="980" dirty="0">
                <a:solidFill>
                  <a:srgbClr val="1F2933"/>
                </a:solidFill>
              </a:rPr>
              <a:t>Writing / rewriting (emails,</a:t>
            </a:r>
            <a:endParaRPr lang="en-US" sz="980" dirty="0"/>
          </a:p>
          <a:p>
            <a:pPr marL="0" indent="0">
              <a:buNone/>
            </a:pPr>
            <a:r>
              <a:rPr lang="en-US" sz="980" dirty="0">
                <a:solidFill>
                  <a:srgbClr val="1F2933"/>
                </a:solidFill>
              </a:rPr>
              <a:t>notes, minutes)</a:t>
            </a:r>
            <a:endParaRPr lang="en-US" sz="980" dirty="0"/>
          </a:p>
        </p:txBody>
      </p:sp>
      <p:sp>
        <p:nvSpPr>
          <p:cNvPr id="31" name="Shape 29"/>
          <p:cNvSpPr/>
          <p:nvPr/>
        </p:nvSpPr>
        <p:spPr>
          <a:xfrm>
            <a:off x="8979408" y="2241804"/>
            <a:ext cx="1828800" cy="358140"/>
          </a:xfrm>
          <a:prstGeom prst="rect">
            <a:avLst/>
          </a:prstGeom>
          <a:solidFill>
            <a:srgbClr val="F7F1E8"/>
          </a:solidFill>
          <a:ln w="12700">
            <a:solidFill>
              <a:srgbClr val="E3D8CC"/>
            </a:solidFill>
            <a:prstDash val="solid"/>
          </a:ln>
        </p:spPr>
        <p:txBody>
          <a:bodyPr/>
          <a:lstStyle/>
          <a:p>
            <a:endParaRPr/>
          </a:p>
        </p:txBody>
      </p:sp>
      <p:sp>
        <p:nvSpPr>
          <p:cNvPr id="32" name="Shape 30"/>
          <p:cNvSpPr/>
          <p:nvPr/>
        </p:nvSpPr>
        <p:spPr>
          <a:xfrm>
            <a:off x="8979408" y="2241804"/>
            <a:ext cx="1544320" cy="358140"/>
          </a:xfrm>
          <a:prstGeom prst="rect">
            <a:avLst/>
          </a:prstGeom>
          <a:solidFill>
            <a:srgbClr val="9C623A"/>
          </a:solidFill>
          <a:ln w="12700">
            <a:solidFill>
              <a:srgbClr val="E3D8CC"/>
            </a:solidFill>
            <a:prstDash val="solid"/>
          </a:ln>
        </p:spPr>
        <p:txBody>
          <a:bodyPr/>
          <a:lstStyle/>
          <a:p>
            <a:endParaRPr/>
          </a:p>
        </p:txBody>
      </p:sp>
      <p:sp>
        <p:nvSpPr>
          <p:cNvPr id="33" name="Text 31"/>
          <p:cNvSpPr/>
          <p:nvPr/>
        </p:nvSpPr>
        <p:spPr>
          <a:xfrm>
            <a:off x="10881360" y="2177796"/>
            <a:ext cx="457200" cy="504444"/>
          </a:xfrm>
          <a:prstGeom prst="rect">
            <a:avLst/>
          </a:prstGeom>
          <a:noFill/>
          <a:ln>
            <a:noFill/>
          </a:ln>
        </p:spPr>
        <p:txBody>
          <a:bodyPr wrap="square" lIns="0" tIns="0" rIns="0" bIns="0" rtlCol="0" anchor="ctr"/>
          <a:lstStyle/>
          <a:p>
            <a:pPr marL="0" indent="0" algn="r">
              <a:buNone/>
            </a:pPr>
            <a:r>
              <a:rPr lang="en-US" sz="1050" b="1" dirty="0">
                <a:solidFill>
                  <a:srgbClr val="1F2933"/>
                </a:solidFill>
              </a:rPr>
              <a:t>38</a:t>
            </a:r>
            <a:endParaRPr lang="en-US" sz="1050" dirty="0"/>
          </a:p>
        </p:txBody>
      </p:sp>
      <p:sp>
        <p:nvSpPr>
          <p:cNvPr id="34" name="Text 32"/>
          <p:cNvSpPr/>
          <p:nvPr/>
        </p:nvSpPr>
        <p:spPr>
          <a:xfrm>
            <a:off x="6309360" y="2718816"/>
            <a:ext cx="2560320" cy="486156"/>
          </a:xfrm>
          <a:prstGeom prst="rect">
            <a:avLst/>
          </a:prstGeom>
          <a:noFill/>
          <a:ln>
            <a:noFill/>
          </a:ln>
        </p:spPr>
        <p:txBody>
          <a:bodyPr wrap="square" lIns="0" tIns="0" rIns="0" bIns="0" rtlCol="0" anchor="ctr">
            <a:normAutofit/>
          </a:bodyPr>
          <a:lstStyle/>
          <a:p>
            <a:pPr marL="0" indent="0">
              <a:buNone/>
            </a:pPr>
            <a:r>
              <a:rPr lang="en-US" sz="980" dirty="0">
                <a:solidFill>
                  <a:srgbClr val="1F2933"/>
                </a:solidFill>
              </a:rPr>
              <a:t>Translation</a:t>
            </a:r>
            <a:endParaRPr lang="en-US" sz="980" dirty="0"/>
          </a:p>
        </p:txBody>
      </p:sp>
      <p:sp>
        <p:nvSpPr>
          <p:cNvPr id="35" name="Shape 33"/>
          <p:cNvSpPr/>
          <p:nvPr/>
        </p:nvSpPr>
        <p:spPr>
          <a:xfrm>
            <a:off x="8979408" y="2782824"/>
            <a:ext cx="1828800" cy="358140"/>
          </a:xfrm>
          <a:prstGeom prst="rect">
            <a:avLst/>
          </a:prstGeom>
          <a:solidFill>
            <a:srgbClr val="F7F1E8"/>
          </a:solidFill>
          <a:ln w="12700">
            <a:solidFill>
              <a:srgbClr val="E3D8CC"/>
            </a:solidFill>
            <a:prstDash val="solid"/>
          </a:ln>
        </p:spPr>
        <p:txBody>
          <a:bodyPr/>
          <a:lstStyle/>
          <a:p>
            <a:endParaRPr/>
          </a:p>
        </p:txBody>
      </p:sp>
      <p:sp>
        <p:nvSpPr>
          <p:cNvPr id="36" name="Shape 34"/>
          <p:cNvSpPr/>
          <p:nvPr/>
        </p:nvSpPr>
        <p:spPr>
          <a:xfrm>
            <a:off x="8979408" y="2782824"/>
            <a:ext cx="1422400" cy="358140"/>
          </a:xfrm>
          <a:prstGeom prst="rect">
            <a:avLst/>
          </a:prstGeom>
          <a:solidFill>
            <a:srgbClr val="9C623A"/>
          </a:solidFill>
          <a:ln w="12700">
            <a:solidFill>
              <a:srgbClr val="E3D8CC"/>
            </a:solidFill>
            <a:prstDash val="solid"/>
          </a:ln>
        </p:spPr>
        <p:txBody>
          <a:bodyPr/>
          <a:lstStyle/>
          <a:p>
            <a:endParaRPr/>
          </a:p>
        </p:txBody>
      </p:sp>
      <p:sp>
        <p:nvSpPr>
          <p:cNvPr id="37" name="Text 35"/>
          <p:cNvSpPr/>
          <p:nvPr/>
        </p:nvSpPr>
        <p:spPr>
          <a:xfrm>
            <a:off x="10881360" y="2718816"/>
            <a:ext cx="457200" cy="504444"/>
          </a:xfrm>
          <a:prstGeom prst="rect">
            <a:avLst/>
          </a:prstGeom>
          <a:noFill/>
          <a:ln>
            <a:noFill/>
          </a:ln>
        </p:spPr>
        <p:txBody>
          <a:bodyPr wrap="square" lIns="0" tIns="0" rIns="0" bIns="0" rtlCol="0" anchor="ctr"/>
          <a:lstStyle/>
          <a:p>
            <a:pPr marL="0" indent="0" algn="r">
              <a:buNone/>
            </a:pPr>
            <a:r>
              <a:rPr lang="en-US" sz="1050" b="1" dirty="0">
                <a:solidFill>
                  <a:srgbClr val="1F2933"/>
                </a:solidFill>
              </a:rPr>
              <a:t>35</a:t>
            </a:r>
            <a:endParaRPr lang="en-US" sz="1050" dirty="0"/>
          </a:p>
        </p:txBody>
      </p:sp>
      <p:sp>
        <p:nvSpPr>
          <p:cNvPr id="38" name="Text 36"/>
          <p:cNvSpPr/>
          <p:nvPr/>
        </p:nvSpPr>
        <p:spPr>
          <a:xfrm>
            <a:off x="6309360" y="3259836"/>
            <a:ext cx="2560320" cy="486156"/>
          </a:xfrm>
          <a:prstGeom prst="rect">
            <a:avLst/>
          </a:prstGeom>
          <a:noFill/>
          <a:ln>
            <a:noFill/>
          </a:ln>
        </p:spPr>
        <p:txBody>
          <a:bodyPr wrap="square" lIns="0" tIns="0" rIns="0" bIns="0" rtlCol="0" anchor="ctr">
            <a:normAutofit/>
          </a:bodyPr>
          <a:lstStyle/>
          <a:p>
            <a:pPr marL="0" indent="0">
              <a:buNone/>
            </a:pPr>
            <a:r>
              <a:rPr lang="en-US" sz="980" dirty="0">
                <a:solidFill>
                  <a:srgbClr val="1F2933"/>
                </a:solidFill>
              </a:rPr>
              <a:t>Summarizing documents /</a:t>
            </a:r>
            <a:endParaRPr lang="en-US" sz="980" dirty="0"/>
          </a:p>
          <a:p>
            <a:pPr marL="0" indent="0">
              <a:buNone/>
            </a:pPr>
            <a:r>
              <a:rPr lang="en-US" sz="980" dirty="0">
                <a:solidFill>
                  <a:srgbClr val="1F2933"/>
                </a:solidFill>
              </a:rPr>
              <a:t>meetings</a:t>
            </a:r>
            <a:endParaRPr lang="en-US" sz="980" dirty="0"/>
          </a:p>
        </p:txBody>
      </p:sp>
      <p:sp>
        <p:nvSpPr>
          <p:cNvPr id="39" name="Shape 37"/>
          <p:cNvSpPr/>
          <p:nvPr/>
        </p:nvSpPr>
        <p:spPr>
          <a:xfrm>
            <a:off x="8979408" y="3323844"/>
            <a:ext cx="1828800" cy="358140"/>
          </a:xfrm>
          <a:prstGeom prst="rect">
            <a:avLst/>
          </a:prstGeom>
          <a:solidFill>
            <a:srgbClr val="F7F1E8"/>
          </a:solidFill>
          <a:ln w="12700">
            <a:solidFill>
              <a:srgbClr val="E3D8CC"/>
            </a:solidFill>
            <a:prstDash val="solid"/>
          </a:ln>
        </p:spPr>
        <p:txBody>
          <a:bodyPr/>
          <a:lstStyle/>
          <a:p>
            <a:endParaRPr/>
          </a:p>
        </p:txBody>
      </p:sp>
      <p:sp>
        <p:nvSpPr>
          <p:cNvPr id="40" name="Shape 38"/>
          <p:cNvSpPr/>
          <p:nvPr/>
        </p:nvSpPr>
        <p:spPr>
          <a:xfrm>
            <a:off x="8979408" y="3323844"/>
            <a:ext cx="975360" cy="358140"/>
          </a:xfrm>
          <a:prstGeom prst="rect">
            <a:avLst/>
          </a:prstGeom>
          <a:solidFill>
            <a:srgbClr val="9C623A"/>
          </a:solidFill>
          <a:ln w="12700">
            <a:solidFill>
              <a:srgbClr val="E3D8CC"/>
            </a:solidFill>
            <a:prstDash val="solid"/>
          </a:ln>
        </p:spPr>
        <p:txBody>
          <a:bodyPr/>
          <a:lstStyle/>
          <a:p>
            <a:endParaRPr/>
          </a:p>
        </p:txBody>
      </p:sp>
      <p:sp>
        <p:nvSpPr>
          <p:cNvPr id="41" name="Text 39"/>
          <p:cNvSpPr/>
          <p:nvPr/>
        </p:nvSpPr>
        <p:spPr>
          <a:xfrm>
            <a:off x="10881360" y="3259836"/>
            <a:ext cx="457200" cy="504444"/>
          </a:xfrm>
          <a:prstGeom prst="rect">
            <a:avLst/>
          </a:prstGeom>
          <a:noFill/>
          <a:ln>
            <a:noFill/>
          </a:ln>
        </p:spPr>
        <p:txBody>
          <a:bodyPr wrap="square" lIns="0" tIns="0" rIns="0" bIns="0" rtlCol="0" anchor="ctr"/>
          <a:lstStyle/>
          <a:p>
            <a:pPr marL="0" indent="0" algn="r">
              <a:buNone/>
            </a:pPr>
            <a:r>
              <a:rPr lang="en-US" sz="1050" b="1" dirty="0">
                <a:solidFill>
                  <a:srgbClr val="1F2933"/>
                </a:solidFill>
              </a:rPr>
              <a:t>24</a:t>
            </a:r>
            <a:endParaRPr lang="en-US" sz="1050" dirty="0"/>
          </a:p>
        </p:txBody>
      </p:sp>
      <p:sp>
        <p:nvSpPr>
          <p:cNvPr id="42" name="Text 40"/>
          <p:cNvSpPr/>
          <p:nvPr/>
        </p:nvSpPr>
        <p:spPr>
          <a:xfrm>
            <a:off x="6309360" y="3800856"/>
            <a:ext cx="2560320" cy="486156"/>
          </a:xfrm>
          <a:prstGeom prst="rect">
            <a:avLst/>
          </a:prstGeom>
          <a:noFill/>
          <a:ln>
            <a:noFill/>
          </a:ln>
        </p:spPr>
        <p:txBody>
          <a:bodyPr wrap="square" lIns="0" tIns="0" rIns="0" bIns="0" rtlCol="0" anchor="ctr">
            <a:normAutofit/>
          </a:bodyPr>
          <a:lstStyle/>
          <a:p>
            <a:pPr marL="0" indent="0">
              <a:buNone/>
            </a:pPr>
            <a:r>
              <a:rPr lang="en-US" sz="980" dirty="0">
                <a:solidFill>
                  <a:srgbClr val="1F2933"/>
                </a:solidFill>
              </a:rPr>
              <a:t>Analysis (tables, numbers,</a:t>
            </a:r>
            <a:endParaRPr lang="en-US" sz="980" dirty="0"/>
          </a:p>
          <a:p>
            <a:pPr marL="0" indent="0">
              <a:buNone/>
            </a:pPr>
            <a:r>
              <a:rPr lang="en-US" sz="980" dirty="0">
                <a:solidFill>
                  <a:srgbClr val="1F2933"/>
                </a:solidFill>
              </a:rPr>
              <a:t>trends)</a:t>
            </a:r>
            <a:endParaRPr lang="en-US" sz="980" dirty="0"/>
          </a:p>
        </p:txBody>
      </p:sp>
      <p:sp>
        <p:nvSpPr>
          <p:cNvPr id="43" name="Shape 41"/>
          <p:cNvSpPr/>
          <p:nvPr/>
        </p:nvSpPr>
        <p:spPr>
          <a:xfrm>
            <a:off x="8979408" y="3864864"/>
            <a:ext cx="1828800" cy="358140"/>
          </a:xfrm>
          <a:prstGeom prst="rect">
            <a:avLst/>
          </a:prstGeom>
          <a:solidFill>
            <a:srgbClr val="F7F1E8"/>
          </a:solidFill>
          <a:ln w="12700">
            <a:solidFill>
              <a:srgbClr val="E3D8CC"/>
            </a:solidFill>
            <a:prstDash val="solid"/>
          </a:ln>
        </p:spPr>
        <p:txBody>
          <a:bodyPr/>
          <a:lstStyle/>
          <a:p>
            <a:endParaRPr/>
          </a:p>
        </p:txBody>
      </p:sp>
      <p:sp>
        <p:nvSpPr>
          <p:cNvPr id="44" name="Shape 42"/>
          <p:cNvSpPr/>
          <p:nvPr/>
        </p:nvSpPr>
        <p:spPr>
          <a:xfrm>
            <a:off x="8979408" y="3864864"/>
            <a:ext cx="812800" cy="358140"/>
          </a:xfrm>
          <a:prstGeom prst="rect">
            <a:avLst/>
          </a:prstGeom>
          <a:solidFill>
            <a:srgbClr val="9C623A"/>
          </a:solidFill>
          <a:ln w="12700">
            <a:solidFill>
              <a:srgbClr val="E3D8CC"/>
            </a:solidFill>
            <a:prstDash val="solid"/>
          </a:ln>
        </p:spPr>
        <p:txBody>
          <a:bodyPr/>
          <a:lstStyle/>
          <a:p>
            <a:endParaRPr/>
          </a:p>
        </p:txBody>
      </p:sp>
      <p:sp>
        <p:nvSpPr>
          <p:cNvPr id="45" name="Text 43"/>
          <p:cNvSpPr/>
          <p:nvPr/>
        </p:nvSpPr>
        <p:spPr>
          <a:xfrm>
            <a:off x="10881360" y="3800856"/>
            <a:ext cx="457200" cy="504444"/>
          </a:xfrm>
          <a:prstGeom prst="rect">
            <a:avLst/>
          </a:prstGeom>
          <a:noFill/>
          <a:ln>
            <a:noFill/>
          </a:ln>
        </p:spPr>
        <p:txBody>
          <a:bodyPr wrap="square" lIns="0" tIns="0" rIns="0" bIns="0" rtlCol="0" anchor="ctr"/>
          <a:lstStyle/>
          <a:p>
            <a:pPr marL="0" indent="0" algn="r">
              <a:buNone/>
            </a:pPr>
            <a:r>
              <a:rPr lang="en-US" sz="1050" b="1" dirty="0">
                <a:solidFill>
                  <a:srgbClr val="1F2933"/>
                </a:solidFill>
              </a:rPr>
              <a:t>20</a:t>
            </a:r>
            <a:endParaRPr lang="en-US" sz="1050" dirty="0"/>
          </a:p>
        </p:txBody>
      </p:sp>
      <p:sp>
        <p:nvSpPr>
          <p:cNvPr id="46" name="Text 44"/>
          <p:cNvSpPr/>
          <p:nvPr/>
        </p:nvSpPr>
        <p:spPr>
          <a:xfrm>
            <a:off x="6309360" y="4341876"/>
            <a:ext cx="2560320" cy="486156"/>
          </a:xfrm>
          <a:prstGeom prst="rect">
            <a:avLst/>
          </a:prstGeom>
          <a:noFill/>
          <a:ln>
            <a:noFill/>
          </a:ln>
        </p:spPr>
        <p:txBody>
          <a:bodyPr wrap="square" lIns="0" tIns="0" rIns="0" bIns="0" rtlCol="0" anchor="ctr">
            <a:normAutofit/>
          </a:bodyPr>
          <a:lstStyle/>
          <a:p>
            <a:pPr marL="0" indent="0">
              <a:buNone/>
            </a:pPr>
            <a:r>
              <a:rPr lang="en-US" sz="980" dirty="0">
                <a:solidFill>
                  <a:srgbClr val="1F2933"/>
                </a:solidFill>
              </a:rPr>
              <a:t>Ideation (names, concepts,</a:t>
            </a:r>
            <a:endParaRPr lang="en-US" sz="980" dirty="0"/>
          </a:p>
          <a:p>
            <a:pPr marL="0" indent="0">
              <a:buNone/>
            </a:pPr>
            <a:r>
              <a:rPr lang="en-US" sz="980" dirty="0">
                <a:solidFill>
                  <a:srgbClr val="1F2933"/>
                </a:solidFill>
              </a:rPr>
              <a:t>options)</a:t>
            </a:r>
            <a:endParaRPr lang="en-US" sz="980" dirty="0"/>
          </a:p>
        </p:txBody>
      </p:sp>
      <p:sp>
        <p:nvSpPr>
          <p:cNvPr id="47" name="Shape 45"/>
          <p:cNvSpPr/>
          <p:nvPr/>
        </p:nvSpPr>
        <p:spPr>
          <a:xfrm>
            <a:off x="8979408" y="4405884"/>
            <a:ext cx="1828800" cy="358140"/>
          </a:xfrm>
          <a:prstGeom prst="rect">
            <a:avLst/>
          </a:prstGeom>
          <a:solidFill>
            <a:srgbClr val="F7F1E8"/>
          </a:solidFill>
          <a:ln w="12700">
            <a:solidFill>
              <a:srgbClr val="E3D8CC"/>
            </a:solidFill>
            <a:prstDash val="solid"/>
          </a:ln>
        </p:spPr>
        <p:txBody>
          <a:bodyPr/>
          <a:lstStyle/>
          <a:p>
            <a:endParaRPr/>
          </a:p>
        </p:txBody>
      </p:sp>
      <p:sp>
        <p:nvSpPr>
          <p:cNvPr id="48" name="Shape 46"/>
          <p:cNvSpPr/>
          <p:nvPr/>
        </p:nvSpPr>
        <p:spPr>
          <a:xfrm>
            <a:off x="8979408" y="4405884"/>
            <a:ext cx="731520" cy="358140"/>
          </a:xfrm>
          <a:prstGeom prst="rect">
            <a:avLst/>
          </a:prstGeom>
          <a:solidFill>
            <a:srgbClr val="9C623A"/>
          </a:solidFill>
          <a:ln w="12700">
            <a:solidFill>
              <a:srgbClr val="E3D8CC"/>
            </a:solidFill>
            <a:prstDash val="solid"/>
          </a:ln>
        </p:spPr>
        <p:txBody>
          <a:bodyPr/>
          <a:lstStyle/>
          <a:p>
            <a:endParaRPr/>
          </a:p>
        </p:txBody>
      </p:sp>
      <p:sp>
        <p:nvSpPr>
          <p:cNvPr id="49" name="Text 47"/>
          <p:cNvSpPr/>
          <p:nvPr/>
        </p:nvSpPr>
        <p:spPr>
          <a:xfrm>
            <a:off x="10881360" y="4341876"/>
            <a:ext cx="457200" cy="504444"/>
          </a:xfrm>
          <a:prstGeom prst="rect">
            <a:avLst/>
          </a:prstGeom>
          <a:noFill/>
          <a:ln>
            <a:noFill/>
          </a:ln>
        </p:spPr>
        <p:txBody>
          <a:bodyPr wrap="square" lIns="0" tIns="0" rIns="0" bIns="0" rtlCol="0" anchor="ctr"/>
          <a:lstStyle/>
          <a:p>
            <a:pPr marL="0" indent="0" algn="r">
              <a:buNone/>
            </a:pPr>
            <a:r>
              <a:rPr lang="en-US" sz="1050" b="1" dirty="0">
                <a:solidFill>
                  <a:srgbClr val="1F2933"/>
                </a:solidFill>
              </a:rPr>
              <a:t>18</a:t>
            </a:r>
            <a:endParaRPr lang="en-US" sz="1050" dirty="0"/>
          </a:p>
        </p:txBody>
      </p:sp>
      <p:sp>
        <p:nvSpPr>
          <p:cNvPr id="50" name="Shape 48"/>
          <p:cNvSpPr/>
          <p:nvPr/>
        </p:nvSpPr>
        <p:spPr>
          <a:xfrm>
            <a:off x="713232" y="4983480"/>
            <a:ext cx="10716768" cy="822960"/>
          </a:xfrm>
          <a:prstGeom prst="roundRect">
            <a:avLst>
              <a:gd name="adj" fmla="val 3333"/>
            </a:avLst>
          </a:prstGeom>
          <a:solidFill>
            <a:srgbClr val="FFFFFF"/>
          </a:solidFill>
          <a:ln w="12700">
            <a:solidFill>
              <a:srgbClr val="E3D8CC"/>
            </a:solidFill>
            <a:prstDash val="solid"/>
          </a:ln>
        </p:spPr>
        <p:txBody>
          <a:bodyPr/>
          <a:lstStyle/>
          <a:p>
            <a:endParaRPr/>
          </a:p>
        </p:txBody>
      </p:sp>
      <p:sp>
        <p:nvSpPr>
          <p:cNvPr id="51" name="Text 49"/>
          <p:cNvSpPr/>
          <p:nvPr/>
        </p:nvSpPr>
        <p:spPr>
          <a:xfrm>
            <a:off x="932688" y="5184648"/>
            <a:ext cx="10149840" cy="256032"/>
          </a:xfrm>
          <a:prstGeom prst="rect">
            <a:avLst/>
          </a:prstGeom>
          <a:noFill/>
          <a:ln>
            <a:noFill/>
          </a:ln>
        </p:spPr>
        <p:txBody>
          <a:bodyPr wrap="square" lIns="0" tIns="0" rIns="0" bIns="0" rtlCol="0" anchor="ctr">
            <a:normAutofit fontScale="85000" lnSpcReduction="20000"/>
          </a:bodyPr>
          <a:lstStyle/>
          <a:p>
            <a:pPr marL="0" indent="0">
              <a:buNone/>
            </a:pPr>
            <a:r>
              <a:rPr lang="en-US" sz="1210" dirty="0">
                <a:solidFill>
                  <a:srgbClr val="1F2933"/>
                </a:solidFill>
              </a:rPr>
              <a:t>Lecture de direction — la valeur est déjà réelle, mais encore majoritairement individuelle et horizontale : rédaction, recherche, synthèse, traduction, analyse de premier niveau. Le prochain gain vient de la connexion à des processus réels.</a:t>
            </a:r>
            <a:endParaRPr lang="en-US" sz="1210" dirty="0"/>
          </a:p>
        </p:txBody>
      </p:sp>
      <p:sp>
        <p:nvSpPr>
          <p:cNvPr id="52" name="TextBox 51"/>
          <p:cNvSpPr txBox="1"/>
          <p:nvPr/>
        </p:nvSpPr>
        <p:spPr>
          <a:xfrm>
            <a:off x="11292840" y="6455664"/>
            <a:ext cx="502920" cy="182880"/>
          </a:xfrm>
          <a:prstGeom prst="rect">
            <a:avLst/>
          </a:prstGeom>
          <a:noFill/>
          <a:ln>
            <a:noFill/>
          </a:ln>
        </p:spPr>
        <p:txBody>
          <a:bodyPr wrap="none">
            <a:spAutoFit/>
          </a:bodyPr>
          <a:lstStyle/>
          <a:p>
            <a:pPr algn="r">
              <a:defRPr sz="1000">
                <a:solidFill>
                  <a:srgbClr val="27333F"/>
                </a:solidFill>
                <a:latin typeface="Aptos"/>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8F4"/>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438912"/>
          </a:xfrm>
          <a:prstGeom prst="rect">
            <a:avLst/>
          </a:prstGeom>
          <a:noFill/>
          <a:ln>
            <a:noFill/>
          </a:ln>
        </p:spPr>
        <p:txBody>
          <a:bodyPr wrap="square" lIns="0" tIns="0" rIns="0" bIns="0" rtlCol="0" anchor="ctr"/>
          <a:lstStyle/>
          <a:p>
            <a:pPr marL="0" indent="0">
              <a:buNone/>
            </a:pPr>
            <a:r>
              <a:rPr lang="en-US" sz="2400" b="1" dirty="0">
                <a:solidFill>
                  <a:srgbClr val="1F2933"/>
                </a:solidFill>
                <a:latin typeface="Aptos Display" pitchFamily="34" charset="0"/>
                <a:ea typeface="Aptos Display" pitchFamily="34" charset="-122"/>
                <a:cs typeface="Aptos Display" pitchFamily="34" charset="-120"/>
              </a:rPr>
              <a:t>Le passage à l’échelle est freiné par la maîtrise du risque et la qualité des réponses</a:t>
            </a:r>
            <a:endParaRPr lang="en-US" sz="2400" dirty="0"/>
          </a:p>
        </p:txBody>
      </p:sp>
      <p:sp>
        <p:nvSpPr>
          <p:cNvPr id="3" name="Text 1"/>
          <p:cNvSpPr/>
          <p:nvPr/>
        </p:nvSpPr>
        <p:spPr>
          <a:xfrm>
            <a:off x="658368" y="896112"/>
            <a:ext cx="10241280" cy="256032"/>
          </a:xfrm>
          <a:prstGeom prst="rect">
            <a:avLst/>
          </a:prstGeom>
          <a:noFill/>
          <a:ln>
            <a:noFill/>
          </a:ln>
        </p:spPr>
        <p:txBody>
          <a:bodyPr wrap="square" lIns="0" tIns="0" rIns="0" bIns="0" rtlCol="0" anchor="ctr"/>
          <a:lstStyle/>
          <a:p>
            <a:pPr marL="0" indent="0">
              <a:buNone/>
            </a:pPr>
            <a:r>
              <a:rPr lang="en-US" sz="1150" dirty="0">
                <a:solidFill>
                  <a:srgbClr val="8B7D73"/>
                </a:solidFill>
                <a:latin typeface="Aptos" pitchFamily="34" charset="0"/>
                <a:ea typeface="Aptos" pitchFamily="34" charset="-122"/>
                <a:cs typeface="Aptos" pitchFamily="34" charset="-120"/>
              </a:rPr>
              <a:t>Freins remontés, mauvaises surprises et exposition potentielle des données</a:t>
            </a:r>
            <a:endParaRPr lang="en-US" sz="1150" dirty="0"/>
          </a:p>
        </p:txBody>
      </p:sp>
      <p:sp>
        <p:nvSpPr>
          <p:cNvPr id="4" name="Text 2"/>
          <p:cNvSpPr/>
          <p:nvPr/>
        </p:nvSpPr>
        <p:spPr>
          <a:xfrm>
            <a:off x="713232" y="1389888"/>
            <a:ext cx="5303520" cy="201168"/>
          </a:xfrm>
          <a:prstGeom prst="rect">
            <a:avLst/>
          </a:prstGeom>
          <a:noFill/>
          <a:ln>
            <a:noFill/>
          </a:ln>
        </p:spPr>
        <p:txBody>
          <a:bodyPr wrap="square" lIns="0" tIns="0" rIns="0" bIns="0" rtlCol="0" anchor="ctr"/>
          <a:lstStyle/>
          <a:p>
            <a:pPr marL="0" indent="0">
              <a:buNone/>
            </a:pPr>
            <a:r>
              <a:rPr lang="en-US" sz="1150" b="1" dirty="0">
                <a:solidFill>
                  <a:srgbClr val="1F2933"/>
                </a:solidFill>
              </a:rPr>
              <a:t>Freins les plus cités</a:t>
            </a:r>
            <a:endParaRPr lang="en-US" sz="1150" dirty="0"/>
          </a:p>
        </p:txBody>
      </p:sp>
      <p:sp>
        <p:nvSpPr>
          <p:cNvPr id="5" name="Text 3"/>
          <p:cNvSpPr/>
          <p:nvPr/>
        </p:nvSpPr>
        <p:spPr>
          <a:xfrm>
            <a:off x="713232" y="1664208"/>
            <a:ext cx="2560320" cy="521208"/>
          </a:xfrm>
          <a:prstGeom prst="rect">
            <a:avLst/>
          </a:prstGeom>
          <a:noFill/>
          <a:ln>
            <a:noFill/>
          </a:ln>
        </p:spPr>
        <p:txBody>
          <a:bodyPr wrap="square" lIns="0" tIns="0" rIns="0" bIns="0" rtlCol="0" anchor="ctr">
            <a:normAutofit/>
          </a:bodyPr>
          <a:lstStyle/>
          <a:p>
            <a:pPr marL="0" indent="0">
              <a:buNone/>
            </a:pPr>
            <a:r>
              <a:rPr lang="en-US" sz="1000" dirty="0">
                <a:solidFill>
                  <a:srgbClr val="1F2933"/>
                </a:solidFill>
              </a:rPr>
              <a:t>Risk concerns</a:t>
            </a:r>
            <a:endParaRPr lang="en-US" sz="1000" dirty="0"/>
          </a:p>
          <a:p>
            <a:pPr marL="0" indent="0">
              <a:buNone/>
            </a:pPr>
            <a:r>
              <a:rPr lang="en-US" sz="1000" dirty="0">
                <a:solidFill>
                  <a:srgbClr val="1F2933"/>
                </a:solidFill>
              </a:rPr>
              <a:t>(confidentiality,</a:t>
            </a:r>
            <a:endParaRPr lang="en-US" sz="1000" dirty="0"/>
          </a:p>
        </p:txBody>
      </p:sp>
      <p:sp>
        <p:nvSpPr>
          <p:cNvPr id="6" name="Shape 4"/>
          <p:cNvSpPr/>
          <p:nvPr/>
        </p:nvSpPr>
        <p:spPr>
          <a:xfrm>
            <a:off x="3383280" y="1728216"/>
            <a:ext cx="2057400" cy="393192"/>
          </a:xfrm>
          <a:prstGeom prst="rect">
            <a:avLst/>
          </a:prstGeom>
          <a:solidFill>
            <a:srgbClr val="F7F1E8"/>
          </a:solidFill>
          <a:ln w="12700">
            <a:solidFill>
              <a:srgbClr val="E3D8CC"/>
            </a:solidFill>
            <a:prstDash val="solid"/>
          </a:ln>
        </p:spPr>
        <p:txBody>
          <a:bodyPr/>
          <a:lstStyle/>
          <a:p>
            <a:endParaRPr/>
          </a:p>
        </p:txBody>
      </p:sp>
      <p:sp>
        <p:nvSpPr>
          <p:cNvPr id="7" name="Shape 5"/>
          <p:cNvSpPr/>
          <p:nvPr/>
        </p:nvSpPr>
        <p:spPr>
          <a:xfrm>
            <a:off x="3383280" y="1728216"/>
            <a:ext cx="2057400" cy="393192"/>
          </a:xfrm>
          <a:prstGeom prst="rect">
            <a:avLst/>
          </a:prstGeom>
          <a:solidFill>
            <a:srgbClr val="B1453A"/>
          </a:solidFill>
          <a:ln w="12700">
            <a:solidFill>
              <a:srgbClr val="E3D8CC"/>
            </a:solidFill>
            <a:prstDash val="solid"/>
          </a:ln>
        </p:spPr>
        <p:txBody>
          <a:bodyPr/>
          <a:lstStyle/>
          <a:p>
            <a:endParaRPr/>
          </a:p>
        </p:txBody>
      </p:sp>
      <p:sp>
        <p:nvSpPr>
          <p:cNvPr id="8" name="Text 6"/>
          <p:cNvSpPr/>
          <p:nvPr/>
        </p:nvSpPr>
        <p:spPr>
          <a:xfrm>
            <a:off x="5513832" y="1664208"/>
            <a:ext cx="457200" cy="539496"/>
          </a:xfrm>
          <a:prstGeom prst="rect">
            <a:avLst/>
          </a:prstGeom>
          <a:noFill/>
          <a:ln>
            <a:noFill/>
          </a:ln>
        </p:spPr>
        <p:txBody>
          <a:bodyPr wrap="square" lIns="0" tIns="0" rIns="0" bIns="0" rtlCol="0" anchor="ctr"/>
          <a:lstStyle/>
          <a:p>
            <a:pPr marL="0" indent="0" algn="r">
              <a:buNone/>
            </a:pPr>
            <a:r>
              <a:rPr lang="en-US" sz="1050" b="1" dirty="0">
                <a:solidFill>
                  <a:srgbClr val="1F2933"/>
                </a:solidFill>
              </a:rPr>
              <a:t>31</a:t>
            </a:r>
            <a:endParaRPr lang="en-US" sz="1050" dirty="0"/>
          </a:p>
        </p:txBody>
      </p:sp>
      <p:sp>
        <p:nvSpPr>
          <p:cNvPr id="9" name="Text 7"/>
          <p:cNvSpPr/>
          <p:nvPr/>
        </p:nvSpPr>
        <p:spPr>
          <a:xfrm>
            <a:off x="713232" y="2240280"/>
            <a:ext cx="2560320" cy="521208"/>
          </a:xfrm>
          <a:prstGeom prst="rect">
            <a:avLst/>
          </a:prstGeom>
          <a:noFill/>
          <a:ln>
            <a:noFill/>
          </a:ln>
        </p:spPr>
        <p:txBody>
          <a:bodyPr wrap="square" lIns="0" tIns="0" rIns="0" bIns="0" rtlCol="0" anchor="ctr">
            <a:normAutofit/>
          </a:bodyPr>
          <a:lstStyle/>
          <a:p>
            <a:pPr marL="0" indent="0">
              <a:buNone/>
            </a:pPr>
            <a:r>
              <a:rPr lang="en-US" sz="1000" dirty="0">
                <a:solidFill>
                  <a:srgbClr val="1F2933"/>
                </a:solidFill>
              </a:rPr>
              <a:t>Output quality issues /</a:t>
            </a:r>
            <a:endParaRPr lang="en-US" sz="1000" dirty="0"/>
          </a:p>
          <a:p>
            <a:pPr marL="0" indent="0">
              <a:buNone/>
            </a:pPr>
            <a:r>
              <a:rPr lang="en-US" sz="1000" dirty="0">
                <a:solidFill>
                  <a:srgbClr val="1F2933"/>
                </a:solidFill>
              </a:rPr>
              <a:t>hallucinations</a:t>
            </a:r>
            <a:endParaRPr lang="en-US" sz="1000" dirty="0"/>
          </a:p>
        </p:txBody>
      </p:sp>
      <p:sp>
        <p:nvSpPr>
          <p:cNvPr id="10" name="Shape 8"/>
          <p:cNvSpPr/>
          <p:nvPr/>
        </p:nvSpPr>
        <p:spPr>
          <a:xfrm>
            <a:off x="3383280" y="2304288"/>
            <a:ext cx="2057400" cy="393192"/>
          </a:xfrm>
          <a:prstGeom prst="rect">
            <a:avLst/>
          </a:prstGeom>
          <a:solidFill>
            <a:srgbClr val="F7F1E8"/>
          </a:solidFill>
          <a:ln w="12700">
            <a:solidFill>
              <a:srgbClr val="E3D8CC"/>
            </a:solidFill>
            <a:prstDash val="solid"/>
          </a:ln>
        </p:spPr>
        <p:txBody>
          <a:bodyPr/>
          <a:lstStyle/>
          <a:p>
            <a:endParaRPr/>
          </a:p>
        </p:txBody>
      </p:sp>
      <p:sp>
        <p:nvSpPr>
          <p:cNvPr id="11" name="Shape 9"/>
          <p:cNvSpPr/>
          <p:nvPr/>
        </p:nvSpPr>
        <p:spPr>
          <a:xfrm>
            <a:off x="3383280" y="2304288"/>
            <a:ext cx="796413" cy="393192"/>
          </a:xfrm>
          <a:prstGeom prst="rect">
            <a:avLst/>
          </a:prstGeom>
          <a:solidFill>
            <a:srgbClr val="B1453A"/>
          </a:solidFill>
          <a:ln w="12700">
            <a:solidFill>
              <a:srgbClr val="E3D8CC"/>
            </a:solidFill>
            <a:prstDash val="solid"/>
          </a:ln>
        </p:spPr>
        <p:txBody>
          <a:bodyPr/>
          <a:lstStyle/>
          <a:p>
            <a:endParaRPr/>
          </a:p>
        </p:txBody>
      </p:sp>
      <p:sp>
        <p:nvSpPr>
          <p:cNvPr id="12" name="Text 10"/>
          <p:cNvSpPr/>
          <p:nvPr/>
        </p:nvSpPr>
        <p:spPr>
          <a:xfrm>
            <a:off x="5513832" y="2240280"/>
            <a:ext cx="457200" cy="539496"/>
          </a:xfrm>
          <a:prstGeom prst="rect">
            <a:avLst/>
          </a:prstGeom>
          <a:noFill/>
          <a:ln>
            <a:noFill/>
          </a:ln>
        </p:spPr>
        <p:txBody>
          <a:bodyPr wrap="square" lIns="0" tIns="0" rIns="0" bIns="0" rtlCol="0" anchor="ctr"/>
          <a:lstStyle/>
          <a:p>
            <a:pPr marL="0" indent="0" algn="r">
              <a:buNone/>
            </a:pPr>
            <a:r>
              <a:rPr lang="en-US" sz="1050" b="1" dirty="0">
                <a:solidFill>
                  <a:srgbClr val="1F2933"/>
                </a:solidFill>
              </a:rPr>
              <a:t>12</a:t>
            </a:r>
            <a:endParaRPr lang="en-US" sz="1050" dirty="0"/>
          </a:p>
        </p:txBody>
      </p:sp>
      <p:sp>
        <p:nvSpPr>
          <p:cNvPr id="13" name="Text 11"/>
          <p:cNvSpPr/>
          <p:nvPr/>
        </p:nvSpPr>
        <p:spPr>
          <a:xfrm>
            <a:off x="713232" y="2816352"/>
            <a:ext cx="2560320" cy="521208"/>
          </a:xfrm>
          <a:prstGeom prst="rect">
            <a:avLst/>
          </a:prstGeom>
          <a:noFill/>
          <a:ln>
            <a:noFill/>
          </a:ln>
        </p:spPr>
        <p:txBody>
          <a:bodyPr wrap="square" lIns="0" tIns="0" rIns="0" bIns="0" rtlCol="0" anchor="ctr">
            <a:normAutofit/>
          </a:bodyPr>
          <a:lstStyle/>
          <a:p>
            <a:pPr marL="0" indent="0">
              <a:buNone/>
            </a:pPr>
            <a:r>
              <a:rPr lang="en-US" sz="1000" dirty="0">
                <a:solidFill>
                  <a:srgbClr val="1F2933"/>
                </a:solidFill>
              </a:rPr>
              <a:t>I’m concerned about</a:t>
            </a:r>
            <a:endParaRPr lang="en-US" sz="1000" dirty="0"/>
          </a:p>
          <a:p>
            <a:pPr marL="0" indent="0">
              <a:buNone/>
            </a:pPr>
            <a:r>
              <a:rPr lang="en-US" sz="1000" dirty="0">
                <a:solidFill>
                  <a:srgbClr val="1F2933"/>
                </a:solidFill>
              </a:rPr>
              <a:t>over-reliance on AI</a:t>
            </a:r>
            <a:endParaRPr lang="en-US" sz="1000" dirty="0"/>
          </a:p>
        </p:txBody>
      </p:sp>
      <p:sp>
        <p:nvSpPr>
          <p:cNvPr id="14" name="Shape 12"/>
          <p:cNvSpPr/>
          <p:nvPr/>
        </p:nvSpPr>
        <p:spPr>
          <a:xfrm>
            <a:off x="3383280" y="2880360"/>
            <a:ext cx="2057400" cy="393192"/>
          </a:xfrm>
          <a:prstGeom prst="rect">
            <a:avLst/>
          </a:prstGeom>
          <a:solidFill>
            <a:srgbClr val="F7F1E8"/>
          </a:solidFill>
          <a:ln w="12700">
            <a:solidFill>
              <a:srgbClr val="E3D8CC"/>
            </a:solidFill>
            <a:prstDash val="solid"/>
          </a:ln>
        </p:spPr>
        <p:txBody>
          <a:bodyPr/>
          <a:lstStyle/>
          <a:p>
            <a:endParaRPr/>
          </a:p>
        </p:txBody>
      </p:sp>
      <p:sp>
        <p:nvSpPr>
          <p:cNvPr id="15" name="Shape 13"/>
          <p:cNvSpPr/>
          <p:nvPr/>
        </p:nvSpPr>
        <p:spPr>
          <a:xfrm>
            <a:off x="3383280" y="2880360"/>
            <a:ext cx="796413" cy="393192"/>
          </a:xfrm>
          <a:prstGeom prst="rect">
            <a:avLst/>
          </a:prstGeom>
          <a:solidFill>
            <a:srgbClr val="B1453A"/>
          </a:solidFill>
          <a:ln w="12700">
            <a:solidFill>
              <a:srgbClr val="E3D8CC"/>
            </a:solidFill>
            <a:prstDash val="solid"/>
          </a:ln>
        </p:spPr>
        <p:txBody>
          <a:bodyPr/>
          <a:lstStyle/>
          <a:p>
            <a:endParaRPr/>
          </a:p>
        </p:txBody>
      </p:sp>
      <p:sp>
        <p:nvSpPr>
          <p:cNvPr id="16" name="Text 14"/>
          <p:cNvSpPr/>
          <p:nvPr/>
        </p:nvSpPr>
        <p:spPr>
          <a:xfrm>
            <a:off x="5513832" y="2816352"/>
            <a:ext cx="457200" cy="539496"/>
          </a:xfrm>
          <a:prstGeom prst="rect">
            <a:avLst/>
          </a:prstGeom>
          <a:noFill/>
          <a:ln>
            <a:noFill/>
          </a:ln>
        </p:spPr>
        <p:txBody>
          <a:bodyPr wrap="square" lIns="0" tIns="0" rIns="0" bIns="0" rtlCol="0" anchor="ctr"/>
          <a:lstStyle/>
          <a:p>
            <a:pPr marL="0" indent="0" algn="r">
              <a:buNone/>
            </a:pPr>
            <a:r>
              <a:rPr lang="en-US" sz="1050" b="1" dirty="0">
                <a:solidFill>
                  <a:srgbClr val="1F2933"/>
                </a:solidFill>
              </a:rPr>
              <a:t>12</a:t>
            </a:r>
            <a:endParaRPr lang="en-US" sz="1050" dirty="0"/>
          </a:p>
        </p:txBody>
      </p:sp>
      <p:sp>
        <p:nvSpPr>
          <p:cNvPr id="17" name="Text 15"/>
          <p:cNvSpPr/>
          <p:nvPr/>
        </p:nvSpPr>
        <p:spPr>
          <a:xfrm>
            <a:off x="713232" y="3392424"/>
            <a:ext cx="2560320" cy="521208"/>
          </a:xfrm>
          <a:prstGeom prst="rect">
            <a:avLst/>
          </a:prstGeom>
          <a:noFill/>
          <a:ln>
            <a:noFill/>
          </a:ln>
        </p:spPr>
        <p:txBody>
          <a:bodyPr wrap="square" lIns="0" tIns="0" rIns="0" bIns="0" rtlCol="0" anchor="ctr">
            <a:normAutofit/>
          </a:bodyPr>
          <a:lstStyle/>
          <a:p>
            <a:pPr marL="0" indent="0">
              <a:buNone/>
            </a:pPr>
            <a:r>
              <a:rPr lang="en-US" sz="1000" dirty="0">
                <a:solidFill>
                  <a:srgbClr val="1F2933"/>
                </a:solidFill>
              </a:rPr>
              <a:t>No time to learn</a:t>
            </a:r>
            <a:endParaRPr lang="en-US" sz="1000" dirty="0"/>
          </a:p>
        </p:txBody>
      </p:sp>
      <p:sp>
        <p:nvSpPr>
          <p:cNvPr id="18" name="Shape 16"/>
          <p:cNvSpPr/>
          <p:nvPr/>
        </p:nvSpPr>
        <p:spPr>
          <a:xfrm>
            <a:off x="3383280" y="3456432"/>
            <a:ext cx="2057400" cy="393192"/>
          </a:xfrm>
          <a:prstGeom prst="rect">
            <a:avLst/>
          </a:prstGeom>
          <a:solidFill>
            <a:srgbClr val="F7F1E8"/>
          </a:solidFill>
          <a:ln w="12700">
            <a:solidFill>
              <a:srgbClr val="E3D8CC"/>
            </a:solidFill>
            <a:prstDash val="solid"/>
          </a:ln>
        </p:spPr>
        <p:txBody>
          <a:bodyPr/>
          <a:lstStyle/>
          <a:p>
            <a:endParaRPr/>
          </a:p>
        </p:txBody>
      </p:sp>
      <p:sp>
        <p:nvSpPr>
          <p:cNvPr id="19" name="Shape 17"/>
          <p:cNvSpPr/>
          <p:nvPr/>
        </p:nvSpPr>
        <p:spPr>
          <a:xfrm>
            <a:off x="3383280" y="3456432"/>
            <a:ext cx="398206" cy="393192"/>
          </a:xfrm>
          <a:prstGeom prst="rect">
            <a:avLst/>
          </a:prstGeom>
          <a:solidFill>
            <a:srgbClr val="B1453A"/>
          </a:solidFill>
          <a:ln w="12700">
            <a:solidFill>
              <a:srgbClr val="E3D8CC"/>
            </a:solidFill>
            <a:prstDash val="solid"/>
          </a:ln>
        </p:spPr>
        <p:txBody>
          <a:bodyPr/>
          <a:lstStyle/>
          <a:p>
            <a:endParaRPr/>
          </a:p>
        </p:txBody>
      </p:sp>
      <p:sp>
        <p:nvSpPr>
          <p:cNvPr id="20" name="Text 18"/>
          <p:cNvSpPr/>
          <p:nvPr/>
        </p:nvSpPr>
        <p:spPr>
          <a:xfrm>
            <a:off x="5513832" y="3392424"/>
            <a:ext cx="457200" cy="539496"/>
          </a:xfrm>
          <a:prstGeom prst="rect">
            <a:avLst/>
          </a:prstGeom>
          <a:noFill/>
          <a:ln>
            <a:noFill/>
          </a:ln>
        </p:spPr>
        <p:txBody>
          <a:bodyPr wrap="square" lIns="0" tIns="0" rIns="0" bIns="0" rtlCol="0" anchor="ctr"/>
          <a:lstStyle/>
          <a:p>
            <a:pPr marL="0" indent="0" algn="r">
              <a:buNone/>
            </a:pPr>
            <a:r>
              <a:rPr lang="en-US" sz="1050" b="1" dirty="0">
                <a:solidFill>
                  <a:srgbClr val="1F2933"/>
                </a:solidFill>
              </a:rPr>
              <a:t>6</a:t>
            </a:r>
            <a:endParaRPr lang="en-US" sz="1050" dirty="0"/>
          </a:p>
        </p:txBody>
      </p:sp>
      <p:sp>
        <p:nvSpPr>
          <p:cNvPr id="21" name="Text 19"/>
          <p:cNvSpPr/>
          <p:nvPr/>
        </p:nvSpPr>
        <p:spPr>
          <a:xfrm>
            <a:off x="713232" y="3968496"/>
            <a:ext cx="2560320" cy="521208"/>
          </a:xfrm>
          <a:prstGeom prst="rect">
            <a:avLst/>
          </a:prstGeom>
          <a:noFill/>
          <a:ln>
            <a:noFill/>
          </a:ln>
        </p:spPr>
        <p:txBody>
          <a:bodyPr wrap="square" lIns="0" tIns="0" rIns="0" bIns="0" rtlCol="0" anchor="ctr">
            <a:normAutofit/>
          </a:bodyPr>
          <a:lstStyle/>
          <a:p>
            <a:pPr marL="0" indent="0">
              <a:buNone/>
            </a:pPr>
            <a:r>
              <a:rPr lang="en-US" sz="1000" dirty="0">
                <a:solidFill>
                  <a:srgbClr val="1F2933"/>
                </a:solidFill>
              </a:rPr>
              <a:t>Other</a:t>
            </a:r>
            <a:endParaRPr lang="en-US" sz="1000" dirty="0"/>
          </a:p>
        </p:txBody>
      </p:sp>
      <p:sp>
        <p:nvSpPr>
          <p:cNvPr id="22" name="Shape 20"/>
          <p:cNvSpPr/>
          <p:nvPr/>
        </p:nvSpPr>
        <p:spPr>
          <a:xfrm>
            <a:off x="3383280" y="4032504"/>
            <a:ext cx="2057400" cy="393192"/>
          </a:xfrm>
          <a:prstGeom prst="rect">
            <a:avLst/>
          </a:prstGeom>
          <a:solidFill>
            <a:srgbClr val="F7F1E8"/>
          </a:solidFill>
          <a:ln w="12700">
            <a:solidFill>
              <a:srgbClr val="E3D8CC"/>
            </a:solidFill>
            <a:prstDash val="solid"/>
          </a:ln>
        </p:spPr>
        <p:txBody>
          <a:bodyPr/>
          <a:lstStyle/>
          <a:p>
            <a:endParaRPr/>
          </a:p>
        </p:txBody>
      </p:sp>
      <p:sp>
        <p:nvSpPr>
          <p:cNvPr id="23" name="Shape 21"/>
          <p:cNvSpPr/>
          <p:nvPr/>
        </p:nvSpPr>
        <p:spPr>
          <a:xfrm>
            <a:off x="3383280" y="4032504"/>
            <a:ext cx="331839" cy="393192"/>
          </a:xfrm>
          <a:prstGeom prst="rect">
            <a:avLst/>
          </a:prstGeom>
          <a:solidFill>
            <a:srgbClr val="B1453A"/>
          </a:solidFill>
          <a:ln w="12700">
            <a:solidFill>
              <a:srgbClr val="E3D8CC"/>
            </a:solidFill>
            <a:prstDash val="solid"/>
          </a:ln>
        </p:spPr>
        <p:txBody>
          <a:bodyPr/>
          <a:lstStyle/>
          <a:p>
            <a:endParaRPr/>
          </a:p>
        </p:txBody>
      </p:sp>
      <p:sp>
        <p:nvSpPr>
          <p:cNvPr id="24" name="Text 22"/>
          <p:cNvSpPr/>
          <p:nvPr/>
        </p:nvSpPr>
        <p:spPr>
          <a:xfrm>
            <a:off x="5513832" y="3968496"/>
            <a:ext cx="457200" cy="539496"/>
          </a:xfrm>
          <a:prstGeom prst="rect">
            <a:avLst/>
          </a:prstGeom>
          <a:noFill/>
          <a:ln>
            <a:noFill/>
          </a:ln>
        </p:spPr>
        <p:txBody>
          <a:bodyPr wrap="square" lIns="0" tIns="0" rIns="0" bIns="0" rtlCol="0" anchor="ctr"/>
          <a:lstStyle/>
          <a:p>
            <a:pPr marL="0" indent="0" algn="r">
              <a:buNone/>
            </a:pPr>
            <a:r>
              <a:rPr lang="en-US" sz="1050" b="1" dirty="0">
                <a:solidFill>
                  <a:srgbClr val="1F2933"/>
                </a:solidFill>
              </a:rPr>
              <a:t>5</a:t>
            </a:r>
            <a:endParaRPr lang="en-US" sz="1050" dirty="0"/>
          </a:p>
        </p:txBody>
      </p:sp>
      <p:sp>
        <p:nvSpPr>
          <p:cNvPr id="25" name="Text 23"/>
          <p:cNvSpPr/>
          <p:nvPr/>
        </p:nvSpPr>
        <p:spPr>
          <a:xfrm>
            <a:off x="6309360" y="1389888"/>
            <a:ext cx="4572000" cy="201168"/>
          </a:xfrm>
          <a:prstGeom prst="rect">
            <a:avLst/>
          </a:prstGeom>
          <a:noFill/>
          <a:ln>
            <a:noFill/>
          </a:ln>
        </p:spPr>
        <p:txBody>
          <a:bodyPr wrap="square" lIns="0" tIns="0" rIns="0" bIns="0" rtlCol="0" anchor="ctr"/>
          <a:lstStyle/>
          <a:p>
            <a:pPr marL="0" indent="0">
              <a:buNone/>
            </a:pPr>
            <a:r>
              <a:rPr lang="en-US" sz="1150" b="1" dirty="0">
                <a:solidFill>
                  <a:srgbClr val="1F2933"/>
                </a:solidFill>
              </a:rPr>
              <a:t>Expériences déjà observées</a:t>
            </a:r>
            <a:endParaRPr lang="en-US" sz="1150" dirty="0"/>
          </a:p>
        </p:txBody>
      </p:sp>
      <p:sp>
        <p:nvSpPr>
          <p:cNvPr id="26" name="Text 24"/>
          <p:cNvSpPr/>
          <p:nvPr/>
        </p:nvSpPr>
        <p:spPr>
          <a:xfrm>
            <a:off x="6309360" y="1664208"/>
            <a:ext cx="2331720" cy="505206"/>
          </a:xfrm>
          <a:prstGeom prst="rect">
            <a:avLst/>
          </a:prstGeom>
          <a:noFill/>
          <a:ln>
            <a:noFill/>
          </a:ln>
        </p:spPr>
        <p:txBody>
          <a:bodyPr wrap="square" lIns="0" tIns="0" rIns="0" bIns="0" rtlCol="0" anchor="ctr">
            <a:normAutofit/>
          </a:bodyPr>
          <a:lstStyle/>
          <a:p>
            <a:pPr marL="0" indent="0">
              <a:buNone/>
            </a:pPr>
            <a:r>
              <a:rPr lang="en-US" sz="980" dirty="0">
                <a:solidFill>
                  <a:srgbClr val="1F2933"/>
                </a:solidFill>
              </a:rPr>
              <a:t>incorrect info /</a:t>
            </a:r>
            <a:endParaRPr lang="en-US" sz="980" dirty="0"/>
          </a:p>
          <a:p>
            <a:pPr marL="0" indent="0">
              <a:buNone/>
            </a:pPr>
            <a:r>
              <a:rPr lang="en-US" sz="980" dirty="0">
                <a:solidFill>
                  <a:srgbClr val="1F2933"/>
                </a:solidFill>
              </a:rPr>
              <a:t>hallucination</a:t>
            </a:r>
            <a:endParaRPr lang="en-US" sz="980" dirty="0"/>
          </a:p>
        </p:txBody>
      </p:sp>
      <p:sp>
        <p:nvSpPr>
          <p:cNvPr id="27" name="Shape 25"/>
          <p:cNvSpPr/>
          <p:nvPr/>
        </p:nvSpPr>
        <p:spPr>
          <a:xfrm>
            <a:off x="8750808" y="1728216"/>
            <a:ext cx="1554480" cy="377190"/>
          </a:xfrm>
          <a:prstGeom prst="rect">
            <a:avLst/>
          </a:prstGeom>
          <a:solidFill>
            <a:srgbClr val="F7F1E8"/>
          </a:solidFill>
          <a:ln w="12700">
            <a:solidFill>
              <a:srgbClr val="E3D8CC"/>
            </a:solidFill>
            <a:prstDash val="solid"/>
          </a:ln>
        </p:spPr>
        <p:txBody>
          <a:bodyPr/>
          <a:lstStyle/>
          <a:p>
            <a:endParaRPr/>
          </a:p>
        </p:txBody>
      </p:sp>
      <p:sp>
        <p:nvSpPr>
          <p:cNvPr id="28" name="Shape 26"/>
          <p:cNvSpPr/>
          <p:nvPr/>
        </p:nvSpPr>
        <p:spPr>
          <a:xfrm>
            <a:off x="8750808" y="1728216"/>
            <a:ext cx="1554480" cy="377190"/>
          </a:xfrm>
          <a:prstGeom prst="rect">
            <a:avLst/>
          </a:prstGeom>
          <a:solidFill>
            <a:srgbClr val="B07A1A"/>
          </a:solidFill>
          <a:ln w="12700">
            <a:solidFill>
              <a:srgbClr val="E3D8CC"/>
            </a:solidFill>
            <a:prstDash val="solid"/>
          </a:ln>
        </p:spPr>
        <p:txBody>
          <a:bodyPr/>
          <a:lstStyle/>
          <a:p>
            <a:endParaRPr/>
          </a:p>
        </p:txBody>
      </p:sp>
      <p:sp>
        <p:nvSpPr>
          <p:cNvPr id="29" name="Text 27"/>
          <p:cNvSpPr/>
          <p:nvPr/>
        </p:nvSpPr>
        <p:spPr>
          <a:xfrm>
            <a:off x="10378440" y="1664208"/>
            <a:ext cx="457200" cy="523494"/>
          </a:xfrm>
          <a:prstGeom prst="rect">
            <a:avLst/>
          </a:prstGeom>
          <a:noFill/>
          <a:ln>
            <a:noFill/>
          </a:ln>
        </p:spPr>
        <p:txBody>
          <a:bodyPr wrap="square" lIns="0" tIns="0" rIns="0" bIns="0" rtlCol="0" anchor="ctr"/>
          <a:lstStyle/>
          <a:p>
            <a:pPr marL="0" indent="0" algn="r">
              <a:buNone/>
            </a:pPr>
            <a:r>
              <a:rPr lang="en-US" sz="1050" b="1" dirty="0">
                <a:solidFill>
                  <a:srgbClr val="1F2933"/>
                </a:solidFill>
              </a:rPr>
              <a:t>31</a:t>
            </a:r>
            <a:endParaRPr lang="en-US" sz="1050" dirty="0"/>
          </a:p>
        </p:txBody>
      </p:sp>
      <p:sp>
        <p:nvSpPr>
          <p:cNvPr id="30" name="Text 28"/>
          <p:cNvSpPr/>
          <p:nvPr/>
        </p:nvSpPr>
        <p:spPr>
          <a:xfrm>
            <a:off x="6309360" y="2224278"/>
            <a:ext cx="2331720" cy="505206"/>
          </a:xfrm>
          <a:prstGeom prst="rect">
            <a:avLst/>
          </a:prstGeom>
          <a:noFill/>
          <a:ln>
            <a:noFill/>
          </a:ln>
        </p:spPr>
        <p:txBody>
          <a:bodyPr wrap="square" lIns="0" tIns="0" rIns="0" bIns="0" rtlCol="0" anchor="ctr">
            <a:normAutofit/>
          </a:bodyPr>
          <a:lstStyle/>
          <a:p>
            <a:pPr marL="0" indent="0">
              <a:buNone/>
            </a:pPr>
            <a:r>
              <a:rPr lang="en-US" sz="980" dirty="0">
                <a:solidFill>
                  <a:srgbClr val="1F2933"/>
                </a:solidFill>
              </a:rPr>
              <a:t>Aucun problème déclaré</a:t>
            </a:r>
            <a:endParaRPr lang="en-US" sz="980" dirty="0"/>
          </a:p>
        </p:txBody>
      </p:sp>
      <p:sp>
        <p:nvSpPr>
          <p:cNvPr id="31" name="Shape 29"/>
          <p:cNvSpPr/>
          <p:nvPr/>
        </p:nvSpPr>
        <p:spPr>
          <a:xfrm>
            <a:off x="8750808" y="2288286"/>
            <a:ext cx="1554480" cy="377190"/>
          </a:xfrm>
          <a:prstGeom prst="rect">
            <a:avLst/>
          </a:prstGeom>
          <a:solidFill>
            <a:srgbClr val="F7F1E8"/>
          </a:solidFill>
          <a:ln w="12700">
            <a:solidFill>
              <a:srgbClr val="E3D8CC"/>
            </a:solidFill>
            <a:prstDash val="solid"/>
          </a:ln>
        </p:spPr>
        <p:txBody>
          <a:bodyPr/>
          <a:lstStyle/>
          <a:p>
            <a:endParaRPr/>
          </a:p>
        </p:txBody>
      </p:sp>
      <p:sp>
        <p:nvSpPr>
          <p:cNvPr id="32" name="Shape 30"/>
          <p:cNvSpPr/>
          <p:nvPr/>
        </p:nvSpPr>
        <p:spPr>
          <a:xfrm>
            <a:off x="8750808" y="2288286"/>
            <a:ext cx="1303757" cy="377190"/>
          </a:xfrm>
          <a:prstGeom prst="rect">
            <a:avLst/>
          </a:prstGeom>
          <a:solidFill>
            <a:srgbClr val="B07A1A"/>
          </a:solidFill>
          <a:ln w="12700">
            <a:solidFill>
              <a:srgbClr val="E3D8CC"/>
            </a:solidFill>
            <a:prstDash val="solid"/>
          </a:ln>
        </p:spPr>
        <p:txBody>
          <a:bodyPr/>
          <a:lstStyle/>
          <a:p>
            <a:endParaRPr/>
          </a:p>
        </p:txBody>
      </p:sp>
      <p:sp>
        <p:nvSpPr>
          <p:cNvPr id="33" name="Text 31"/>
          <p:cNvSpPr/>
          <p:nvPr/>
        </p:nvSpPr>
        <p:spPr>
          <a:xfrm>
            <a:off x="10378440" y="2224278"/>
            <a:ext cx="457200" cy="523494"/>
          </a:xfrm>
          <a:prstGeom prst="rect">
            <a:avLst/>
          </a:prstGeom>
          <a:noFill/>
          <a:ln>
            <a:noFill/>
          </a:ln>
        </p:spPr>
        <p:txBody>
          <a:bodyPr wrap="square" lIns="0" tIns="0" rIns="0" bIns="0" rtlCol="0" anchor="ctr"/>
          <a:lstStyle/>
          <a:p>
            <a:pPr marL="0" indent="0" algn="r">
              <a:buNone/>
            </a:pPr>
            <a:r>
              <a:rPr lang="en-US" sz="1050" b="1" dirty="0">
                <a:solidFill>
                  <a:srgbClr val="1F2933"/>
                </a:solidFill>
              </a:rPr>
              <a:t>26</a:t>
            </a:r>
            <a:endParaRPr lang="en-US" sz="1050" dirty="0"/>
          </a:p>
        </p:txBody>
      </p:sp>
      <p:sp>
        <p:nvSpPr>
          <p:cNvPr id="34" name="Text 32"/>
          <p:cNvSpPr/>
          <p:nvPr/>
        </p:nvSpPr>
        <p:spPr>
          <a:xfrm>
            <a:off x="6309360" y="2784348"/>
            <a:ext cx="2331720" cy="505206"/>
          </a:xfrm>
          <a:prstGeom prst="rect">
            <a:avLst/>
          </a:prstGeom>
          <a:noFill/>
          <a:ln>
            <a:noFill/>
          </a:ln>
        </p:spPr>
        <p:txBody>
          <a:bodyPr wrap="square" lIns="0" tIns="0" rIns="0" bIns="0" rtlCol="0" anchor="ctr">
            <a:normAutofit/>
          </a:bodyPr>
          <a:lstStyle/>
          <a:p>
            <a:pPr marL="0" indent="0">
              <a:buNone/>
            </a:pPr>
            <a:r>
              <a:rPr lang="en-US" sz="980" dirty="0">
                <a:solidFill>
                  <a:srgbClr val="1F2933"/>
                </a:solidFill>
              </a:rPr>
              <a:t>other</a:t>
            </a:r>
            <a:endParaRPr lang="en-US" sz="980" dirty="0"/>
          </a:p>
        </p:txBody>
      </p:sp>
      <p:sp>
        <p:nvSpPr>
          <p:cNvPr id="35" name="Shape 33"/>
          <p:cNvSpPr/>
          <p:nvPr/>
        </p:nvSpPr>
        <p:spPr>
          <a:xfrm>
            <a:off x="8750808" y="2848356"/>
            <a:ext cx="1554480" cy="377190"/>
          </a:xfrm>
          <a:prstGeom prst="rect">
            <a:avLst/>
          </a:prstGeom>
          <a:solidFill>
            <a:srgbClr val="F7F1E8"/>
          </a:solidFill>
          <a:ln w="12700">
            <a:solidFill>
              <a:srgbClr val="E3D8CC"/>
            </a:solidFill>
            <a:prstDash val="solid"/>
          </a:ln>
        </p:spPr>
        <p:txBody>
          <a:bodyPr/>
          <a:lstStyle/>
          <a:p>
            <a:endParaRPr/>
          </a:p>
        </p:txBody>
      </p:sp>
      <p:sp>
        <p:nvSpPr>
          <p:cNvPr id="36" name="Shape 34"/>
          <p:cNvSpPr/>
          <p:nvPr/>
        </p:nvSpPr>
        <p:spPr>
          <a:xfrm>
            <a:off x="8750808" y="2848356"/>
            <a:ext cx="150434" cy="377190"/>
          </a:xfrm>
          <a:prstGeom prst="rect">
            <a:avLst/>
          </a:prstGeom>
          <a:solidFill>
            <a:srgbClr val="B07A1A"/>
          </a:solidFill>
          <a:ln w="12700">
            <a:solidFill>
              <a:srgbClr val="E3D8CC"/>
            </a:solidFill>
            <a:prstDash val="solid"/>
          </a:ln>
        </p:spPr>
        <p:txBody>
          <a:bodyPr/>
          <a:lstStyle/>
          <a:p>
            <a:endParaRPr/>
          </a:p>
        </p:txBody>
      </p:sp>
      <p:sp>
        <p:nvSpPr>
          <p:cNvPr id="37" name="Text 35"/>
          <p:cNvSpPr/>
          <p:nvPr/>
        </p:nvSpPr>
        <p:spPr>
          <a:xfrm>
            <a:off x="10378440" y="2784348"/>
            <a:ext cx="457200" cy="523494"/>
          </a:xfrm>
          <a:prstGeom prst="rect">
            <a:avLst/>
          </a:prstGeom>
          <a:noFill/>
          <a:ln>
            <a:noFill/>
          </a:ln>
        </p:spPr>
        <p:txBody>
          <a:bodyPr wrap="square" lIns="0" tIns="0" rIns="0" bIns="0" rtlCol="0" anchor="ctr"/>
          <a:lstStyle/>
          <a:p>
            <a:pPr marL="0" indent="0" algn="r">
              <a:buNone/>
            </a:pPr>
            <a:r>
              <a:rPr lang="en-US" sz="1050" b="1" dirty="0">
                <a:solidFill>
                  <a:srgbClr val="1F2933"/>
                </a:solidFill>
              </a:rPr>
              <a:t>3</a:t>
            </a:r>
            <a:endParaRPr lang="en-US" sz="1050" dirty="0"/>
          </a:p>
        </p:txBody>
      </p:sp>
      <p:sp>
        <p:nvSpPr>
          <p:cNvPr id="38" name="Text 36"/>
          <p:cNvSpPr/>
          <p:nvPr/>
        </p:nvSpPr>
        <p:spPr>
          <a:xfrm>
            <a:off x="6309360" y="3344418"/>
            <a:ext cx="2331720" cy="505206"/>
          </a:xfrm>
          <a:prstGeom prst="rect">
            <a:avLst/>
          </a:prstGeom>
          <a:noFill/>
          <a:ln>
            <a:noFill/>
          </a:ln>
        </p:spPr>
        <p:txBody>
          <a:bodyPr wrap="square" lIns="0" tIns="0" rIns="0" bIns="0" rtlCol="0" anchor="ctr">
            <a:normAutofit/>
          </a:bodyPr>
          <a:lstStyle/>
          <a:p>
            <a:pPr marL="0" indent="0">
              <a:buNone/>
            </a:pPr>
            <a:r>
              <a:rPr lang="en-US" sz="980" dirty="0">
                <a:solidFill>
                  <a:srgbClr val="1F2933"/>
                </a:solidFill>
              </a:rPr>
              <a:t>inappropriate tone /</a:t>
            </a:r>
            <a:endParaRPr lang="en-US" sz="980" dirty="0"/>
          </a:p>
          <a:p>
            <a:pPr marL="0" indent="0">
              <a:buNone/>
            </a:pPr>
            <a:r>
              <a:rPr lang="en-US" sz="980" dirty="0">
                <a:solidFill>
                  <a:srgbClr val="1F2933"/>
                </a:solidFill>
              </a:rPr>
              <a:t>relationship risk</a:t>
            </a:r>
            <a:endParaRPr lang="en-US" sz="980" dirty="0"/>
          </a:p>
        </p:txBody>
      </p:sp>
      <p:sp>
        <p:nvSpPr>
          <p:cNvPr id="39" name="Shape 37"/>
          <p:cNvSpPr/>
          <p:nvPr/>
        </p:nvSpPr>
        <p:spPr>
          <a:xfrm>
            <a:off x="8750808" y="3408426"/>
            <a:ext cx="1554480" cy="377190"/>
          </a:xfrm>
          <a:prstGeom prst="rect">
            <a:avLst/>
          </a:prstGeom>
          <a:solidFill>
            <a:srgbClr val="F7F1E8"/>
          </a:solidFill>
          <a:ln w="12700">
            <a:solidFill>
              <a:srgbClr val="E3D8CC"/>
            </a:solidFill>
            <a:prstDash val="solid"/>
          </a:ln>
        </p:spPr>
        <p:txBody>
          <a:bodyPr/>
          <a:lstStyle/>
          <a:p>
            <a:endParaRPr/>
          </a:p>
        </p:txBody>
      </p:sp>
      <p:sp>
        <p:nvSpPr>
          <p:cNvPr id="40" name="Shape 38"/>
          <p:cNvSpPr/>
          <p:nvPr/>
        </p:nvSpPr>
        <p:spPr>
          <a:xfrm>
            <a:off x="8750808" y="3408426"/>
            <a:ext cx="150434" cy="377190"/>
          </a:xfrm>
          <a:prstGeom prst="rect">
            <a:avLst/>
          </a:prstGeom>
          <a:solidFill>
            <a:srgbClr val="B07A1A"/>
          </a:solidFill>
          <a:ln w="12700">
            <a:solidFill>
              <a:srgbClr val="E3D8CC"/>
            </a:solidFill>
            <a:prstDash val="solid"/>
          </a:ln>
        </p:spPr>
        <p:txBody>
          <a:bodyPr/>
          <a:lstStyle/>
          <a:p>
            <a:endParaRPr/>
          </a:p>
        </p:txBody>
      </p:sp>
      <p:sp>
        <p:nvSpPr>
          <p:cNvPr id="41" name="Text 39"/>
          <p:cNvSpPr/>
          <p:nvPr/>
        </p:nvSpPr>
        <p:spPr>
          <a:xfrm>
            <a:off x="10378440" y="3344418"/>
            <a:ext cx="457200" cy="523494"/>
          </a:xfrm>
          <a:prstGeom prst="rect">
            <a:avLst/>
          </a:prstGeom>
          <a:noFill/>
          <a:ln>
            <a:noFill/>
          </a:ln>
        </p:spPr>
        <p:txBody>
          <a:bodyPr wrap="square" lIns="0" tIns="0" rIns="0" bIns="0" rtlCol="0" anchor="ctr"/>
          <a:lstStyle/>
          <a:p>
            <a:pPr marL="0" indent="0" algn="r">
              <a:buNone/>
            </a:pPr>
            <a:r>
              <a:rPr lang="en-US" sz="1050" b="1" dirty="0">
                <a:solidFill>
                  <a:srgbClr val="1F2933"/>
                </a:solidFill>
              </a:rPr>
              <a:t>3</a:t>
            </a:r>
            <a:endParaRPr lang="en-US" sz="1050" dirty="0"/>
          </a:p>
        </p:txBody>
      </p:sp>
      <p:sp>
        <p:nvSpPr>
          <p:cNvPr id="42" name="Shape 40"/>
          <p:cNvSpPr/>
          <p:nvPr/>
        </p:nvSpPr>
        <p:spPr>
          <a:xfrm>
            <a:off x="6309360" y="4160520"/>
            <a:ext cx="4572000" cy="960120"/>
          </a:xfrm>
          <a:prstGeom prst="roundRect">
            <a:avLst>
              <a:gd name="adj" fmla="val 2857"/>
            </a:avLst>
          </a:prstGeom>
          <a:solidFill>
            <a:srgbClr val="F8ECEA"/>
          </a:solidFill>
          <a:ln w="12700">
            <a:solidFill>
              <a:srgbClr val="E3D8CC"/>
            </a:solidFill>
            <a:prstDash val="solid"/>
          </a:ln>
        </p:spPr>
        <p:txBody>
          <a:bodyPr/>
          <a:lstStyle/>
          <a:p>
            <a:endParaRPr/>
          </a:p>
        </p:txBody>
      </p:sp>
      <p:sp>
        <p:nvSpPr>
          <p:cNvPr id="43" name="Text 41"/>
          <p:cNvSpPr/>
          <p:nvPr/>
        </p:nvSpPr>
        <p:spPr>
          <a:xfrm>
            <a:off x="6510528" y="4370832"/>
            <a:ext cx="2377440" cy="182880"/>
          </a:xfrm>
          <a:prstGeom prst="rect">
            <a:avLst/>
          </a:prstGeom>
          <a:noFill/>
          <a:ln>
            <a:noFill/>
          </a:ln>
        </p:spPr>
        <p:txBody>
          <a:bodyPr wrap="square" lIns="0" tIns="0" rIns="0" bIns="0" rtlCol="0" anchor="ctr"/>
          <a:lstStyle/>
          <a:p>
            <a:pPr marL="0" indent="0">
              <a:buNone/>
            </a:pPr>
            <a:r>
              <a:rPr lang="en-US" sz="1140" b="1" dirty="0">
                <a:solidFill>
                  <a:srgbClr val="B1453A"/>
                </a:solidFill>
              </a:rPr>
              <a:t>Exposition sensible déjà visible</a:t>
            </a:r>
            <a:endParaRPr lang="en-US" sz="1140" dirty="0"/>
          </a:p>
        </p:txBody>
      </p:sp>
      <p:sp>
        <p:nvSpPr>
          <p:cNvPr id="44" name="Text 42"/>
          <p:cNvSpPr/>
          <p:nvPr/>
        </p:nvSpPr>
        <p:spPr>
          <a:xfrm>
            <a:off x="6510528" y="4645152"/>
            <a:ext cx="4133088" cy="201168"/>
          </a:xfrm>
          <a:prstGeom prst="rect">
            <a:avLst/>
          </a:prstGeom>
          <a:noFill/>
          <a:ln>
            <a:noFill/>
          </a:ln>
        </p:spPr>
        <p:txBody>
          <a:bodyPr wrap="square" lIns="0" tIns="0" rIns="0" bIns="0" rtlCol="0" anchor="ctr"/>
          <a:lstStyle/>
          <a:p>
            <a:pPr marL="0" indent="0">
              <a:buNone/>
            </a:pPr>
            <a:r>
              <a:rPr lang="en-US" sz="1180" dirty="0">
                <a:solidFill>
                  <a:srgbClr val="1F2933"/>
                </a:solidFill>
              </a:rPr>
              <a:t>4 répondants déclarent un usage sur données personnelles et 1 sur information confidentielle.</a:t>
            </a:r>
            <a:endParaRPr lang="en-US" sz="1180" dirty="0"/>
          </a:p>
        </p:txBody>
      </p:sp>
      <p:sp>
        <p:nvSpPr>
          <p:cNvPr id="45" name="Shape 43"/>
          <p:cNvSpPr/>
          <p:nvPr/>
        </p:nvSpPr>
        <p:spPr>
          <a:xfrm>
            <a:off x="713232" y="4800600"/>
            <a:ext cx="5303520" cy="658368"/>
          </a:xfrm>
          <a:prstGeom prst="roundRect">
            <a:avLst>
              <a:gd name="adj" fmla="val 4167"/>
            </a:avLst>
          </a:prstGeom>
          <a:solidFill>
            <a:srgbClr val="FFFFFF"/>
          </a:solidFill>
          <a:ln w="12700">
            <a:solidFill>
              <a:srgbClr val="E3D8CC"/>
            </a:solidFill>
            <a:prstDash val="solid"/>
          </a:ln>
        </p:spPr>
        <p:txBody>
          <a:bodyPr/>
          <a:lstStyle/>
          <a:p>
            <a:endParaRPr/>
          </a:p>
        </p:txBody>
      </p:sp>
      <p:sp>
        <p:nvSpPr>
          <p:cNvPr id="46" name="Text 44"/>
          <p:cNvSpPr/>
          <p:nvPr/>
        </p:nvSpPr>
        <p:spPr>
          <a:xfrm>
            <a:off x="914400" y="4974336"/>
            <a:ext cx="4800600" cy="256032"/>
          </a:xfrm>
          <a:prstGeom prst="rect">
            <a:avLst/>
          </a:prstGeom>
          <a:noFill/>
          <a:ln>
            <a:noFill/>
          </a:ln>
        </p:spPr>
        <p:txBody>
          <a:bodyPr wrap="square" lIns="0" tIns="0" rIns="0" bIns="0" rtlCol="0" anchor="ctr">
            <a:normAutofit fontScale="85000" lnSpcReduction="10000"/>
          </a:bodyPr>
          <a:lstStyle/>
          <a:p>
            <a:pPr marL="0" indent="0">
              <a:buNone/>
            </a:pPr>
            <a:r>
              <a:rPr lang="en-US" sz="1100" dirty="0">
                <a:solidFill>
                  <a:srgbClr val="1F2933"/>
                </a:solidFill>
              </a:rPr>
              <a:t>Message de pilotage — le statu quo ne réduit pas le risque ; il laisse se développer des usages sans règles, sans données autorisées / interdites et sans exigence de validation humaine.</a:t>
            </a:r>
            <a:endParaRPr lang="en-US" sz="1100" dirty="0"/>
          </a:p>
        </p:txBody>
      </p:sp>
      <p:sp>
        <p:nvSpPr>
          <p:cNvPr id="47" name="TextBox 46"/>
          <p:cNvSpPr txBox="1"/>
          <p:nvPr/>
        </p:nvSpPr>
        <p:spPr>
          <a:xfrm>
            <a:off x="11292840" y="6455664"/>
            <a:ext cx="502920" cy="182880"/>
          </a:xfrm>
          <a:prstGeom prst="rect">
            <a:avLst/>
          </a:prstGeom>
          <a:noFill/>
          <a:ln>
            <a:noFill/>
          </a:ln>
        </p:spPr>
        <p:txBody>
          <a:bodyPr wrap="none">
            <a:spAutoFit/>
          </a:bodyPr>
          <a:lstStyle/>
          <a:p>
            <a:pPr algn="r">
              <a:defRPr sz="1000">
                <a:solidFill>
                  <a:srgbClr val="27333F"/>
                </a:solidFill>
                <a:latin typeface="Aptos"/>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F4"/>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438912"/>
          </a:xfrm>
          <a:prstGeom prst="rect">
            <a:avLst/>
          </a:prstGeom>
          <a:noFill/>
          <a:ln>
            <a:noFill/>
          </a:ln>
        </p:spPr>
        <p:txBody>
          <a:bodyPr wrap="square" lIns="0" tIns="0" rIns="0" bIns="0" rtlCol="0" anchor="ctr"/>
          <a:lstStyle/>
          <a:p>
            <a:pPr marL="0" indent="0">
              <a:buNone/>
            </a:pPr>
            <a:r>
              <a:rPr lang="en-US" sz="2400" b="1" dirty="0">
                <a:solidFill>
                  <a:srgbClr val="1F2933"/>
                </a:solidFill>
                <a:latin typeface="Aptos Display" pitchFamily="34" charset="0"/>
                <a:ea typeface="Aptos Display" pitchFamily="34" charset="-122"/>
                <a:cs typeface="Aptos Display" pitchFamily="34" charset="-120"/>
              </a:rPr>
              <a:t>Les demandes métiers convergent vers trois priorités 2026 à lancer rapidement</a:t>
            </a:r>
            <a:endParaRPr lang="en-US" sz="2400" dirty="0"/>
          </a:p>
        </p:txBody>
      </p:sp>
      <p:sp>
        <p:nvSpPr>
          <p:cNvPr id="3" name="Text 1"/>
          <p:cNvSpPr/>
          <p:nvPr/>
        </p:nvSpPr>
        <p:spPr>
          <a:xfrm>
            <a:off x="658368" y="896112"/>
            <a:ext cx="10241280" cy="256032"/>
          </a:xfrm>
          <a:prstGeom prst="rect">
            <a:avLst/>
          </a:prstGeom>
          <a:noFill/>
          <a:ln>
            <a:noFill/>
          </a:ln>
        </p:spPr>
        <p:txBody>
          <a:bodyPr wrap="square" lIns="0" tIns="0" rIns="0" bIns="0" rtlCol="0" anchor="ctr"/>
          <a:lstStyle/>
          <a:p>
            <a:pPr marL="0" indent="0">
              <a:buNone/>
            </a:pPr>
            <a:r>
              <a:rPr lang="en-US" sz="1150" dirty="0">
                <a:solidFill>
                  <a:srgbClr val="8B7D73"/>
                </a:solidFill>
                <a:latin typeface="Aptos" pitchFamily="34" charset="0"/>
                <a:ea typeface="Aptos" pitchFamily="34" charset="-122"/>
                <a:cs typeface="Aptos" pitchFamily="34" charset="-120"/>
              </a:rPr>
              <a:t>Priorisation simple issue des verbatims, des besoins de formation et de la matrice de cadrage</a:t>
            </a:r>
            <a:endParaRPr lang="en-US" sz="1150" dirty="0"/>
          </a:p>
        </p:txBody>
      </p:sp>
      <p:sp>
        <p:nvSpPr>
          <p:cNvPr id="4" name="Text 2"/>
          <p:cNvSpPr/>
          <p:nvPr/>
        </p:nvSpPr>
        <p:spPr>
          <a:xfrm>
            <a:off x="713232" y="1408176"/>
            <a:ext cx="4754880" cy="201168"/>
          </a:xfrm>
          <a:prstGeom prst="rect">
            <a:avLst/>
          </a:prstGeom>
          <a:noFill/>
          <a:ln>
            <a:noFill/>
          </a:ln>
        </p:spPr>
        <p:txBody>
          <a:bodyPr wrap="square" lIns="0" tIns="0" rIns="0" bIns="0" rtlCol="0" anchor="ctr"/>
          <a:lstStyle/>
          <a:p>
            <a:pPr marL="0" indent="0">
              <a:buNone/>
            </a:pPr>
            <a:r>
              <a:rPr lang="en-US" sz="1150" b="1" dirty="0">
                <a:solidFill>
                  <a:srgbClr val="1F2933"/>
                </a:solidFill>
              </a:rPr>
              <a:t>Score de priorité</a:t>
            </a:r>
            <a:endParaRPr lang="en-US" sz="1150" dirty="0"/>
          </a:p>
        </p:txBody>
      </p:sp>
      <p:sp>
        <p:nvSpPr>
          <p:cNvPr id="5" name="Text 3"/>
          <p:cNvSpPr/>
          <p:nvPr/>
        </p:nvSpPr>
        <p:spPr>
          <a:xfrm>
            <a:off x="713232" y="1682496"/>
            <a:ext cx="2468880" cy="768096"/>
          </a:xfrm>
          <a:prstGeom prst="rect">
            <a:avLst/>
          </a:prstGeom>
          <a:noFill/>
          <a:ln>
            <a:noFill/>
          </a:ln>
        </p:spPr>
        <p:txBody>
          <a:bodyPr wrap="square" lIns="0" tIns="0" rIns="0" bIns="0" rtlCol="0" anchor="ctr">
            <a:normAutofit/>
          </a:bodyPr>
          <a:lstStyle/>
          <a:p>
            <a:pPr marL="0" indent="0">
              <a:buNone/>
            </a:pPr>
            <a:r>
              <a:rPr lang="en-US" sz="1000" dirty="0">
                <a:solidFill>
                  <a:srgbClr val="1F2933"/>
                </a:solidFill>
              </a:rPr>
              <a:t>Knowledge &amp; document workflow</a:t>
            </a:r>
            <a:endParaRPr lang="en-US" sz="1000" dirty="0"/>
          </a:p>
          <a:p>
            <a:pPr marL="0" indent="0">
              <a:buNone/>
            </a:pPr>
            <a:r>
              <a:rPr lang="en-US" sz="1000" dirty="0">
                <a:solidFill>
                  <a:srgbClr val="1F2933"/>
                </a:solidFill>
              </a:rPr>
              <a:t>automation</a:t>
            </a:r>
            <a:endParaRPr lang="en-US" sz="1000" dirty="0"/>
          </a:p>
        </p:txBody>
      </p:sp>
      <p:sp>
        <p:nvSpPr>
          <p:cNvPr id="6" name="Shape 4"/>
          <p:cNvSpPr/>
          <p:nvPr/>
        </p:nvSpPr>
        <p:spPr>
          <a:xfrm>
            <a:off x="3291840" y="1746504"/>
            <a:ext cx="1600200" cy="640080"/>
          </a:xfrm>
          <a:prstGeom prst="rect">
            <a:avLst/>
          </a:prstGeom>
          <a:solidFill>
            <a:srgbClr val="F7F1E8"/>
          </a:solidFill>
          <a:ln w="12700">
            <a:solidFill>
              <a:srgbClr val="E3D8CC"/>
            </a:solidFill>
            <a:prstDash val="solid"/>
          </a:ln>
        </p:spPr>
        <p:txBody>
          <a:bodyPr/>
          <a:lstStyle/>
          <a:p>
            <a:endParaRPr/>
          </a:p>
        </p:txBody>
      </p:sp>
      <p:sp>
        <p:nvSpPr>
          <p:cNvPr id="7" name="Shape 5"/>
          <p:cNvSpPr/>
          <p:nvPr/>
        </p:nvSpPr>
        <p:spPr>
          <a:xfrm>
            <a:off x="3291840" y="1746504"/>
            <a:ext cx="1512189" cy="640080"/>
          </a:xfrm>
          <a:prstGeom prst="rect">
            <a:avLst/>
          </a:prstGeom>
          <a:solidFill>
            <a:srgbClr val="6F8A5C"/>
          </a:solidFill>
          <a:ln w="12700">
            <a:solidFill>
              <a:srgbClr val="E3D8CC"/>
            </a:solidFill>
            <a:prstDash val="solid"/>
          </a:ln>
        </p:spPr>
        <p:txBody>
          <a:bodyPr/>
          <a:lstStyle/>
          <a:p>
            <a:endParaRPr/>
          </a:p>
        </p:txBody>
      </p:sp>
      <p:sp>
        <p:nvSpPr>
          <p:cNvPr id="8" name="Text 6"/>
          <p:cNvSpPr/>
          <p:nvPr/>
        </p:nvSpPr>
        <p:spPr>
          <a:xfrm>
            <a:off x="4965192" y="1682496"/>
            <a:ext cx="457200" cy="786384"/>
          </a:xfrm>
          <a:prstGeom prst="rect">
            <a:avLst/>
          </a:prstGeom>
          <a:noFill/>
          <a:ln>
            <a:noFill/>
          </a:ln>
        </p:spPr>
        <p:txBody>
          <a:bodyPr wrap="square" lIns="0" tIns="0" rIns="0" bIns="0" rtlCol="0" anchor="ctr"/>
          <a:lstStyle/>
          <a:p>
            <a:pPr marL="0" indent="0" algn="r">
              <a:buNone/>
            </a:pPr>
            <a:r>
              <a:rPr lang="en-US" sz="1050" b="1" dirty="0">
                <a:solidFill>
                  <a:srgbClr val="1F2933"/>
                </a:solidFill>
              </a:rPr>
              <a:t>94.5</a:t>
            </a:r>
            <a:endParaRPr lang="en-US" sz="1050" dirty="0"/>
          </a:p>
        </p:txBody>
      </p:sp>
      <p:sp>
        <p:nvSpPr>
          <p:cNvPr id="9" name="Text 7"/>
          <p:cNvSpPr/>
          <p:nvPr/>
        </p:nvSpPr>
        <p:spPr>
          <a:xfrm>
            <a:off x="713232" y="2505456"/>
            <a:ext cx="2468880" cy="768096"/>
          </a:xfrm>
          <a:prstGeom prst="rect">
            <a:avLst/>
          </a:prstGeom>
          <a:noFill/>
          <a:ln>
            <a:noFill/>
          </a:ln>
        </p:spPr>
        <p:txBody>
          <a:bodyPr wrap="square" lIns="0" tIns="0" rIns="0" bIns="0" rtlCol="0" anchor="ctr">
            <a:normAutofit/>
          </a:bodyPr>
          <a:lstStyle/>
          <a:p>
            <a:pPr marL="0" indent="0">
              <a:buNone/>
            </a:pPr>
            <a:r>
              <a:rPr lang="en-US" sz="1000" dirty="0">
                <a:solidFill>
                  <a:srgbClr val="1F2933"/>
                </a:solidFill>
              </a:rPr>
              <a:t>Commercial effectiveness &amp;</a:t>
            </a:r>
            <a:endParaRPr lang="en-US" sz="1000" dirty="0"/>
          </a:p>
          <a:p>
            <a:pPr marL="0" indent="0">
              <a:buNone/>
            </a:pPr>
            <a:r>
              <a:rPr lang="en-US" sz="1000" dirty="0">
                <a:solidFill>
                  <a:srgbClr val="1F2933"/>
                </a:solidFill>
              </a:rPr>
              <a:t>customer intelligence</a:t>
            </a:r>
            <a:endParaRPr lang="en-US" sz="1000" dirty="0"/>
          </a:p>
        </p:txBody>
      </p:sp>
      <p:sp>
        <p:nvSpPr>
          <p:cNvPr id="10" name="Shape 8"/>
          <p:cNvSpPr/>
          <p:nvPr/>
        </p:nvSpPr>
        <p:spPr>
          <a:xfrm>
            <a:off x="3291840" y="2569464"/>
            <a:ext cx="1600200" cy="640080"/>
          </a:xfrm>
          <a:prstGeom prst="rect">
            <a:avLst/>
          </a:prstGeom>
          <a:solidFill>
            <a:srgbClr val="F7F1E8"/>
          </a:solidFill>
          <a:ln w="12700">
            <a:solidFill>
              <a:srgbClr val="E3D8CC"/>
            </a:solidFill>
            <a:prstDash val="solid"/>
          </a:ln>
        </p:spPr>
        <p:txBody>
          <a:bodyPr/>
          <a:lstStyle/>
          <a:p>
            <a:endParaRPr/>
          </a:p>
        </p:txBody>
      </p:sp>
      <p:sp>
        <p:nvSpPr>
          <p:cNvPr id="11" name="Shape 9"/>
          <p:cNvSpPr/>
          <p:nvPr/>
        </p:nvSpPr>
        <p:spPr>
          <a:xfrm>
            <a:off x="3291840" y="2569464"/>
            <a:ext cx="1440180" cy="640080"/>
          </a:xfrm>
          <a:prstGeom prst="rect">
            <a:avLst/>
          </a:prstGeom>
          <a:solidFill>
            <a:srgbClr val="6F8A5C"/>
          </a:solidFill>
          <a:ln w="12700">
            <a:solidFill>
              <a:srgbClr val="E3D8CC"/>
            </a:solidFill>
            <a:prstDash val="solid"/>
          </a:ln>
        </p:spPr>
        <p:txBody>
          <a:bodyPr/>
          <a:lstStyle/>
          <a:p>
            <a:endParaRPr/>
          </a:p>
        </p:txBody>
      </p:sp>
      <p:sp>
        <p:nvSpPr>
          <p:cNvPr id="12" name="Text 10"/>
          <p:cNvSpPr/>
          <p:nvPr/>
        </p:nvSpPr>
        <p:spPr>
          <a:xfrm>
            <a:off x="4965192" y="2505456"/>
            <a:ext cx="457200" cy="786384"/>
          </a:xfrm>
          <a:prstGeom prst="rect">
            <a:avLst/>
          </a:prstGeom>
          <a:noFill/>
          <a:ln>
            <a:noFill/>
          </a:ln>
        </p:spPr>
        <p:txBody>
          <a:bodyPr wrap="square" lIns="0" tIns="0" rIns="0" bIns="0" rtlCol="0" anchor="ctr"/>
          <a:lstStyle/>
          <a:p>
            <a:pPr marL="0" indent="0" algn="r">
              <a:buNone/>
            </a:pPr>
            <a:r>
              <a:rPr lang="en-US" sz="1050" b="1" dirty="0">
                <a:solidFill>
                  <a:srgbClr val="1F2933"/>
                </a:solidFill>
              </a:rPr>
              <a:t>90.0</a:t>
            </a:r>
            <a:endParaRPr lang="en-US" sz="1050" dirty="0"/>
          </a:p>
        </p:txBody>
      </p:sp>
      <p:sp>
        <p:nvSpPr>
          <p:cNvPr id="13" name="Text 11"/>
          <p:cNvSpPr/>
          <p:nvPr/>
        </p:nvSpPr>
        <p:spPr>
          <a:xfrm>
            <a:off x="713232" y="3328416"/>
            <a:ext cx="2468880" cy="768096"/>
          </a:xfrm>
          <a:prstGeom prst="rect">
            <a:avLst/>
          </a:prstGeom>
          <a:noFill/>
          <a:ln>
            <a:noFill/>
          </a:ln>
        </p:spPr>
        <p:txBody>
          <a:bodyPr wrap="square" lIns="0" tIns="0" rIns="0" bIns="0" rtlCol="0" anchor="ctr">
            <a:normAutofit/>
          </a:bodyPr>
          <a:lstStyle/>
          <a:p>
            <a:pPr marL="0" indent="0">
              <a:buNone/>
            </a:pPr>
            <a:r>
              <a:rPr lang="en-US" sz="1000" dirty="0">
                <a:solidFill>
                  <a:srgbClr val="1F2933"/>
                </a:solidFill>
              </a:rPr>
              <a:t>Data analysis &amp; decision</a:t>
            </a:r>
            <a:endParaRPr lang="en-US" sz="1000" dirty="0"/>
          </a:p>
          <a:p>
            <a:pPr marL="0" indent="0">
              <a:buNone/>
            </a:pPr>
            <a:r>
              <a:rPr lang="en-US" sz="1000" dirty="0">
                <a:solidFill>
                  <a:srgbClr val="1F2933"/>
                </a:solidFill>
              </a:rPr>
              <a:t>support</a:t>
            </a:r>
            <a:endParaRPr lang="en-US" sz="1000" dirty="0"/>
          </a:p>
        </p:txBody>
      </p:sp>
      <p:sp>
        <p:nvSpPr>
          <p:cNvPr id="14" name="Shape 12"/>
          <p:cNvSpPr/>
          <p:nvPr/>
        </p:nvSpPr>
        <p:spPr>
          <a:xfrm>
            <a:off x="3291840" y="3392424"/>
            <a:ext cx="1600200" cy="640080"/>
          </a:xfrm>
          <a:prstGeom prst="rect">
            <a:avLst/>
          </a:prstGeom>
          <a:solidFill>
            <a:srgbClr val="F7F1E8"/>
          </a:solidFill>
          <a:ln w="12700">
            <a:solidFill>
              <a:srgbClr val="E3D8CC"/>
            </a:solidFill>
            <a:prstDash val="solid"/>
          </a:ln>
        </p:spPr>
        <p:txBody>
          <a:bodyPr/>
          <a:lstStyle/>
          <a:p>
            <a:endParaRPr/>
          </a:p>
        </p:txBody>
      </p:sp>
      <p:sp>
        <p:nvSpPr>
          <p:cNvPr id="15" name="Shape 13"/>
          <p:cNvSpPr/>
          <p:nvPr/>
        </p:nvSpPr>
        <p:spPr>
          <a:xfrm>
            <a:off x="3291840" y="3392424"/>
            <a:ext cx="1092937" cy="640080"/>
          </a:xfrm>
          <a:prstGeom prst="rect">
            <a:avLst/>
          </a:prstGeom>
          <a:solidFill>
            <a:srgbClr val="6F8A5C"/>
          </a:solidFill>
          <a:ln w="12700">
            <a:solidFill>
              <a:srgbClr val="E3D8CC"/>
            </a:solidFill>
            <a:prstDash val="solid"/>
          </a:ln>
        </p:spPr>
        <p:txBody>
          <a:bodyPr/>
          <a:lstStyle/>
          <a:p>
            <a:endParaRPr/>
          </a:p>
        </p:txBody>
      </p:sp>
      <p:sp>
        <p:nvSpPr>
          <p:cNvPr id="16" name="Text 14"/>
          <p:cNvSpPr/>
          <p:nvPr/>
        </p:nvSpPr>
        <p:spPr>
          <a:xfrm>
            <a:off x="4965192" y="3328416"/>
            <a:ext cx="457200" cy="786384"/>
          </a:xfrm>
          <a:prstGeom prst="rect">
            <a:avLst/>
          </a:prstGeom>
          <a:noFill/>
          <a:ln>
            <a:noFill/>
          </a:ln>
        </p:spPr>
        <p:txBody>
          <a:bodyPr wrap="square" lIns="0" tIns="0" rIns="0" bIns="0" rtlCol="0" anchor="ctr"/>
          <a:lstStyle/>
          <a:p>
            <a:pPr marL="0" indent="0" algn="r">
              <a:buNone/>
            </a:pPr>
            <a:r>
              <a:rPr lang="en-US" sz="1050" b="1" dirty="0">
                <a:solidFill>
                  <a:srgbClr val="1F2933"/>
                </a:solidFill>
              </a:rPr>
              <a:t>68.3</a:t>
            </a:r>
            <a:endParaRPr lang="en-US" sz="1050" dirty="0"/>
          </a:p>
        </p:txBody>
      </p:sp>
      <p:sp>
        <p:nvSpPr>
          <p:cNvPr id="17" name="Text 15"/>
          <p:cNvSpPr/>
          <p:nvPr/>
        </p:nvSpPr>
        <p:spPr>
          <a:xfrm>
            <a:off x="713232" y="4151376"/>
            <a:ext cx="2468880" cy="768096"/>
          </a:xfrm>
          <a:prstGeom prst="rect">
            <a:avLst/>
          </a:prstGeom>
          <a:noFill/>
          <a:ln>
            <a:noFill/>
          </a:ln>
        </p:spPr>
        <p:txBody>
          <a:bodyPr wrap="square" lIns="0" tIns="0" rIns="0" bIns="0" rtlCol="0" anchor="ctr">
            <a:normAutofit/>
          </a:bodyPr>
          <a:lstStyle/>
          <a:p>
            <a:pPr marL="0" indent="0">
              <a:buNone/>
            </a:pPr>
            <a:r>
              <a:rPr lang="en-US" sz="1000" dirty="0">
                <a:solidFill>
                  <a:srgbClr val="1F2933"/>
                </a:solidFill>
              </a:rPr>
              <a:t>Product / R&amp;D / formulation</a:t>
            </a:r>
            <a:endParaRPr lang="en-US" sz="1000" dirty="0"/>
          </a:p>
          <a:p>
            <a:pPr marL="0" indent="0">
              <a:buNone/>
            </a:pPr>
            <a:r>
              <a:rPr lang="en-US" sz="1000" dirty="0">
                <a:solidFill>
                  <a:srgbClr val="1F2933"/>
                </a:solidFill>
              </a:rPr>
              <a:t>support</a:t>
            </a:r>
            <a:endParaRPr lang="en-US" sz="1000" dirty="0"/>
          </a:p>
        </p:txBody>
      </p:sp>
      <p:sp>
        <p:nvSpPr>
          <p:cNvPr id="18" name="Shape 16"/>
          <p:cNvSpPr/>
          <p:nvPr/>
        </p:nvSpPr>
        <p:spPr>
          <a:xfrm>
            <a:off x="3291840" y="4215384"/>
            <a:ext cx="1600200" cy="640080"/>
          </a:xfrm>
          <a:prstGeom prst="rect">
            <a:avLst/>
          </a:prstGeom>
          <a:solidFill>
            <a:srgbClr val="F7F1E8"/>
          </a:solidFill>
          <a:ln w="12700">
            <a:solidFill>
              <a:srgbClr val="E3D8CC"/>
            </a:solidFill>
            <a:prstDash val="solid"/>
          </a:ln>
        </p:spPr>
        <p:txBody>
          <a:bodyPr/>
          <a:lstStyle/>
          <a:p>
            <a:endParaRPr/>
          </a:p>
        </p:txBody>
      </p:sp>
      <p:sp>
        <p:nvSpPr>
          <p:cNvPr id="19" name="Shape 17"/>
          <p:cNvSpPr/>
          <p:nvPr/>
        </p:nvSpPr>
        <p:spPr>
          <a:xfrm>
            <a:off x="3291840" y="4215384"/>
            <a:ext cx="950519" cy="640080"/>
          </a:xfrm>
          <a:prstGeom prst="rect">
            <a:avLst/>
          </a:prstGeom>
          <a:solidFill>
            <a:srgbClr val="6F8A5C"/>
          </a:solidFill>
          <a:ln w="12700">
            <a:solidFill>
              <a:srgbClr val="E3D8CC"/>
            </a:solidFill>
            <a:prstDash val="solid"/>
          </a:ln>
        </p:spPr>
        <p:txBody>
          <a:bodyPr/>
          <a:lstStyle/>
          <a:p>
            <a:endParaRPr/>
          </a:p>
        </p:txBody>
      </p:sp>
      <p:sp>
        <p:nvSpPr>
          <p:cNvPr id="20" name="Text 18"/>
          <p:cNvSpPr/>
          <p:nvPr/>
        </p:nvSpPr>
        <p:spPr>
          <a:xfrm>
            <a:off x="4965192" y="4151376"/>
            <a:ext cx="457200" cy="786384"/>
          </a:xfrm>
          <a:prstGeom prst="rect">
            <a:avLst/>
          </a:prstGeom>
          <a:noFill/>
          <a:ln>
            <a:noFill/>
          </a:ln>
        </p:spPr>
        <p:txBody>
          <a:bodyPr wrap="square" lIns="0" tIns="0" rIns="0" bIns="0" rtlCol="0" anchor="ctr"/>
          <a:lstStyle/>
          <a:p>
            <a:pPr marL="0" indent="0" algn="r">
              <a:buNone/>
            </a:pPr>
            <a:r>
              <a:rPr lang="en-US" sz="1050" b="1" dirty="0">
                <a:solidFill>
                  <a:srgbClr val="1F2933"/>
                </a:solidFill>
              </a:rPr>
              <a:t>59.4</a:t>
            </a:r>
            <a:endParaRPr lang="en-US" sz="1050" dirty="0"/>
          </a:p>
        </p:txBody>
      </p:sp>
      <p:sp>
        <p:nvSpPr>
          <p:cNvPr id="21" name="Shape 19"/>
          <p:cNvSpPr/>
          <p:nvPr/>
        </p:nvSpPr>
        <p:spPr>
          <a:xfrm>
            <a:off x="5897880" y="1600200"/>
            <a:ext cx="5349240" cy="960120"/>
          </a:xfrm>
          <a:prstGeom prst="roundRect">
            <a:avLst>
              <a:gd name="adj" fmla="val 2857"/>
            </a:avLst>
          </a:prstGeom>
          <a:solidFill>
            <a:srgbClr val="FFFFFF"/>
          </a:solidFill>
          <a:ln w="12700">
            <a:solidFill>
              <a:srgbClr val="E3D8CC"/>
            </a:solidFill>
            <a:prstDash val="solid"/>
          </a:ln>
        </p:spPr>
        <p:txBody>
          <a:bodyPr/>
          <a:lstStyle/>
          <a:p>
            <a:endParaRPr/>
          </a:p>
        </p:txBody>
      </p:sp>
      <p:sp>
        <p:nvSpPr>
          <p:cNvPr id="22" name="Text 20"/>
          <p:cNvSpPr/>
          <p:nvPr/>
        </p:nvSpPr>
        <p:spPr>
          <a:xfrm>
            <a:off x="6089904" y="1746504"/>
            <a:ext cx="3063240" cy="182880"/>
          </a:xfrm>
          <a:prstGeom prst="rect">
            <a:avLst/>
          </a:prstGeom>
          <a:noFill/>
          <a:ln>
            <a:noFill/>
          </a:ln>
        </p:spPr>
        <p:txBody>
          <a:bodyPr wrap="square" lIns="0" tIns="0" rIns="0" bIns="0" rtlCol="0" anchor="ctr">
            <a:normAutofit fontScale="92500"/>
          </a:bodyPr>
          <a:lstStyle/>
          <a:p>
            <a:pPr marL="0" indent="0">
              <a:buNone/>
            </a:pPr>
            <a:r>
              <a:rPr lang="en-US" sz="1200" b="1" dirty="0">
                <a:solidFill>
                  <a:srgbClr val="1F2933"/>
                </a:solidFill>
              </a:rPr>
              <a:t>1. Knowledge &amp; document workflow automation</a:t>
            </a:r>
            <a:endParaRPr lang="en-US" sz="1200" dirty="0"/>
          </a:p>
        </p:txBody>
      </p:sp>
      <p:sp>
        <p:nvSpPr>
          <p:cNvPr id="23" name="Shape 21"/>
          <p:cNvSpPr/>
          <p:nvPr/>
        </p:nvSpPr>
        <p:spPr>
          <a:xfrm>
            <a:off x="9308592" y="1709928"/>
            <a:ext cx="844906" cy="274320"/>
          </a:xfrm>
          <a:prstGeom prst="roundRect">
            <a:avLst>
              <a:gd name="adj" fmla="val 10000"/>
            </a:avLst>
          </a:prstGeom>
          <a:solidFill>
            <a:srgbClr val="EAF4EC"/>
          </a:solidFill>
          <a:ln w="12700">
            <a:solidFill>
              <a:srgbClr val="E3D8CC"/>
            </a:solidFill>
            <a:prstDash val="solid"/>
          </a:ln>
        </p:spPr>
        <p:txBody>
          <a:bodyPr/>
          <a:lstStyle/>
          <a:p>
            <a:endParaRPr/>
          </a:p>
        </p:txBody>
      </p:sp>
      <p:sp>
        <p:nvSpPr>
          <p:cNvPr id="24" name="Text 22"/>
          <p:cNvSpPr/>
          <p:nvPr/>
        </p:nvSpPr>
        <p:spPr>
          <a:xfrm>
            <a:off x="9381744" y="1755648"/>
            <a:ext cx="698602" cy="146304"/>
          </a:xfrm>
          <a:prstGeom prst="rect">
            <a:avLst/>
          </a:prstGeom>
          <a:noFill/>
          <a:ln>
            <a:noFill/>
          </a:ln>
        </p:spPr>
        <p:txBody>
          <a:bodyPr wrap="square" lIns="0" tIns="0" rIns="0" bIns="0" rtlCol="0" anchor="ctr"/>
          <a:lstStyle/>
          <a:p>
            <a:pPr marL="0" indent="0" algn="ctr">
              <a:buNone/>
            </a:pPr>
            <a:r>
              <a:rPr lang="en-US" sz="940" b="1" dirty="0">
                <a:solidFill>
                  <a:srgbClr val="4F8A3D"/>
                </a:solidFill>
              </a:rPr>
              <a:t>0–3 mois</a:t>
            </a:r>
            <a:endParaRPr lang="en-US" sz="940" dirty="0"/>
          </a:p>
        </p:txBody>
      </p:sp>
      <p:sp>
        <p:nvSpPr>
          <p:cNvPr id="25" name="Text 23"/>
          <p:cNvSpPr/>
          <p:nvPr/>
        </p:nvSpPr>
        <p:spPr>
          <a:xfrm>
            <a:off x="6089904" y="2039112"/>
            <a:ext cx="4846320" cy="182880"/>
          </a:xfrm>
          <a:prstGeom prst="rect">
            <a:avLst/>
          </a:prstGeom>
          <a:noFill/>
          <a:ln>
            <a:noFill/>
          </a:ln>
        </p:spPr>
        <p:txBody>
          <a:bodyPr wrap="square" lIns="0" tIns="0" rIns="0" bIns="0" rtlCol="0" anchor="ctr">
            <a:normAutofit fontScale="85000" lnSpcReduction="10000"/>
          </a:bodyPr>
          <a:lstStyle/>
          <a:p>
            <a:pPr marL="0" indent="0">
              <a:buNone/>
            </a:pPr>
            <a:r>
              <a:rPr lang="en-US" sz="1040" dirty="0">
                <a:solidFill>
                  <a:srgbClr val="1F2933"/>
                </a:solidFill>
              </a:rPr>
              <a:t>Premier pilote : Comptes rendus + questionnaires + synthèse documentaire + recherche interne</a:t>
            </a:r>
            <a:endParaRPr lang="en-US" sz="1040" dirty="0"/>
          </a:p>
        </p:txBody>
      </p:sp>
      <p:sp>
        <p:nvSpPr>
          <p:cNvPr id="26" name="Text 24"/>
          <p:cNvSpPr/>
          <p:nvPr/>
        </p:nvSpPr>
        <p:spPr>
          <a:xfrm>
            <a:off x="6089904" y="2276856"/>
            <a:ext cx="4663440" cy="146304"/>
          </a:xfrm>
          <a:prstGeom prst="rect">
            <a:avLst/>
          </a:prstGeom>
          <a:noFill/>
          <a:ln>
            <a:noFill/>
          </a:ln>
        </p:spPr>
        <p:txBody>
          <a:bodyPr wrap="square" lIns="0" tIns="0" rIns="0" bIns="0" rtlCol="0" anchor="ctr">
            <a:normAutofit lnSpcReduction="10000"/>
          </a:bodyPr>
          <a:lstStyle/>
          <a:p>
            <a:pPr marL="0" indent="0">
              <a:buNone/>
            </a:pPr>
            <a:r>
              <a:rPr lang="en-US" sz="980" dirty="0">
                <a:solidFill>
                  <a:srgbClr val="8B7D73"/>
                </a:solidFill>
              </a:rPr>
              <a:t>Sponsor type : COO / Transformation</a:t>
            </a:r>
            <a:endParaRPr lang="en-US" sz="980" dirty="0"/>
          </a:p>
        </p:txBody>
      </p:sp>
      <p:sp>
        <p:nvSpPr>
          <p:cNvPr id="27" name="Shape 25"/>
          <p:cNvSpPr/>
          <p:nvPr/>
        </p:nvSpPr>
        <p:spPr>
          <a:xfrm>
            <a:off x="5897880" y="2816352"/>
            <a:ext cx="5349240" cy="960120"/>
          </a:xfrm>
          <a:prstGeom prst="roundRect">
            <a:avLst>
              <a:gd name="adj" fmla="val 2857"/>
            </a:avLst>
          </a:prstGeom>
          <a:solidFill>
            <a:srgbClr val="FFFFFF"/>
          </a:solidFill>
          <a:ln w="12700">
            <a:solidFill>
              <a:srgbClr val="E3D8CC"/>
            </a:solidFill>
            <a:prstDash val="solid"/>
          </a:ln>
        </p:spPr>
        <p:txBody>
          <a:bodyPr/>
          <a:lstStyle/>
          <a:p>
            <a:endParaRPr/>
          </a:p>
        </p:txBody>
      </p:sp>
      <p:sp>
        <p:nvSpPr>
          <p:cNvPr id="28" name="Text 26"/>
          <p:cNvSpPr/>
          <p:nvPr/>
        </p:nvSpPr>
        <p:spPr>
          <a:xfrm>
            <a:off x="6089904" y="2962656"/>
            <a:ext cx="3063240" cy="182880"/>
          </a:xfrm>
          <a:prstGeom prst="rect">
            <a:avLst/>
          </a:prstGeom>
          <a:noFill/>
          <a:ln>
            <a:noFill/>
          </a:ln>
        </p:spPr>
        <p:txBody>
          <a:bodyPr wrap="square" lIns="0" tIns="0" rIns="0" bIns="0" rtlCol="0" anchor="ctr">
            <a:normAutofit fontScale="85000" lnSpcReduction="10000"/>
          </a:bodyPr>
          <a:lstStyle/>
          <a:p>
            <a:pPr marL="0" indent="0">
              <a:buNone/>
            </a:pPr>
            <a:r>
              <a:rPr lang="en-US" sz="1200" b="1" dirty="0">
                <a:solidFill>
                  <a:srgbClr val="1F2933"/>
                </a:solidFill>
              </a:rPr>
              <a:t>2. Commercial effectiveness &amp; customer intelligence</a:t>
            </a:r>
            <a:endParaRPr lang="en-US" sz="1200" dirty="0"/>
          </a:p>
        </p:txBody>
      </p:sp>
      <p:sp>
        <p:nvSpPr>
          <p:cNvPr id="29" name="Shape 27"/>
          <p:cNvSpPr/>
          <p:nvPr/>
        </p:nvSpPr>
        <p:spPr>
          <a:xfrm>
            <a:off x="9308592" y="2926080"/>
            <a:ext cx="844906" cy="274320"/>
          </a:xfrm>
          <a:prstGeom prst="roundRect">
            <a:avLst>
              <a:gd name="adj" fmla="val 10000"/>
            </a:avLst>
          </a:prstGeom>
          <a:solidFill>
            <a:srgbClr val="F3E8DD"/>
          </a:solidFill>
          <a:ln w="12700">
            <a:solidFill>
              <a:srgbClr val="E3D8CC"/>
            </a:solidFill>
            <a:prstDash val="solid"/>
          </a:ln>
        </p:spPr>
        <p:txBody>
          <a:bodyPr/>
          <a:lstStyle/>
          <a:p>
            <a:endParaRPr/>
          </a:p>
        </p:txBody>
      </p:sp>
      <p:sp>
        <p:nvSpPr>
          <p:cNvPr id="30" name="Text 28"/>
          <p:cNvSpPr/>
          <p:nvPr/>
        </p:nvSpPr>
        <p:spPr>
          <a:xfrm>
            <a:off x="9381744" y="2971800"/>
            <a:ext cx="698602" cy="146304"/>
          </a:xfrm>
          <a:prstGeom prst="rect">
            <a:avLst/>
          </a:prstGeom>
          <a:noFill/>
          <a:ln>
            <a:noFill/>
          </a:ln>
        </p:spPr>
        <p:txBody>
          <a:bodyPr wrap="square" lIns="0" tIns="0" rIns="0" bIns="0" rtlCol="0" anchor="ctr"/>
          <a:lstStyle/>
          <a:p>
            <a:pPr marL="0" indent="0" algn="ctr">
              <a:buNone/>
            </a:pPr>
            <a:r>
              <a:rPr lang="en-US" sz="940" b="1" dirty="0">
                <a:solidFill>
                  <a:srgbClr val="9C623A"/>
                </a:solidFill>
              </a:rPr>
              <a:t>0–3 mois</a:t>
            </a:r>
            <a:endParaRPr lang="en-US" sz="940" dirty="0"/>
          </a:p>
        </p:txBody>
      </p:sp>
      <p:sp>
        <p:nvSpPr>
          <p:cNvPr id="31" name="Text 29"/>
          <p:cNvSpPr/>
          <p:nvPr/>
        </p:nvSpPr>
        <p:spPr>
          <a:xfrm>
            <a:off x="6089904" y="3255264"/>
            <a:ext cx="4846320" cy="182880"/>
          </a:xfrm>
          <a:prstGeom prst="rect">
            <a:avLst/>
          </a:prstGeom>
          <a:noFill/>
          <a:ln>
            <a:noFill/>
          </a:ln>
        </p:spPr>
        <p:txBody>
          <a:bodyPr wrap="square" lIns="0" tIns="0" rIns="0" bIns="0" rtlCol="0" anchor="ctr">
            <a:normAutofit/>
          </a:bodyPr>
          <a:lstStyle/>
          <a:p>
            <a:pPr marL="0" indent="0">
              <a:buNone/>
            </a:pPr>
            <a:r>
              <a:rPr lang="en-US" sz="1040" dirty="0">
                <a:solidFill>
                  <a:srgbClr val="1F2933"/>
                </a:solidFill>
              </a:rPr>
              <a:t>Premier pilote : Préparation client + pitch assisté + synthèse de comptes / briefs</a:t>
            </a:r>
            <a:endParaRPr lang="en-US" sz="1040" dirty="0"/>
          </a:p>
        </p:txBody>
      </p:sp>
      <p:sp>
        <p:nvSpPr>
          <p:cNvPr id="32" name="Text 30"/>
          <p:cNvSpPr/>
          <p:nvPr/>
        </p:nvSpPr>
        <p:spPr>
          <a:xfrm>
            <a:off x="6089904" y="3493008"/>
            <a:ext cx="4663440" cy="146304"/>
          </a:xfrm>
          <a:prstGeom prst="rect">
            <a:avLst/>
          </a:prstGeom>
          <a:noFill/>
          <a:ln>
            <a:noFill/>
          </a:ln>
        </p:spPr>
        <p:txBody>
          <a:bodyPr wrap="square" lIns="0" tIns="0" rIns="0" bIns="0" rtlCol="0" anchor="ctr">
            <a:normAutofit lnSpcReduction="10000"/>
          </a:bodyPr>
          <a:lstStyle/>
          <a:p>
            <a:pPr marL="0" indent="0">
              <a:buNone/>
            </a:pPr>
            <a:r>
              <a:rPr lang="en-US" sz="980" dirty="0">
                <a:solidFill>
                  <a:srgbClr val="8B7D73"/>
                </a:solidFill>
              </a:rPr>
              <a:t>Sponsor type : Commerce / Marketing</a:t>
            </a:r>
            <a:endParaRPr lang="en-US" sz="980" dirty="0"/>
          </a:p>
        </p:txBody>
      </p:sp>
      <p:sp>
        <p:nvSpPr>
          <p:cNvPr id="33" name="Shape 31"/>
          <p:cNvSpPr/>
          <p:nvPr/>
        </p:nvSpPr>
        <p:spPr>
          <a:xfrm>
            <a:off x="5897880" y="4032504"/>
            <a:ext cx="5349240" cy="960120"/>
          </a:xfrm>
          <a:prstGeom prst="roundRect">
            <a:avLst>
              <a:gd name="adj" fmla="val 2857"/>
            </a:avLst>
          </a:prstGeom>
          <a:solidFill>
            <a:srgbClr val="FFFFFF"/>
          </a:solidFill>
          <a:ln w="12700">
            <a:solidFill>
              <a:srgbClr val="E3D8CC"/>
            </a:solidFill>
            <a:prstDash val="solid"/>
          </a:ln>
        </p:spPr>
        <p:txBody>
          <a:bodyPr/>
          <a:lstStyle/>
          <a:p>
            <a:endParaRPr/>
          </a:p>
        </p:txBody>
      </p:sp>
      <p:sp>
        <p:nvSpPr>
          <p:cNvPr id="34" name="Text 32"/>
          <p:cNvSpPr/>
          <p:nvPr/>
        </p:nvSpPr>
        <p:spPr>
          <a:xfrm>
            <a:off x="6089904" y="4178808"/>
            <a:ext cx="3063240" cy="182880"/>
          </a:xfrm>
          <a:prstGeom prst="rect">
            <a:avLst/>
          </a:prstGeom>
          <a:noFill/>
          <a:ln>
            <a:noFill/>
          </a:ln>
        </p:spPr>
        <p:txBody>
          <a:bodyPr wrap="square" lIns="0" tIns="0" rIns="0" bIns="0" rtlCol="0" anchor="ctr">
            <a:normAutofit/>
          </a:bodyPr>
          <a:lstStyle/>
          <a:p>
            <a:pPr marL="0" indent="0">
              <a:buNone/>
            </a:pPr>
            <a:r>
              <a:rPr lang="en-US" sz="1200" b="1" dirty="0">
                <a:solidFill>
                  <a:srgbClr val="1F2933"/>
                </a:solidFill>
              </a:rPr>
              <a:t>3. Data analysis &amp; decision support</a:t>
            </a:r>
            <a:endParaRPr lang="en-US" sz="1200" dirty="0"/>
          </a:p>
        </p:txBody>
      </p:sp>
      <p:sp>
        <p:nvSpPr>
          <p:cNvPr id="35" name="Shape 33"/>
          <p:cNvSpPr/>
          <p:nvPr/>
        </p:nvSpPr>
        <p:spPr>
          <a:xfrm>
            <a:off x="9308592" y="4142232"/>
            <a:ext cx="844906" cy="274320"/>
          </a:xfrm>
          <a:prstGeom prst="roundRect">
            <a:avLst>
              <a:gd name="adj" fmla="val 10000"/>
            </a:avLst>
          </a:prstGeom>
          <a:solidFill>
            <a:srgbClr val="F3E8DD"/>
          </a:solidFill>
          <a:ln w="12700">
            <a:solidFill>
              <a:srgbClr val="E3D8CC"/>
            </a:solidFill>
            <a:prstDash val="solid"/>
          </a:ln>
        </p:spPr>
        <p:txBody>
          <a:bodyPr/>
          <a:lstStyle/>
          <a:p>
            <a:endParaRPr/>
          </a:p>
        </p:txBody>
      </p:sp>
      <p:sp>
        <p:nvSpPr>
          <p:cNvPr id="36" name="Text 34"/>
          <p:cNvSpPr/>
          <p:nvPr/>
        </p:nvSpPr>
        <p:spPr>
          <a:xfrm>
            <a:off x="9381744" y="4187952"/>
            <a:ext cx="698602" cy="146304"/>
          </a:xfrm>
          <a:prstGeom prst="rect">
            <a:avLst/>
          </a:prstGeom>
          <a:noFill/>
          <a:ln>
            <a:noFill/>
          </a:ln>
        </p:spPr>
        <p:txBody>
          <a:bodyPr wrap="square" lIns="0" tIns="0" rIns="0" bIns="0" rtlCol="0" anchor="ctr"/>
          <a:lstStyle/>
          <a:p>
            <a:pPr marL="0" indent="0" algn="ctr">
              <a:buNone/>
            </a:pPr>
            <a:r>
              <a:rPr lang="en-US" sz="940" b="1" dirty="0">
                <a:solidFill>
                  <a:srgbClr val="9C623A"/>
                </a:solidFill>
              </a:rPr>
              <a:t>3–6 mois</a:t>
            </a:r>
            <a:endParaRPr lang="en-US" sz="940" dirty="0"/>
          </a:p>
        </p:txBody>
      </p:sp>
      <p:sp>
        <p:nvSpPr>
          <p:cNvPr id="37" name="Text 35"/>
          <p:cNvSpPr/>
          <p:nvPr/>
        </p:nvSpPr>
        <p:spPr>
          <a:xfrm>
            <a:off x="6089904" y="4471416"/>
            <a:ext cx="4846320" cy="182880"/>
          </a:xfrm>
          <a:prstGeom prst="rect">
            <a:avLst/>
          </a:prstGeom>
          <a:noFill/>
          <a:ln>
            <a:noFill/>
          </a:ln>
        </p:spPr>
        <p:txBody>
          <a:bodyPr wrap="square" lIns="0" tIns="0" rIns="0" bIns="0" rtlCol="0" anchor="ctr">
            <a:normAutofit/>
          </a:bodyPr>
          <a:lstStyle/>
          <a:p>
            <a:pPr marL="0" indent="0">
              <a:buNone/>
            </a:pPr>
            <a:r>
              <a:rPr lang="en-US" sz="1040" dirty="0">
                <a:solidFill>
                  <a:srgbClr val="1F2933"/>
                </a:solidFill>
              </a:rPr>
              <a:t>Premier pilote : Copilot Excel / KPI / anomalies / first-pass analysis</a:t>
            </a:r>
            <a:endParaRPr lang="en-US" sz="1040" dirty="0"/>
          </a:p>
        </p:txBody>
      </p:sp>
      <p:sp>
        <p:nvSpPr>
          <p:cNvPr id="38" name="Text 36"/>
          <p:cNvSpPr/>
          <p:nvPr/>
        </p:nvSpPr>
        <p:spPr>
          <a:xfrm>
            <a:off x="6089904" y="4709160"/>
            <a:ext cx="4663440" cy="146304"/>
          </a:xfrm>
          <a:prstGeom prst="rect">
            <a:avLst/>
          </a:prstGeom>
          <a:noFill/>
          <a:ln>
            <a:noFill/>
          </a:ln>
        </p:spPr>
        <p:txBody>
          <a:bodyPr wrap="square" lIns="0" tIns="0" rIns="0" bIns="0" rtlCol="0" anchor="ctr">
            <a:normAutofit lnSpcReduction="10000"/>
          </a:bodyPr>
          <a:lstStyle/>
          <a:p>
            <a:pPr marL="0" indent="0">
              <a:buNone/>
            </a:pPr>
            <a:r>
              <a:rPr lang="en-US" sz="980" dirty="0">
                <a:solidFill>
                  <a:srgbClr val="8B7D73"/>
                </a:solidFill>
              </a:rPr>
              <a:t>Sponsor type : Finance / Opérations</a:t>
            </a:r>
            <a:endParaRPr lang="en-US" sz="980" dirty="0"/>
          </a:p>
        </p:txBody>
      </p:sp>
      <p:sp>
        <p:nvSpPr>
          <p:cNvPr id="39" name="Shape 37"/>
          <p:cNvSpPr/>
          <p:nvPr/>
        </p:nvSpPr>
        <p:spPr>
          <a:xfrm>
            <a:off x="5897880" y="5394960"/>
            <a:ext cx="5349240" cy="502920"/>
          </a:xfrm>
          <a:prstGeom prst="roundRect">
            <a:avLst>
              <a:gd name="adj" fmla="val 5455"/>
            </a:avLst>
          </a:prstGeom>
          <a:solidFill>
            <a:srgbClr val="F9F2E4"/>
          </a:solidFill>
          <a:ln w="12700">
            <a:solidFill>
              <a:srgbClr val="E3D8CC"/>
            </a:solidFill>
            <a:prstDash val="solid"/>
          </a:ln>
        </p:spPr>
        <p:txBody>
          <a:bodyPr/>
          <a:lstStyle/>
          <a:p>
            <a:endParaRPr/>
          </a:p>
        </p:txBody>
      </p:sp>
      <p:sp>
        <p:nvSpPr>
          <p:cNvPr id="40" name="Text 38"/>
          <p:cNvSpPr/>
          <p:nvPr/>
        </p:nvSpPr>
        <p:spPr>
          <a:xfrm>
            <a:off x="6108192" y="5559552"/>
            <a:ext cx="822960" cy="146304"/>
          </a:xfrm>
          <a:prstGeom prst="rect">
            <a:avLst/>
          </a:prstGeom>
          <a:noFill/>
          <a:ln>
            <a:noFill/>
          </a:ln>
        </p:spPr>
        <p:txBody>
          <a:bodyPr wrap="square" lIns="0" tIns="0" rIns="0" bIns="0" rtlCol="0" anchor="ctr"/>
          <a:lstStyle/>
          <a:p>
            <a:pPr marL="0" indent="0">
              <a:buNone/>
            </a:pPr>
            <a:r>
              <a:rPr lang="en-US" sz="1050" b="1" dirty="0">
                <a:solidFill>
                  <a:srgbClr val="B07A1A"/>
                </a:solidFill>
              </a:rPr>
              <a:t>Watchlist</a:t>
            </a:r>
            <a:endParaRPr lang="en-US" sz="1050" dirty="0"/>
          </a:p>
        </p:txBody>
      </p:sp>
      <p:sp>
        <p:nvSpPr>
          <p:cNvPr id="41" name="Text 39"/>
          <p:cNvSpPr/>
          <p:nvPr/>
        </p:nvSpPr>
        <p:spPr>
          <a:xfrm>
            <a:off x="6967728" y="5522976"/>
            <a:ext cx="4069080" cy="182880"/>
          </a:xfrm>
          <a:prstGeom prst="rect">
            <a:avLst/>
          </a:prstGeom>
          <a:noFill/>
          <a:ln>
            <a:noFill/>
          </a:ln>
        </p:spPr>
        <p:txBody>
          <a:bodyPr wrap="square" lIns="0" tIns="0" rIns="0" bIns="0" rtlCol="0" anchor="ctr">
            <a:normAutofit fontScale="70000" lnSpcReduction="20000"/>
          </a:bodyPr>
          <a:lstStyle/>
          <a:p>
            <a:pPr marL="0" indent="0">
              <a:buNone/>
            </a:pPr>
            <a:r>
              <a:rPr lang="en-US" sz="1040" dirty="0">
                <a:solidFill>
                  <a:srgbClr val="1F2933"/>
                </a:solidFill>
              </a:rPr>
              <a:t>Product / R&amp;D / formulation support : potentiel différenciant à préparer en 3–6 mois, une fois le cadre et les premiers pilotes stabilisés.</a:t>
            </a:r>
            <a:endParaRPr lang="en-US" sz="1040" dirty="0"/>
          </a:p>
        </p:txBody>
      </p:sp>
      <p:sp>
        <p:nvSpPr>
          <p:cNvPr id="42" name="TextBox 41"/>
          <p:cNvSpPr txBox="1"/>
          <p:nvPr/>
        </p:nvSpPr>
        <p:spPr>
          <a:xfrm>
            <a:off x="11292840" y="6455664"/>
            <a:ext cx="502920" cy="182880"/>
          </a:xfrm>
          <a:prstGeom prst="rect">
            <a:avLst/>
          </a:prstGeom>
          <a:noFill/>
          <a:ln>
            <a:noFill/>
          </a:ln>
        </p:spPr>
        <p:txBody>
          <a:bodyPr wrap="none">
            <a:spAutoFit/>
          </a:bodyPr>
          <a:lstStyle/>
          <a:p>
            <a:pPr algn="r">
              <a:defRPr sz="1000">
                <a:solidFill>
                  <a:srgbClr val="27333F"/>
                </a:solidFill>
                <a:latin typeface="Aptos"/>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8F4"/>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438912"/>
          </a:xfrm>
          <a:prstGeom prst="rect">
            <a:avLst/>
          </a:prstGeom>
          <a:noFill/>
          <a:ln>
            <a:noFill/>
          </a:ln>
        </p:spPr>
        <p:txBody>
          <a:bodyPr wrap="square" lIns="0" tIns="0" rIns="0" bIns="0" rtlCol="0" anchor="ctr"/>
          <a:lstStyle/>
          <a:p>
            <a:pPr marL="0" indent="0">
              <a:buNone/>
            </a:pPr>
            <a:r>
              <a:rPr lang="en-US" sz="2400" b="1" dirty="0">
                <a:solidFill>
                  <a:srgbClr val="1F2933"/>
                </a:solidFill>
                <a:latin typeface="Aptos Display" pitchFamily="34" charset="0"/>
                <a:ea typeface="Aptos Display" pitchFamily="34" charset="-122"/>
                <a:cs typeface="Aptos Display" pitchFamily="34" charset="-120"/>
              </a:rPr>
              <a:t>La mise en mouvement peut rester simple : cadre, pilotes, mesure puis arbitrage</a:t>
            </a:r>
            <a:endParaRPr lang="en-US" sz="2400" dirty="0"/>
          </a:p>
        </p:txBody>
      </p:sp>
      <p:sp>
        <p:nvSpPr>
          <p:cNvPr id="3" name="Text 1"/>
          <p:cNvSpPr/>
          <p:nvPr/>
        </p:nvSpPr>
        <p:spPr>
          <a:xfrm>
            <a:off x="658368" y="896112"/>
            <a:ext cx="10241280" cy="256032"/>
          </a:xfrm>
          <a:prstGeom prst="rect">
            <a:avLst/>
          </a:prstGeom>
          <a:noFill/>
          <a:ln>
            <a:noFill/>
          </a:ln>
        </p:spPr>
        <p:txBody>
          <a:bodyPr wrap="square" lIns="0" tIns="0" rIns="0" bIns="0" rtlCol="0" anchor="ctr"/>
          <a:lstStyle/>
          <a:p>
            <a:pPr marL="0" indent="0">
              <a:buNone/>
            </a:pPr>
            <a:r>
              <a:rPr lang="en-US" sz="1150" dirty="0">
                <a:solidFill>
                  <a:srgbClr val="8B7D73"/>
                </a:solidFill>
                <a:latin typeface="Aptos" pitchFamily="34" charset="0"/>
                <a:ea typeface="Aptos" pitchFamily="34" charset="-122"/>
                <a:cs typeface="Aptos" pitchFamily="34" charset="-120"/>
              </a:rPr>
              <a:t>Séquence minimale recommandée sur 90 jours</a:t>
            </a:r>
            <a:endParaRPr lang="en-US" sz="1150" dirty="0"/>
          </a:p>
        </p:txBody>
      </p:sp>
      <p:sp>
        <p:nvSpPr>
          <p:cNvPr id="4" name="Shape 2"/>
          <p:cNvSpPr/>
          <p:nvPr/>
        </p:nvSpPr>
        <p:spPr>
          <a:xfrm>
            <a:off x="713232" y="1554480"/>
            <a:ext cx="2834640" cy="4206240"/>
          </a:xfrm>
          <a:prstGeom prst="roundRect">
            <a:avLst>
              <a:gd name="adj" fmla="val 1290"/>
            </a:avLst>
          </a:prstGeom>
          <a:solidFill>
            <a:srgbClr val="FFFFFF"/>
          </a:solidFill>
          <a:ln w="12700">
            <a:solidFill>
              <a:srgbClr val="E3D8CC"/>
            </a:solidFill>
            <a:prstDash val="solid"/>
          </a:ln>
        </p:spPr>
        <p:txBody>
          <a:bodyPr/>
          <a:lstStyle/>
          <a:p>
            <a:endParaRPr/>
          </a:p>
        </p:txBody>
      </p:sp>
      <p:sp>
        <p:nvSpPr>
          <p:cNvPr id="5" name="Shape 3"/>
          <p:cNvSpPr/>
          <p:nvPr/>
        </p:nvSpPr>
        <p:spPr>
          <a:xfrm>
            <a:off x="713232" y="1554480"/>
            <a:ext cx="2834640" cy="384048"/>
          </a:xfrm>
          <a:prstGeom prst="rect">
            <a:avLst/>
          </a:prstGeom>
          <a:solidFill>
            <a:srgbClr val="3D1104"/>
          </a:solidFill>
          <a:ln w="12700">
            <a:solidFill>
              <a:srgbClr val="E3D8CC"/>
            </a:solidFill>
            <a:prstDash val="solid"/>
          </a:ln>
        </p:spPr>
        <p:txBody>
          <a:bodyPr/>
          <a:lstStyle/>
          <a:p>
            <a:endParaRPr/>
          </a:p>
        </p:txBody>
      </p:sp>
      <p:sp>
        <p:nvSpPr>
          <p:cNvPr id="6" name="Text 4"/>
          <p:cNvSpPr/>
          <p:nvPr/>
        </p:nvSpPr>
        <p:spPr>
          <a:xfrm>
            <a:off x="822960" y="1664208"/>
            <a:ext cx="2615184" cy="146304"/>
          </a:xfrm>
          <a:prstGeom prst="rect">
            <a:avLst/>
          </a:prstGeom>
          <a:noFill/>
          <a:ln>
            <a:noFill/>
          </a:ln>
        </p:spPr>
        <p:txBody>
          <a:bodyPr wrap="square" lIns="0" tIns="0" rIns="0" bIns="0" rtlCol="0" anchor="ctr"/>
          <a:lstStyle/>
          <a:p>
            <a:pPr marL="0" indent="0" algn="ctr">
              <a:buNone/>
            </a:pPr>
            <a:r>
              <a:rPr lang="en-US" sz="1220" b="1" dirty="0">
                <a:solidFill>
                  <a:srgbClr val="FFFFFF"/>
                </a:solidFill>
              </a:rPr>
              <a:t>0–30 jours</a:t>
            </a:r>
            <a:endParaRPr lang="en-US" sz="1220" dirty="0"/>
          </a:p>
        </p:txBody>
      </p:sp>
      <p:sp>
        <p:nvSpPr>
          <p:cNvPr id="7" name="Text 5"/>
          <p:cNvSpPr/>
          <p:nvPr/>
        </p:nvSpPr>
        <p:spPr>
          <a:xfrm>
            <a:off x="859536" y="2084832"/>
            <a:ext cx="1234440" cy="164592"/>
          </a:xfrm>
          <a:prstGeom prst="rect">
            <a:avLst/>
          </a:prstGeom>
          <a:noFill/>
          <a:ln>
            <a:noFill/>
          </a:ln>
        </p:spPr>
        <p:txBody>
          <a:bodyPr wrap="square" lIns="0" tIns="0" rIns="0" bIns="0" rtlCol="0" anchor="ctr">
            <a:normAutofit/>
          </a:bodyPr>
          <a:lstStyle/>
          <a:p>
            <a:pPr marL="0" indent="0">
              <a:buNone/>
            </a:pPr>
            <a:r>
              <a:rPr lang="en-US" sz="1000" b="1" dirty="0">
                <a:solidFill>
                  <a:srgbClr val="3D1104"/>
                </a:solidFill>
              </a:rPr>
              <a:t>Gouvernance</a:t>
            </a:r>
            <a:endParaRPr lang="en-US" sz="1000" dirty="0"/>
          </a:p>
        </p:txBody>
      </p:sp>
      <p:sp>
        <p:nvSpPr>
          <p:cNvPr id="8" name="Text 6"/>
          <p:cNvSpPr/>
          <p:nvPr/>
        </p:nvSpPr>
        <p:spPr>
          <a:xfrm>
            <a:off x="859536" y="2286000"/>
            <a:ext cx="2487168" cy="201168"/>
          </a:xfrm>
          <a:prstGeom prst="rect">
            <a:avLst/>
          </a:prstGeom>
          <a:noFill/>
          <a:ln>
            <a:noFill/>
          </a:ln>
        </p:spPr>
        <p:txBody>
          <a:bodyPr wrap="square" lIns="0" tIns="0" rIns="0" bIns="0" rtlCol="0" anchor="ctr">
            <a:normAutofit/>
          </a:bodyPr>
          <a:lstStyle/>
          <a:p>
            <a:pPr marL="0" indent="0">
              <a:buNone/>
            </a:pPr>
            <a:r>
              <a:rPr lang="en-US" sz="1060" dirty="0">
                <a:solidFill>
                  <a:srgbClr val="1F2933"/>
                </a:solidFill>
              </a:rPr>
              <a:t>Poser un cadre simple et crédible</a:t>
            </a:r>
            <a:endParaRPr lang="en-US" sz="1060" dirty="0"/>
          </a:p>
        </p:txBody>
      </p:sp>
      <p:sp>
        <p:nvSpPr>
          <p:cNvPr id="9" name="Text 7"/>
          <p:cNvSpPr/>
          <p:nvPr/>
        </p:nvSpPr>
        <p:spPr>
          <a:xfrm>
            <a:off x="859536" y="2587752"/>
            <a:ext cx="2487168" cy="219456"/>
          </a:xfrm>
          <a:prstGeom prst="rect">
            <a:avLst/>
          </a:prstGeom>
          <a:noFill/>
          <a:ln>
            <a:noFill/>
          </a:ln>
        </p:spPr>
        <p:txBody>
          <a:bodyPr wrap="square" lIns="0" tIns="0" rIns="0" bIns="0" rtlCol="0" anchor="ctr">
            <a:normAutofit fontScale="85000" lnSpcReduction="20000"/>
          </a:bodyPr>
          <a:lstStyle/>
          <a:p>
            <a:pPr marL="0" indent="0">
              <a:buNone/>
            </a:pPr>
            <a:r>
              <a:rPr lang="en-US" sz="940" dirty="0">
                <a:solidFill>
                  <a:srgbClr val="8B7D73"/>
                </a:solidFill>
              </a:rPr>
              <a:t>Livrable : Règles d’usage IA (1 page) + FAQ + données autorisées / interdites</a:t>
            </a:r>
            <a:endParaRPr lang="en-US" sz="940" dirty="0"/>
          </a:p>
        </p:txBody>
      </p:sp>
      <p:sp>
        <p:nvSpPr>
          <p:cNvPr id="10" name="Shape 8"/>
          <p:cNvSpPr/>
          <p:nvPr/>
        </p:nvSpPr>
        <p:spPr>
          <a:xfrm>
            <a:off x="859536" y="2953512"/>
            <a:ext cx="2505456" cy="0"/>
          </a:xfrm>
          <a:prstGeom prst="line">
            <a:avLst/>
          </a:prstGeom>
          <a:noFill/>
          <a:ln w="12700">
            <a:solidFill>
              <a:srgbClr val="E3D8CC"/>
            </a:solidFill>
            <a:prstDash val="solid"/>
          </a:ln>
        </p:spPr>
        <p:txBody>
          <a:bodyPr/>
          <a:lstStyle/>
          <a:p>
            <a:endParaRPr/>
          </a:p>
        </p:txBody>
      </p:sp>
      <p:sp>
        <p:nvSpPr>
          <p:cNvPr id="11" name="Text 9"/>
          <p:cNvSpPr/>
          <p:nvPr/>
        </p:nvSpPr>
        <p:spPr>
          <a:xfrm>
            <a:off x="859536" y="3163824"/>
            <a:ext cx="1234440" cy="164592"/>
          </a:xfrm>
          <a:prstGeom prst="rect">
            <a:avLst/>
          </a:prstGeom>
          <a:noFill/>
          <a:ln>
            <a:noFill/>
          </a:ln>
        </p:spPr>
        <p:txBody>
          <a:bodyPr wrap="square" lIns="0" tIns="0" rIns="0" bIns="0" rtlCol="0" anchor="ctr">
            <a:normAutofit/>
          </a:bodyPr>
          <a:lstStyle/>
          <a:p>
            <a:pPr marL="0" indent="0">
              <a:buNone/>
            </a:pPr>
            <a:r>
              <a:rPr lang="en-US" sz="1000" b="1" dirty="0">
                <a:solidFill>
                  <a:srgbClr val="3D1104"/>
                </a:solidFill>
              </a:rPr>
              <a:t>Pilotage</a:t>
            </a:r>
            <a:endParaRPr lang="en-US" sz="1000" dirty="0"/>
          </a:p>
        </p:txBody>
      </p:sp>
      <p:sp>
        <p:nvSpPr>
          <p:cNvPr id="12" name="Text 10"/>
          <p:cNvSpPr/>
          <p:nvPr/>
        </p:nvSpPr>
        <p:spPr>
          <a:xfrm>
            <a:off x="859536" y="3364992"/>
            <a:ext cx="2487168" cy="201168"/>
          </a:xfrm>
          <a:prstGeom prst="rect">
            <a:avLst/>
          </a:prstGeom>
          <a:noFill/>
          <a:ln>
            <a:noFill/>
          </a:ln>
        </p:spPr>
        <p:txBody>
          <a:bodyPr wrap="square" lIns="0" tIns="0" rIns="0" bIns="0" rtlCol="0" anchor="ctr">
            <a:normAutofit/>
          </a:bodyPr>
          <a:lstStyle/>
          <a:p>
            <a:pPr marL="0" indent="0">
              <a:buNone/>
            </a:pPr>
            <a:r>
              <a:rPr lang="en-US" sz="1060" dirty="0">
                <a:solidFill>
                  <a:srgbClr val="1F2933"/>
                </a:solidFill>
              </a:rPr>
              <a:t>Choisir les pilotes</a:t>
            </a:r>
            <a:endParaRPr lang="en-US" sz="1060" dirty="0"/>
          </a:p>
        </p:txBody>
      </p:sp>
      <p:sp>
        <p:nvSpPr>
          <p:cNvPr id="13" name="Text 11"/>
          <p:cNvSpPr/>
          <p:nvPr/>
        </p:nvSpPr>
        <p:spPr>
          <a:xfrm>
            <a:off x="859536" y="3666744"/>
            <a:ext cx="2487168" cy="219456"/>
          </a:xfrm>
          <a:prstGeom prst="rect">
            <a:avLst/>
          </a:prstGeom>
          <a:noFill/>
          <a:ln>
            <a:noFill/>
          </a:ln>
        </p:spPr>
        <p:txBody>
          <a:bodyPr wrap="square" lIns="0" tIns="0" rIns="0" bIns="0" rtlCol="0" anchor="ctr">
            <a:normAutofit fontScale="85000" lnSpcReduction="20000"/>
          </a:bodyPr>
          <a:lstStyle/>
          <a:p>
            <a:pPr marL="0" indent="0">
              <a:buNone/>
            </a:pPr>
            <a:r>
              <a:rPr lang="en-US" sz="940" dirty="0">
                <a:solidFill>
                  <a:srgbClr val="8B7D73"/>
                </a:solidFill>
              </a:rPr>
              <a:t>Livrable : Sélection de 2 quick wins transverses + 1 pilote métier</a:t>
            </a:r>
            <a:endParaRPr lang="en-US" sz="940" dirty="0"/>
          </a:p>
        </p:txBody>
      </p:sp>
      <p:sp>
        <p:nvSpPr>
          <p:cNvPr id="14" name="Shape 12"/>
          <p:cNvSpPr/>
          <p:nvPr/>
        </p:nvSpPr>
        <p:spPr>
          <a:xfrm>
            <a:off x="859536" y="4032504"/>
            <a:ext cx="2505456" cy="0"/>
          </a:xfrm>
          <a:prstGeom prst="line">
            <a:avLst/>
          </a:prstGeom>
          <a:noFill/>
          <a:ln w="12700">
            <a:solidFill>
              <a:srgbClr val="E3D8CC"/>
            </a:solidFill>
            <a:prstDash val="solid"/>
          </a:ln>
        </p:spPr>
        <p:txBody>
          <a:bodyPr/>
          <a:lstStyle/>
          <a:p>
            <a:endParaRPr/>
          </a:p>
        </p:txBody>
      </p:sp>
      <p:sp>
        <p:nvSpPr>
          <p:cNvPr id="15" name="Text 13"/>
          <p:cNvSpPr/>
          <p:nvPr/>
        </p:nvSpPr>
        <p:spPr>
          <a:xfrm>
            <a:off x="859536" y="4242816"/>
            <a:ext cx="1234440" cy="164592"/>
          </a:xfrm>
          <a:prstGeom prst="rect">
            <a:avLst/>
          </a:prstGeom>
          <a:noFill/>
          <a:ln>
            <a:noFill/>
          </a:ln>
        </p:spPr>
        <p:txBody>
          <a:bodyPr wrap="square" lIns="0" tIns="0" rIns="0" bIns="0" rtlCol="0" anchor="ctr">
            <a:normAutofit/>
          </a:bodyPr>
          <a:lstStyle/>
          <a:p>
            <a:pPr marL="0" indent="0">
              <a:buNone/>
            </a:pPr>
            <a:r>
              <a:rPr lang="en-US" sz="1000" b="1" dirty="0">
                <a:solidFill>
                  <a:srgbClr val="3D1104"/>
                </a:solidFill>
              </a:rPr>
              <a:t>Enablement</a:t>
            </a:r>
            <a:endParaRPr lang="en-US" sz="1000" dirty="0"/>
          </a:p>
        </p:txBody>
      </p:sp>
      <p:sp>
        <p:nvSpPr>
          <p:cNvPr id="16" name="Text 14"/>
          <p:cNvSpPr/>
          <p:nvPr/>
        </p:nvSpPr>
        <p:spPr>
          <a:xfrm>
            <a:off x="859536" y="4443984"/>
            <a:ext cx="2487168" cy="201168"/>
          </a:xfrm>
          <a:prstGeom prst="rect">
            <a:avLst/>
          </a:prstGeom>
          <a:noFill/>
          <a:ln>
            <a:noFill/>
          </a:ln>
        </p:spPr>
        <p:txBody>
          <a:bodyPr wrap="square" lIns="0" tIns="0" rIns="0" bIns="0" rtlCol="0" anchor="ctr">
            <a:normAutofit/>
          </a:bodyPr>
          <a:lstStyle/>
          <a:p>
            <a:pPr marL="0" indent="0">
              <a:buNone/>
            </a:pPr>
            <a:r>
              <a:rPr lang="en-US" sz="1060" dirty="0">
                <a:solidFill>
                  <a:srgbClr val="1F2933"/>
                </a:solidFill>
              </a:rPr>
              <a:t>Créer le noyau de diffusion</a:t>
            </a:r>
            <a:endParaRPr lang="en-US" sz="1060" dirty="0"/>
          </a:p>
        </p:txBody>
      </p:sp>
      <p:sp>
        <p:nvSpPr>
          <p:cNvPr id="17" name="Text 15"/>
          <p:cNvSpPr/>
          <p:nvPr/>
        </p:nvSpPr>
        <p:spPr>
          <a:xfrm>
            <a:off x="859536" y="4745736"/>
            <a:ext cx="2487168" cy="219456"/>
          </a:xfrm>
          <a:prstGeom prst="rect">
            <a:avLst/>
          </a:prstGeom>
          <a:noFill/>
          <a:ln>
            <a:noFill/>
          </a:ln>
        </p:spPr>
        <p:txBody>
          <a:bodyPr wrap="square" lIns="0" tIns="0" rIns="0" bIns="0" rtlCol="0" anchor="ctr">
            <a:normAutofit fontScale="85000" lnSpcReduction="20000"/>
          </a:bodyPr>
          <a:lstStyle/>
          <a:p>
            <a:pPr marL="0" indent="0">
              <a:buNone/>
            </a:pPr>
            <a:r>
              <a:rPr lang="en-US" sz="940" dirty="0">
                <a:solidFill>
                  <a:srgbClr val="8B7D73"/>
                </a:solidFill>
              </a:rPr>
              <a:t>Livrable : Liste Early Adopters + kick-off + canal de partage</a:t>
            </a:r>
            <a:endParaRPr lang="en-US" sz="940" dirty="0"/>
          </a:p>
        </p:txBody>
      </p:sp>
      <p:sp>
        <p:nvSpPr>
          <p:cNvPr id="18" name="Shape 16"/>
          <p:cNvSpPr/>
          <p:nvPr/>
        </p:nvSpPr>
        <p:spPr>
          <a:xfrm>
            <a:off x="4069080" y="1554480"/>
            <a:ext cx="2834640" cy="4206240"/>
          </a:xfrm>
          <a:prstGeom prst="roundRect">
            <a:avLst>
              <a:gd name="adj" fmla="val 1290"/>
            </a:avLst>
          </a:prstGeom>
          <a:solidFill>
            <a:srgbClr val="FFFFFF"/>
          </a:solidFill>
          <a:ln w="12700">
            <a:solidFill>
              <a:srgbClr val="E3D8CC"/>
            </a:solidFill>
            <a:prstDash val="solid"/>
          </a:ln>
        </p:spPr>
        <p:txBody>
          <a:bodyPr/>
          <a:lstStyle/>
          <a:p>
            <a:endParaRPr/>
          </a:p>
        </p:txBody>
      </p:sp>
      <p:sp>
        <p:nvSpPr>
          <p:cNvPr id="19" name="Shape 17"/>
          <p:cNvSpPr/>
          <p:nvPr/>
        </p:nvSpPr>
        <p:spPr>
          <a:xfrm>
            <a:off x="4069080" y="1554480"/>
            <a:ext cx="2834640" cy="384048"/>
          </a:xfrm>
          <a:prstGeom prst="rect">
            <a:avLst/>
          </a:prstGeom>
          <a:solidFill>
            <a:srgbClr val="9C623A"/>
          </a:solidFill>
          <a:ln w="12700">
            <a:solidFill>
              <a:srgbClr val="E3D8CC"/>
            </a:solidFill>
            <a:prstDash val="solid"/>
          </a:ln>
        </p:spPr>
        <p:txBody>
          <a:bodyPr/>
          <a:lstStyle/>
          <a:p>
            <a:endParaRPr/>
          </a:p>
        </p:txBody>
      </p:sp>
      <p:sp>
        <p:nvSpPr>
          <p:cNvPr id="20" name="Text 18"/>
          <p:cNvSpPr/>
          <p:nvPr/>
        </p:nvSpPr>
        <p:spPr>
          <a:xfrm>
            <a:off x="4178808" y="1664208"/>
            <a:ext cx="2615184" cy="146304"/>
          </a:xfrm>
          <a:prstGeom prst="rect">
            <a:avLst/>
          </a:prstGeom>
          <a:noFill/>
          <a:ln>
            <a:noFill/>
          </a:ln>
        </p:spPr>
        <p:txBody>
          <a:bodyPr wrap="square" lIns="0" tIns="0" rIns="0" bIns="0" rtlCol="0" anchor="ctr"/>
          <a:lstStyle/>
          <a:p>
            <a:pPr marL="0" indent="0" algn="ctr">
              <a:buNone/>
            </a:pPr>
            <a:r>
              <a:rPr lang="en-US" sz="1220" b="1" dirty="0">
                <a:solidFill>
                  <a:srgbClr val="FFFFFF"/>
                </a:solidFill>
              </a:rPr>
              <a:t>31–60 jours</a:t>
            </a:r>
            <a:endParaRPr lang="en-US" sz="1220" dirty="0"/>
          </a:p>
        </p:txBody>
      </p:sp>
      <p:sp>
        <p:nvSpPr>
          <p:cNvPr id="21" name="Text 19"/>
          <p:cNvSpPr/>
          <p:nvPr/>
        </p:nvSpPr>
        <p:spPr>
          <a:xfrm>
            <a:off x="4215384" y="2084832"/>
            <a:ext cx="1234440" cy="164592"/>
          </a:xfrm>
          <a:prstGeom prst="rect">
            <a:avLst/>
          </a:prstGeom>
          <a:noFill/>
          <a:ln>
            <a:noFill/>
          </a:ln>
        </p:spPr>
        <p:txBody>
          <a:bodyPr wrap="square" lIns="0" tIns="0" rIns="0" bIns="0" rtlCol="0" anchor="ctr">
            <a:normAutofit/>
          </a:bodyPr>
          <a:lstStyle/>
          <a:p>
            <a:pPr marL="0" indent="0">
              <a:buNone/>
            </a:pPr>
            <a:r>
              <a:rPr lang="en-US" sz="1000" b="1" dirty="0">
                <a:solidFill>
                  <a:srgbClr val="9C623A"/>
                </a:solidFill>
              </a:rPr>
              <a:t>Formation</a:t>
            </a:r>
            <a:endParaRPr lang="en-US" sz="1000" dirty="0"/>
          </a:p>
        </p:txBody>
      </p:sp>
      <p:sp>
        <p:nvSpPr>
          <p:cNvPr id="22" name="Text 20"/>
          <p:cNvSpPr/>
          <p:nvPr/>
        </p:nvSpPr>
        <p:spPr>
          <a:xfrm>
            <a:off x="4215384" y="2286000"/>
            <a:ext cx="2487168" cy="201168"/>
          </a:xfrm>
          <a:prstGeom prst="rect">
            <a:avLst/>
          </a:prstGeom>
          <a:noFill/>
          <a:ln>
            <a:noFill/>
          </a:ln>
        </p:spPr>
        <p:txBody>
          <a:bodyPr wrap="square" lIns="0" tIns="0" rIns="0" bIns="0" rtlCol="0" anchor="ctr">
            <a:normAutofit/>
          </a:bodyPr>
          <a:lstStyle/>
          <a:p>
            <a:pPr marL="0" indent="0">
              <a:buNone/>
            </a:pPr>
            <a:r>
              <a:rPr lang="en-US" sz="1060" dirty="0">
                <a:solidFill>
                  <a:srgbClr val="1F2933"/>
                </a:solidFill>
              </a:rPr>
              <a:t>Élever rapidement le niveau moyen</a:t>
            </a:r>
            <a:endParaRPr lang="en-US" sz="1060" dirty="0"/>
          </a:p>
        </p:txBody>
      </p:sp>
      <p:sp>
        <p:nvSpPr>
          <p:cNvPr id="23" name="Text 21"/>
          <p:cNvSpPr/>
          <p:nvPr/>
        </p:nvSpPr>
        <p:spPr>
          <a:xfrm>
            <a:off x="4215384" y="2587752"/>
            <a:ext cx="2487168" cy="219456"/>
          </a:xfrm>
          <a:prstGeom prst="rect">
            <a:avLst/>
          </a:prstGeom>
          <a:noFill/>
          <a:ln>
            <a:noFill/>
          </a:ln>
        </p:spPr>
        <p:txBody>
          <a:bodyPr wrap="square" lIns="0" tIns="0" rIns="0" bIns="0" rtlCol="0" anchor="ctr">
            <a:normAutofit fontScale="85000" lnSpcReduction="20000"/>
          </a:bodyPr>
          <a:lstStyle/>
          <a:p>
            <a:pPr marL="0" indent="0">
              <a:buNone/>
            </a:pPr>
            <a:r>
              <a:rPr lang="en-US" sz="940" dirty="0">
                <a:solidFill>
                  <a:srgbClr val="8B7D73"/>
                </a:solidFill>
              </a:rPr>
              <a:t>Livrable : Ateliers par fonction : prompts, garde-fous, cas d’usage métier</a:t>
            </a:r>
            <a:endParaRPr lang="en-US" sz="940" dirty="0"/>
          </a:p>
        </p:txBody>
      </p:sp>
      <p:sp>
        <p:nvSpPr>
          <p:cNvPr id="24" name="Shape 22"/>
          <p:cNvSpPr/>
          <p:nvPr/>
        </p:nvSpPr>
        <p:spPr>
          <a:xfrm>
            <a:off x="4215384" y="2953512"/>
            <a:ext cx="2505456" cy="0"/>
          </a:xfrm>
          <a:prstGeom prst="line">
            <a:avLst/>
          </a:prstGeom>
          <a:noFill/>
          <a:ln w="12700">
            <a:solidFill>
              <a:srgbClr val="E3D8CC"/>
            </a:solidFill>
            <a:prstDash val="solid"/>
          </a:ln>
        </p:spPr>
        <p:txBody>
          <a:bodyPr/>
          <a:lstStyle/>
          <a:p>
            <a:endParaRPr/>
          </a:p>
        </p:txBody>
      </p:sp>
      <p:sp>
        <p:nvSpPr>
          <p:cNvPr id="25" name="Text 23"/>
          <p:cNvSpPr/>
          <p:nvPr/>
        </p:nvSpPr>
        <p:spPr>
          <a:xfrm>
            <a:off x="4215384" y="3163824"/>
            <a:ext cx="1234440" cy="164592"/>
          </a:xfrm>
          <a:prstGeom prst="rect">
            <a:avLst/>
          </a:prstGeom>
          <a:noFill/>
          <a:ln>
            <a:noFill/>
          </a:ln>
        </p:spPr>
        <p:txBody>
          <a:bodyPr wrap="square" lIns="0" tIns="0" rIns="0" bIns="0" rtlCol="0" anchor="ctr">
            <a:normAutofit/>
          </a:bodyPr>
          <a:lstStyle/>
          <a:p>
            <a:pPr marL="0" indent="0">
              <a:buNone/>
            </a:pPr>
            <a:r>
              <a:rPr lang="en-US" sz="1000" b="1" dirty="0">
                <a:solidFill>
                  <a:srgbClr val="9C623A"/>
                </a:solidFill>
              </a:rPr>
              <a:t>Mesure</a:t>
            </a:r>
            <a:endParaRPr lang="en-US" sz="1000" dirty="0"/>
          </a:p>
        </p:txBody>
      </p:sp>
      <p:sp>
        <p:nvSpPr>
          <p:cNvPr id="26" name="Text 24"/>
          <p:cNvSpPr/>
          <p:nvPr/>
        </p:nvSpPr>
        <p:spPr>
          <a:xfrm>
            <a:off x="4215384" y="3364992"/>
            <a:ext cx="2487168" cy="201168"/>
          </a:xfrm>
          <a:prstGeom prst="rect">
            <a:avLst/>
          </a:prstGeom>
          <a:noFill/>
          <a:ln>
            <a:noFill/>
          </a:ln>
        </p:spPr>
        <p:txBody>
          <a:bodyPr wrap="square" lIns="0" tIns="0" rIns="0" bIns="0" rtlCol="0" anchor="ctr">
            <a:normAutofit/>
          </a:bodyPr>
          <a:lstStyle/>
          <a:p>
            <a:pPr marL="0" indent="0">
              <a:buNone/>
            </a:pPr>
            <a:r>
              <a:rPr lang="en-US" sz="1060" dirty="0">
                <a:solidFill>
                  <a:srgbClr val="1F2933"/>
                </a:solidFill>
              </a:rPr>
              <a:t>Rendre les gains visibles</a:t>
            </a:r>
            <a:endParaRPr lang="en-US" sz="1060" dirty="0"/>
          </a:p>
        </p:txBody>
      </p:sp>
      <p:sp>
        <p:nvSpPr>
          <p:cNvPr id="27" name="Text 25"/>
          <p:cNvSpPr/>
          <p:nvPr/>
        </p:nvSpPr>
        <p:spPr>
          <a:xfrm>
            <a:off x="4215384" y="3666744"/>
            <a:ext cx="2487168" cy="219456"/>
          </a:xfrm>
          <a:prstGeom prst="rect">
            <a:avLst/>
          </a:prstGeom>
          <a:noFill/>
          <a:ln>
            <a:noFill/>
          </a:ln>
        </p:spPr>
        <p:txBody>
          <a:bodyPr wrap="square" lIns="0" tIns="0" rIns="0" bIns="0" rtlCol="0" anchor="ctr">
            <a:normAutofit fontScale="85000" lnSpcReduction="10000"/>
          </a:bodyPr>
          <a:lstStyle/>
          <a:p>
            <a:pPr marL="0" indent="0">
              <a:buNone/>
            </a:pPr>
            <a:r>
              <a:rPr lang="en-US" sz="940" dirty="0">
                <a:solidFill>
                  <a:srgbClr val="8B7D73"/>
                </a:solidFill>
              </a:rPr>
              <a:t>Livrable : Baseline légère temps/qualité + retours terrain</a:t>
            </a:r>
            <a:endParaRPr lang="en-US" sz="940" dirty="0"/>
          </a:p>
        </p:txBody>
      </p:sp>
      <p:sp>
        <p:nvSpPr>
          <p:cNvPr id="28" name="Shape 26"/>
          <p:cNvSpPr/>
          <p:nvPr/>
        </p:nvSpPr>
        <p:spPr>
          <a:xfrm>
            <a:off x="7424928" y="1554480"/>
            <a:ext cx="2834640" cy="4206240"/>
          </a:xfrm>
          <a:prstGeom prst="roundRect">
            <a:avLst>
              <a:gd name="adj" fmla="val 1290"/>
            </a:avLst>
          </a:prstGeom>
          <a:solidFill>
            <a:srgbClr val="FFFFFF"/>
          </a:solidFill>
          <a:ln w="12700">
            <a:solidFill>
              <a:srgbClr val="E3D8CC"/>
            </a:solidFill>
            <a:prstDash val="solid"/>
          </a:ln>
        </p:spPr>
        <p:txBody>
          <a:bodyPr/>
          <a:lstStyle/>
          <a:p>
            <a:endParaRPr/>
          </a:p>
        </p:txBody>
      </p:sp>
      <p:sp>
        <p:nvSpPr>
          <p:cNvPr id="29" name="Shape 27"/>
          <p:cNvSpPr/>
          <p:nvPr/>
        </p:nvSpPr>
        <p:spPr>
          <a:xfrm>
            <a:off x="7424928" y="1554480"/>
            <a:ext cx="2834640" cy="384048"/>
          </a:xfrm>
          <a:prstGeom prst="rect">
            <a:avLst/>
          </a:prstGeom>
          <a:solidFill>
            <a:srgbClr val="6F8A5C"/>
          </a:solidFill>
          <a:ln w="12700">
            <a:solidFill>
              <a:srgbClr val="E3D8CC"/>
            </a:solidFill>
            <a:prstDash val="solid"/>
          </a:ln>
        </p:spPr>
        <p:txBody>
          <a:bodyPr/>
          <a:lstStyle/>
          <a:p>
            <a:endParaRPr/>
          </a:p>
        </p:txBody>
      </p:sp>
      <p:sp>
        <p:nvSpPr>
          <p:cNvPr id="30" name="Text 28"/>
          <p:cNvSpPr/>
          <p:nvPr/>
        </p:nvSpPr>
        <p:spPr>
          <a:xfrm>
            <a:off x="7534656" y="1664208"/>
            <a:ext cx="2615184" cy="146304"/>
          </a:xfrm>
          <a:prstGeom prst="rect">
            <a:avLst/>
          </a:prstGeom>
          <a:noFill/>
          <a:ln>
            <a:noFill/>
          </a:ln>
        </p:spPr>
        <p:txBody>
          <a:bodyPr wrap="square" lIns="0" tIns="0" rIns="0" bIns="0" rtlCol="0" anchor="ctr"/>
          <a:lstStyle/>
          <a:p>
            <a:pPr marL="0" indent="0" algn="ctr">
              <a:buNone/>
            </a:pPr>
            <a:r>
              <a:rPr lang="en-US" sz="1220" b="1" dirty="0">
                <a:solidFill>
                  <a:srgbClr val="FFFFFF"/>
                </a:solidFill>
              </a:rPr>
              <a:t>61–90 jours</a:t>
            </a:r>
            <a:endParaRPr lang="en-US" sz="1220" dirty="0"/>
          </a:p>
        </p:txBody>
      </p:sp>
      <p:sp>
        <p:nvSpPr>
          <p:cNvPr id="31" name="Text 29"/>
          <p:cNvSpPr/>
          <p:nvPr/>
        </p:nvSpPr>
        <p:spPr>
          <a:xfrm>
            <a:off x="7571232" y="2084832"/>
            <a:ext cx="1234440" cy="164592"/>
          </a:xfrm>
          <a:prstGeom prst="rect">
            <a:avLst/>
          </a:prstGeom>
          <a:noFill/>
          <a:ln>
            <a:noFill/>
          </a:ln>
        </p:spPr>
        <p:txBody>
          <a:bodyPr wrap="square" lIns="0" tIns="0" rIns="0" bIns="0" rtlCol="0" anchor="ctr">
            <a:normAutofit/>
          </a:bodyPr>
          <a:lstStyle/>
          <a:p>
            <a:pPr marL="0" indent="0">
              <a:buNone/>
            </a:pPr>
            <a:r>
              <a:rPr lang="en-US" sz="1000" b="1" dirty="0">
                <a:solidFill>
                  <a:srgbClr val="6F8A5C"/>
                </a:solidFill>
              </a:rPr>
              <a:t>Industrialisation</a:t>
            </a:r>
            <a:endParaRPr lang="en-US" sz="1000" dirty="0"/>
          </a:p>
        </p:txBody>
      </p:sp>
      <p:sp>
        <p:nvSpPr>
          <p:cNvPr id="32" name="Text 30"/>
          <p:cNvSpPr/>
          <p:nvPr/>
        </p:nvSpPr>
        <p:spPr>
          <a:xfrm>
            <a:off x="7571232" y="2286000"/>
            <a:ext cx="2487168" cy="201168"/>
          </a:xfrm>
          <a:prstGeom prst="rect">
            <a:avLst/>
          </a:prstGeom>
          <a:noFill/>
          <a:ln>
            <a:noFill/>
          </a:ln>
        </p:spPr>
        <p:txBody>
          <a:bodyPr wrap="square" lIns="0" tIns="0" rIns="0" bIns="0" rtlCol="0" anchor="ctr">
            <a:normAutofit/>
          </a:bodyPr>
          <a:lstStyle/>
          <a:p>
            <a:pPr marL="0" indent="0">
              <a:buNone/>
            </a:pPr>
            <a:r>
              <a:rPr lang="en-US" sz="1060" dirty="0">
                <a:solidFill>
                  <a:srgbClr val="1F2933"/>
                </a:solidFill>
              </a:rPr>
              <a:t>Préparer le passage à l’échelle</a:t>
            </a:r>
            <a:endParaRPr lang="en-US" sz="1060" dirty="0"/>
          </a:p>
        </p:txBody>
      </p:sp>
      <p:sp>
        <p:nvSpPr>
          <p:cNvPr id="33" name="Text 31"/>
          <p:cNvSpPr/>
          <p:nvPr/>
        </p:nvSpPr>
        <p:spPr>
          <a:xfrm>
            <a:off x="7571232" y="2587752"/>
            <a:ext cx="2487168" cy="219456"/>
          </a:xfrm>
          <a:prstGeom prst="rect">
            <a:avLst/>
          </a:prstGeom>
          <a:noFill/>
          <a:ln>
            <a:noFill/>
          </a:ln>
        </p:spPr>
        <p:txBody>
          <a:bodyPr wrap="square" lIns="0" tIns="0" rIns="0" bIns="0" rtlCol="0" anchor="ctr">
            <a:normAutofit fontScale="85000" lnSpcReduction="20000"/>
          </a:bodyPr>
          <a:lstStyle/>
          <a:p>
            <a:pPr marL="0" indent="0">
              <a:buNone/>
            </a:pPr>
            <a:r>
              <a:rPr lang="en-US" sz="940" dirty="0">
                <a:solidFill>
                  <a:srgbClr val="8B7D73"/>
                </a:solidFill>
              </a:rPr>
              <a:t>Livrable : Decision memo : arrêter / poursuivre / intégrer aux systèmes</a:t>
            </a:r>
            <a:endParaRPr lang="en-US" sz="940" dirty="0"/>
          </a:p>
        </p:txBody>
      </p:sp>
      <p:sp>
        <p:nvSpPr>
          <p:cNvPr id="34" name="Shape 32"/>
          <p:cNvSpPr/>
          <p:nvPr/>
        </p:nvSpPr>
        <p:spPr>
          <a:xfrm>
            <a:off x="868680" y="5897880"/>
            <a:ext cx="9601200" cy="347472"/>
          </a:xfrm>
          <a:prstGeom prst="roundRect">
            <a:avLst>
              <a:gd name="adj" fmla="val 5263"/>
            </a:avLst>
          </a:prstGeom>
          <a:solidFill>
            <a:srgbClr val="F9F2E4"/>
          </a:solidFill>
          <a:ln w="12700">
            <a:solidFill>
              <a:srgbClr val="E3D8CC"/>
            </a:solidFill>
            <a:prstDash val="solid"/>
          </a:ln>
        </p:spPr>
        <p:txBody>
          <a:bodyPr/>
          <a:lstStyle/>
          <a:p>
            <a:endParaRPr/>
          </a:p>
        </p:txBody>
      </p:sp>
      <p:sp>
        <p:nvSpPr>
          <p:cNvPr id="35" name="Text 33"/>
          <p:cNvSpPr/>
          <p:nvPr/>
        </p:nvSpPr>
        <p:spPr>
          <a:xfrm>
            <a:off x="1051560" y="5998464"/>
            <a:ext cx="9235440" cy="146304"/>
          </a:xfrm>
          <a:prstGeom prst="rect">
            <a:avLst/>
          </a:prstGeom>
          <a:noFill/>
          <a:ln>
            <a:noFill/>
          </a:ln>
        </p:spPr>
        <p:txBody>
          <a:bodyPr wrap="square" lIns="0" tIns="0" rIns="0" bIns="0" rtlCol="0" anchor="ctr"/>
          <a:lstStyle/>
          <a:p>
            <a:pPr marL="0" indent="0" algn="ctr">
              <a:buNone/>
            </a:pPr>
            <a:r>
              <a:rPr lang="en-US" sz="1080" dirty="0">
                <a:solidFill>
                  <a:srgbClr val="1F2933"/>
                </a:solidFill>
              </a:rPr>
              <a:t>Principe de pilotage : ne pas industrialiser avant d’avoir nommé les sponsors, borné le scope et mesuré quelques gains simples.</a:t>
            </a:r>
            <a:endParaRPr lang="en-US" sz="1080" dirty="0"/>
          </a:p>
        </p:txBody>
      </p:sp>
      <p:sp>
        <p:nvSpPr>
          <p:cNvPr id="36" name="TextBox 35"/>
          <p:cNvSpPr txBox="1"/>
          <p:nvPr/>
        </p:nvSpPr>
        <p:spPr>
          <a:xfrm>
            <a:off x="11292840" y="6455664"/>
            <a:ext cx="502920" cy="182880"/>
          </a:xfrm>
          <a:prstGeom prst="rect">
            <a:avLst/>
          </a:prstGeom>
          <a:noFill/>
          <a:ln>
            <a:noFill/>
          </a:ln>
        </p:spPr>
        <p:txBody>
          <a:bodyPr wrap="none">
            <a:spAutoFit/>
          </a:bodyPr>
          <a:lstStyle/>
          <a:p>
            <a:pPr algn="r">
              <a:defRPr sz="1000">
                <a:solidFill>
                  <a:srgbClr val="27333F"/>
                </a:solidFill>
                <a:latin typeface="Aptos"/>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8F4"/>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438912"/>
          </a:xfrm>
          <a:prstGeom prst="rect">
            <a:avLst/>
          </a:prstGeom>
          <a:noFill/>
          <a:ln>
            <a:noFill/>
          </a:ln>
        </p:spPr>
        <p:txBody>
          <a:bodyPr wrap="square" lIns="0" tIns="0" rIns="0" bIns="0" rtlCol="0" anchor="ctr"/>
          <a:lstStyle/>
          <a:p>
            <a:pPr marL="0" indent="0">
              <a:buNone/>
            </a:pPr>
            <a:r>
              <a:rPr lang="en-US" sz="2400" b="1" dirty="0">
                <a:solidFill>
                  <a:srgbClr val="1F2933"/>
                </a:solidFill>
                <a:latin typeface="Aptos Display" pitchFamily="34" charset="0"/>
                <a:ea typeface="Aptos Display" pitchFamily="34" charset="-122"/>
                <a:cs typeface="Aptos Display" pitchFamily="34" charset="-120"/>
              </a:rPr>
              <a:t>La réussite dépend moins d’un outil que d’un dispositif d’adoption ciblé</a:t>
            </a:r>
            <a:endParaRPr lang="en-US" sz="2400" dirty="0"/>
          </a:p>
        </p:txBody>
      </p:sp>
      <p:sp>
        <p:nvSpPr>
          <p:cNvPr id="3" name="Text 1"/>
          <p:cNvSpPr/>
          <p:nvPr/>
        </p:nvSpPr>
        <p:spPr>
          <a:xfrm>
            <a:off x="658368" y="896112"/>
            <a:ext cx="10241280" cy="256032"/>
          </a:xfrm>
          <a:prstGeom prst="rect">
            <a:avLst/>
          </a:prstGeom>
          <a:noFill/>
          <a:ln>
            <a:noFill/>
          </a:ln>
        </p:spPr>
        <p:txBody>
          <a:bodyPr wrap="square" lIns="0" tIns="0" rIns="0" bIns="0" rtlCol="0" anchor="ctr"/>
          <a:lstStyle/>
          <a:p>
            <a:pPr marL="0" indent="0">
              <a:buNone/>
            </a:pPr>
            <a:r>
              <a:rPr lang="en-US" sz="1150" dirty="0">
                <a:solidFill>
                  <a:srgbClr val="8B7D73"/>
                </a:solidFill>
                <a:latin typeface="Aptos" pitchFamily="34" charset="0"/>
                <a:ea typeface="Aptos" pitchFamily="34" charset="-122"/>
                <a:cs typeface="Aptos" pitchFamily="34" charset="-120"/>
              </a:rPr>
              <a:t>Compétences à développer, formats attendus et réseau de diffusion</a:t>
            </a:r>
            <a:endParaRPr lang="en-US" sz="1150" dirty="0"/>
          </a:p>
        </p:txBody>
      </p:sp>
      <p:sp>
        <p:nvSpPr>
          <p:cNvPr id="4" name="Text 2"/>
          <p:cNvSpPr/>
          <p:nvPr/>
        </p:nvSpPr>
        <p:spPr>
          <a:xfrm>
            <a:off x="713232" y="1389888"/>
            <a:ext cx="5303520" cy="201168"/>
          </a:xfrm>
          <a:prstGeom prst="rect">
            <a:avLst/>
          </a:prstGeom>
          <a:noFill/>
          <a:ln>
            <a:noFill/>
          </a:ln>
        </p:spPr>
        <p:txBody>
          <a:bodyPr wrap="square" lIns="0" tIns="0" rIns="0" bIns="0" rtlCol="0" anchor="ctr"/>
          <a:lstStyle/>
          <a:p>
            <a:pPr marL="0" indent="0">
              <a:buNone/>
            </a:pPr>
            <a:r>
              <a:rPr lang="en-US" sz="1150" b="1" dirty="0">
                <a:solidFill>
                  <a:srgbClr val="1F2933"/>
                </a:solidFill>
              </a:rPr>
              <a:t>Ce que les équipes veulent apprendre d’abord</a:t>
            </a:r>
            <a:endParaRPr lang="en-US" sz="1150" dirty="0"/>
          </a:p>
        </p:txBody>
      </p:sp>
      <p:sp>
        <p:nvSpPr>
          <p:cNvPr id="5" name="Text 3"/>
          <p:cNvSpPr/>
          <p:nvPr/>
        </p:nvSpPr>
        <p:spPr>
          <a:xfrm>
            <a:off x="713232" y="1664208"/>
            <a:ext cx="2560320" cy="521208"/>
          </a:xfrm>
          <a:prstGeom prst="rect">
            <a:avLst/>
          </a:prstGeom>
          <a:noFill/>
          <a:ln>
            <a:noFill/>
          </a:ln>
        </p:spPr>
        <p:txBody>
          <a:bodyPr wrap="square" lIns="0" tIns="0" rIns="0" bIns="0" rtlCol="0" anchor="ctr">
            <a:normAutofit/>
          </a:bodyPr>
          <a:lstStyle/>
          <a:p>
            <a:pPr marL="0" indent="0">
              <a:buNone/>
            </a:pPr>
            <a:r>
              <a:rPr lang="en-US" sz="1000" dirty="0">
                <a:solidFill>
                  <a:srgbClr val="1F2933"/>
                </a:solidFill>
              </a:rPr>
              <a:t>Data analysis</a:t>
            </a:r>
            <a:endParaRPr lang="en-US" sz="1000" dirty="0"/>
          </a:p>
          <a:p>
            <a:pPr marL="0" indent="0">
              <a:buNone/>
            </a:pPr>
            <a:r>
              <a:rPr lang="en-US" sz="1000" dirty="0">
                <a:solidFill>
                  <a:srgbClr val="1F2933"/>
                </a:solidFill>
              </a:rPr>
              <a:t>(Excel/Sheets)</a:t>
            </a:r>
            <a:endParaRPr lang="en-US" sz="1000" dirty="0"/>
          </a:p>
        </p:txBody>
      </p:sp>
      <p:sp>
        <p:nvSpPr>
          <p:cNvPr id="6" name="Shape 4"/>
          <p:cNvSpPr/>
          <p:nvPr/>
        </p:nvSpPr>
        <p:spPr>
          <a:xfrm>
            <a:off x="3383280" y="1728216"/>
            <a:ext cx="2057400" cy="393192"/>
          </a:xfrm>
          <a:prstGeom prst="rect">
            <a:avLst/>
          </a:prstGeom>
          <a:solidFill>
            <a:srgbClr val="F7F1E8"/>
          </a:solidFill>
          <a:ln w="12700">
            <a:solidFill>
              <a:srgbClr val="E3D8CC"/>
            </a:solidFill>
            <a:prstDash val="solid"/>
          </a:ln>
        </p:spPr>
        <p:txBody>
          <a:bodyPr/>
          <a:lstStyle/>
          <a:p>
            <a:endParaRPr/>
          </a:p>
        </p:txBody>
      </p:sp>
      <p:sp>
        <p:nvSpPr>
          <p:cNvPr id="7" name="Shape 5"/>
          <p:cNvSpPr/>
          <p:nvPr/>
        </p:nvSpPr>
        <p:spPr>
          <a:xfrm>
            <a:off x="3383280" y="1728216"/>
            <a:ext cx="2057400" cy="393192"/>
          </a:xfrm>
          <a:prstGeom prst="rect">
            <a:avLst/>
          </a:prstGeom>
          <a:solidFill>
            <a:srgbClr val="3D1104"/>
          </a:solidFill>
          <a:ln w="12700">
            <a:solidFill>
              <a:srgbClr val="E3D8CC"/>
            </a:solidFill>
            <a:prstDash val="solid"/>
          </a:ln>
        </p:spPr>
        <p:txBody>
          <a:bodyPr/>
          <a:lstStyle/>
          <a:p>
            <a:endParaRPr/>
          </a:p>
        </p:txBody>
      </p:sp>
      <p:sp>
        <p:nvSpPr>
          <p:cNvPr id="8" name="Text 6"/>
          <p:cNvSpPr/>
          <p:nvPr/>
        </p:nvSpPr>
        <p:spPr>
          <a:xfrm>
            <a:off x="5513832" y="1664208"/>
            <a:ext cx="457200" cy="539496"/>
          </a:xfrm>
          <a:prstGeom prst="rect">
            <a:avLst/>
          </a:prstGeom>
          <a:noFill/>
          <a:ln>
            <a:noFill/>
          </a:ln>
        </p:spPr>
        <p:txBody>
          <a:bodyPr wrap="square" lIns="0" tIns="0" rIns="0" bIns="0" rtlCol="0" anchor="ctr"/>
          <a:lstStyle/>
          <a:p>
            <a:pPr marL="0" indent="0" algn="r">
              <a:buNone/>
            </a:pPr>
            <a:r>
              <a:rPr lang="en-US" sz="1050" b="1" dirty="0">
                <a:solidFill>
                  <a:srgbClr val="1F2933"/>
                </a:solidFill>
              </a:rPr>
              <a:t>39</a:t>
            </a:r>
            <a:endParaRPr lang="en-US" sz="1050" dirty="0"/>
          </a:p>
        </p:txBody>
      </p:sp>
      <p:sp>
        <p:nvSpPr>
          <p:cNvPr id="9" name="Text 7"/>
          <p:cNvSpPr/>
          <p:nvPr/>
        </p:nvSpPr>
        <p:spPr>
          <a:xfrm>
            <a:off x="713232" y="2240280"/>
            <a:ext cx="2560320" cy="521208"/>
          </a:xfrm>
          <a:prstGeom prst="rect">
            <a:avLst/>
          </a:prstGeom>
          <a:noFill/>
          <a:ln>
            <a:noFill/>
          </a:ln>
        </p:spPr>
        <p:txBody>
          <a:bodyPr wrap="square" lIns="0" tIns="0" rIns="0" bIns="0" rtlCol="0" anchor="ctr">
            <a:normAutofit/>
          </a:bodyPr>
          <a:lstStyle/>
          <a:p>
            <a:pPr marL="0" indent="0">
              <a:buNone/>
            </a:pPr>
            <a:r>
              <a:rPr lang="en-US" sz="1000" dirty="0">
                <a:solidFill>
                  <a:srgbClr val="1F2933"/>
                </a:solidFill>
              </a:rPr>
              <a:t>Creating slides /</a:t>
            </a:r>
            <a:endParaRPr lang="en-US" sz="1000" dirty="0"/>
          </a:p>
          <a:p>
            <a:pPr marL="0" indent="0">
              <a:buNone/>
            </a:pPr>
            <a:r>
              <a:rPr lang="en-US" sz="1000" dirty="0">
                <a:solidFill>
                  <a:srgbClr val="1F2933"/>
                </a:solidFill>
              </a:rPr>
              <a:t>structured narratives</a:t>
            </a:r>
            <a:endParaRPr lang="en-US" sz="1000" dirty="0"/>
          </a:p>
        </p:txBody>
      </p:sp>
      <p:sp>
        <p:nvSpPr>
          <p:cNvPr id="10" name="Shape 8"/>
          <p:cNvSpPr/>
          <p:nvPr/>
        </p:nvSpPr>
        <p:spPr>
          <a:xfrm>
            <a:off x="3383280" y="2304288"/>
            <a:ext cx="2057400" cy="393192"/>
          </a:xfrm>
          <a:prstGeom prst="rect">
            <a:avLst/>
          </a:prstGeom>
          <a:solidFill>
            <a:srgbClr val="F7F1E8"/>
          </a:solidFill>
          <a:ln w="12700">
            <a:solidFill>
              <a:srgbClr val="E3D8CC"/>
            </a:solidFill>
            <a:prstDash val="solid"/>
          </a:ln>
        </p:spPr>
        <p:txBody>
          <a:bodyPr/>
          <a:lstStyle/>
          <a:p>
            <a:endParaRPr/>
          </a:p>
        </p:txBody>
      </p:sp>
      <p:sp>
        <p:nvSpPr>
          <p:cNvPr id="11" name="Shape 9"/>
          <p:cNvSpPr/>
          <p:nvPr/>
        </p:nvSpPr>
        <p:spPr>
          <a:xfrm>
            <a:off x="3383280" y="2304288"/>
            <a:ext cx="2057400" cy="393192"/>
          </a:xfrm>
          <a:prstGeom prst="rect">
            <a:avLst/>
          </a:prstGeom>
          <a:solidFill>
            <a:srgbClr val="3D1104"/>
          </a:solidFill>
          <a:ln w="12700">
            <a:solidFill>
              <a:srgbClr val="E3D8CC"/>
            </a:solidFill>
            <a:prstDash val="solid"/>
          </a:ln>
        </p:spPr>
        <p:txBody>
          <a:bodyPr/>
          <a:lstStyle/>
          <a:p>
            <a:endParaRPr/>
          </a:p>
        </p:txBody>
      </p:sp>
      <p:sp>
        <p:nvSpPr>
          <p:cNvPr id="12" name="Text 10"/>
          <p:cNvSpPr/>
          <p:nvPr/>
        </p:nvSpPr>
        <p:spPr>
          <a:xfrm>
            <a:off x="5513832" y="2240280"/>
            <a:ext cx="457200" cy="539496"/>
          </a:xfrm>
          <a:prstGeom prst="rect">
            <a:avLst/>
          </a:prstGeom>
          <a:noFill/>
          <a:ln>
            <a:noFill/>
          </a:ln>
        </p:spPr>
        <p:txBody>
          <a:bodyPr wrap="square" lIns="0" tIns="0" rIns="0" bIns="0" rtlCol="0" anchor="ctr"/>
          <a:lstStyle/>
          <a:p>
            <a:pPr marL="0" indent="0" algn="r">
              <a:buNone/>
            </a:pPr>
            <a:r>
              <a:rPr lang="en-US" sz="1050" b="1" dirty="0">
                <a:solidFill>
                  <a:srgbClr val="1F2933"/>
                </a:solidFill>
              </a:rPr>
              <a:t>39</a:t>
            </a:r>
            <a:endParaRPr lang="en-US" sz="1050" dirty="0"/>
          </a:p>
        </p:txBody>
      </p:sp>
      <p:sp>
        <p:nvSpPr>
          <p:cNvPr id="13" name="Text 11"/>
          <p:cNvSpPr/>
          <p:nvPr/>
        </p:nvSpPr>
        <p:spPr>
          <a:xfrm>
            <a:off x="713232" y="2816352"/>
            <a:ext cx="2560320" cy="521208"/>
          </a:xfrm>
          <a:prstGeom prst="rect">
            <a:avLst/>
          </a:prstGeom>
          <a:noFill/>
          <a:ln>
            <a:noFill/>
          </a:ln>
        </p:spPr>
        <p:txBody>
          <a:bodyPr wrap="square" lIns="0" tIns="0" rIns="0" bIns="0" rtlCol="0" anchor="ctr">
            <a:normAutofit/>
          </a:bodyPr>
          <a:lstStyle/>
          <a:p>
            <a:pPr marL="0" indent="0">
              <a:buNone/>
            </a:pPr>
            <a:r>
              <a:rPr lang="en-US" sz="1000" dirty="0">
                <a:solidFill>
                  <a:srgbClr val="1F2933"/>
                </a:solidFill>
              </a:rPr>
              <a:t>Writing better prompts</a:t>
            </a:r>
            <a:endParaRPr lang="en-US" sz="1000" dirty="0"/>
          </a:p>
        </p:txBody>
      </p:sp>
      <p:sp>
        <p:nvSpPr>
          <p:cNvPr id="14" name="Shape 12"/>
          <p:cNvSpPr/>
          <p:nvPr/>
        </p:nvSpPr>
        <p:spPr>
          <a:xfrm>
            <a:off x="3383280" y="2880360"/>
            <a:ext cx="2057400" cy="393192"/>
          </a:xfrm>
          <a:prstGeom prst="rect">
            <a:avLst/>
          </a:prstGeom>
          <a:solidFill>
            <a:srgbClr val="F7F1E8"/>
          </a:solidFill>
          <a:ln w="12700">
            <a:solidFill>
              <a:srgbClr val="E3D8CC"/>
            </a:solidFill>
            <a:prstDash val="solid"/>
          </a:ln>
        </p:spPr>
        <p:txBody>
          <a:bodyPr/>
          <a:lstStyle/>
          <a:p>
            <a:endParaRPr/>
          </a:p>
        </p:txBody>
      </p:sp>
      <p:sp>
        <p:nvSpPr>
          <p:cNvPr id="15" name="Shape 13"/>
          <p:cNvSpPr/>
          <p:nvPr/>
        </p:nvSpPr>
        <p:spPr>
          <a:xfrm>
            <a:off x="3383280" y="2880360"/>
            <a:ext cx="1846385" cy="393192"/>
          </a:xfrm>
          <a:prstGeom prst="rect">
            <a:avLst/>
          </a:prstGeom>
          <a:solidFill>
            <a:srgbClr val="3D1104"/>
          </a:solidFill>
          <a:ln w="12700">
            <a:solidFill>
              <a:srgbClr val="E3D8CC"/>
            </a:solidFill>
            <a:prstDash val="solid"/>
          </a:ln>
        </p:spPr>
        <p:txBody>
          <a:bodyPr/>
          <a:lstStyle/>
          <a:p>
            <a:endParaRPr/>
          </a:p>
        </p:txBody>
      </p:sp>
      <p:sp>
        <p:nvSpPr>
          <p:cNvPr id="16" name="Text 14"/>
          <p:cNvSpPr/>
          <p:nvPr/>
        </p:nvSpPr>
        <p:spPr>
          <a:xfrm>
            <a:off x="5513832" y="2816352"/>
            <a:ext cx="457200" cy="539496"/>
          </a:xfrm>
          <a:prstGeom prst="rect">
            <a:avLst/>
          </a:prstGeom>
          <a:noFill/>
          <a:ln>
            <a:noFill/>
          </a:ln>
        </p:spPr>
        <p:txBody>
          <a:bodyPr wrap="square" lIns="0" tIns="0" rIns="0" bIns="0" rtlCol="0" anchor="ctr"/>
          <a:lstStyle/>
          <a:p>
            <a:pPr marL="0" indent="0" algn="r">
              <a:buNone/>
            </a:pPr>
            <a:r>
              <a:rPr lang="en-US" sz="1050" b="1" dirty="0">
                <a:solidFill>
                  <a:srgbClr val="1F2933"/>
                </a:solidFill>
              </a:rPr>
              <a:t>35</a:t>
            </a:r>
            <a:endParaRPr lang="en-US" sz="1050" dirty="0"/>
          </a:p>
        </p:txBody>
      </p:sp>
      <p:sp>
        <p:nvSpPr>
          <p:cNvPr id="17" name="Text 15"/>
          <p:cNvSpPr/>
          <p:nvPr/>
        </p:nvSpPr>
        <p:spPr>
          <a:xfrm>
            <a:off x="713232" y="3392424"/>
            <a:ext cx="2560320" cy="521208"/>
          </a:xfrm>
          <a:prstGeom prst="rect">
            <a:avLst/>
          </a:prstGeom>
          <a:noFill/>
          <a:ln>
            <a:noFill/>
          </a:ln>
        </p:spPr>
        <p:txBody>
          <a:bodyPr wrap="square" lIns="0" tIns="0" rIns="0" bIns="0" rtlCol="0" anchor="ctr">
            <a:normAutofit/>
          </a:bodyPr>
          <a:lstStyle/>
          <a:p>
            <a:pPr marL="0" indent="0">
              <a:buNone/>
            </a:pPr>
            <a:r>
              <a:rPr lang="en-US" sz="1000" dirty="0">
                <a:solidFill>
                  <a:srgbClr val="1F2933"/>
                </a:solidFill>
              </a:rPr>
              <a:t>Responsible use / rules &amp;</a:t>
            </a:r>
            <a:endParaRPr lang="en-US" sz="1000" dirty="0"/>
          </a:p>
          <a:p>
            <a:pPr marL="0" indent="0">
              <a:buNone/>
            </a:pPr>
            <a:r>
              <a:rPr lang="en-US" sz="1000" dirty="0">
                <a:solidFill>
                  <a:srgbClr val="1F2933"/>
                </a:solidFill>
              </a:rPr>
              <a:t>safeguards</a:t>
            </a:r>
            <a:endParaRPr lang="en-US" sz="1000" dirty="0"/>
          </a:p>
        </p:txBody>
      </p:sp>
      <p:sp>
        <p:nvSpPr>
          <p:cNvPr id="18" name="Shape 16"/>
          <p:cNvSpPr/>
          <p:nvPr/>
        </p:nvSpPr>
        <p:spPr>
          <a:xfrm>
            <a:off x="3383280" y="3456432"/>
            <a:ext cx="2057400" cy="393192"/>
          </a:xfrm>
          <a:prstGeom prst="rect">
            <a:avLst/>
          </a:prstGeom>
          <a:solidFill>
            <a:srgbClr val="F7F1E8"/>
          </a:solidFill>
          <a:ln w="12700">
            <a:solidFill>
              <a:srgbClr val="E3D8CC"/>
            </a:solidFill>
            <a:prstDash val="solid"/>
          </a:ln>
        </p:spPr>
        <p:txBody>
          <a:bodyPr/>
          <a:lstStyle/>
          <a:p>
            <a:endParaRPr/>
          </a:p>
        </p:txBody>
      </p:sp>
      <p:sp>
        <p:nvSpPr>
          <p:cNvPr id="19" name="Shape 17"/>
          <p:cNvSpPr/>
          <p:nvPr/>
        </p:nvSpPr>
        <p:spPr>
          <a:xfrm>
            <a:off x="3383280" y="3456432"/>
            <a:ext cx="1529862" cy="393192"/>
          </a:xfrm>
          <a:prstGeom prst="rect">
            <a:avLst/>
          </a:prstGeom>
          <a:solidFill>
            <a:srgbClr val="3D1104"/>
          </a:solidFill>
          <a:ln w="12700">
            <a:solidFill>
              <a:srgbClr val="E3D8CC"/>
            </a:solidFill>
            <a:prstDash val="solid"/>
          </a:ln>
        </p:spPr>
        <p:txBody>
          <a:bodyPr/>
          <a:lstStyle/>
          <a:p>
            <a:endParaRPr/>
          </a:p>
        </p:txBody>
      </p:sp>
      <p:sp>
        <p:nvSpPr>
          <p:cNvPr id="20" name="Text 18"/>
          <p:cNvSpPr/>
          <p:nvPr/>
        </p:nvSpPr>
        <p:spPr>
          <a:xfrm>
            <a:off x="5513832" y="3392424"/>
            <a:ext cx="457200" cy="539496"/>
          </a:xfrm>
          <a:prstGeom prst="rect">
            <a:avLst/>
          </a:prstGeom>
          <a:noFill/>
          <a:ln>
            <a:noFill/>
          </a:ln>
        </p:spPr>
        <p:txBody>
          <a:bodyPr wrap="square" lIns="0" tIns="0" rIns="0" bIns="0" rtlCol="0" anchor="ctr"/>
          <a:lstStyle/>
          <a:p>
            <a:pPr marL="0" indent="0" algn="r">
              <a:buNone/>
            </a:pPr>
            <a:r>
              <a:rPr lang="en-US" sz="1050" b="1" dirty="0">
                <a:solidFill>
                  <a:srgbClr val="1F2933"/>
                </a:solidFill>
              </a:rPr>
              <a:t>29</a:t>
            </a:r>
            <a:endParaRPr lang="en-US" sz="1050" dirty="0"/>
          </a:p>
        </p:txBody>
      </p:sp>
      <p:sp>
        <p:nvSpPr>
          <p:cNvPr id="21" name="Text 19"/>
          <p:cNvSpPr/>
          <p:nvPr/>
        </p:nvSpPr>
        <p:spPr>
          <a:xfrm>
            <a:off x="713232" y="3968496"/>
            <a:ext cx="2560320" cy="521208"/>
          </a:xfrm>
          <a:prstGeom prst="rect">
            <a:avLst/>
          </a:prstGeom>
          <a:noFill/>
          <a:ln>
            <a:noFill/>
          </a:ln>
        </p:spPr>
        <p:txBody>
          <a:bodyPr wrap="square" lIns="0" tIns="0" rIns="0" bIns="0" rtlCol="0" anchor="ctr">
            <a:normAutofit/>
          </a:bodyPr>
          <a:lstStyle/>
          <a:p>
            <a:pPr marL="0" indent="0">
              <a:buNone/>
            </a:pPr>
            <a:r>
              <a:rPr lang="en-US" sz="1000" dirty="0">
                <a:solidFill>
                  <a:srgbClr val="1F2933"/>
                </a:solidFill>
              </a:rPr>
              <a:t>Saving time on emails/notes</a:t>
            </a:r>
            <a:endParaRPr lang="en-US" sz="1000" dirty="0"/>
          </a:p>
        </p:txBody>
      </p:sp>
      <p:sp>
        <p:nvSpPr>
          <p:cNvPr id="22" name="Shape 20"/>
          <p:cNvSpPr/>
          <p:nvPr/>
        </p:nvSpPr>
        <p:spPr>
          <a:xfrm>
            <a:off x="3383280" y="4032504"/>
            <a:ext cx="2057400" cy="393192"/>
          </a:xfrm>
          <a:prstGeom prst="rect">
            <a:avLst/>
          </a:prstGeom>
          <a:solidFill>
            <a:srgbClr val="F7F1E8"/>
          </a:solidFill>
          <a:ln w="12700">
            <a:solidFill>
              <a:srgbClr val="E3D8CC"/>
            </a:solidFill>
            <a:prstDash val="solid"/>
          </a:ln>
        </p:spPr>
        <p:txBody>
          <a:bodyPr/>
          <a:lstStyle/>
          <a:p>
            <a:endParaRPr/>
          </a:p>
        </p:txBody>
      </p:sp>
      <p:sp>
        <p:nvSpPr>
          <p:cNvPr id="23" name="Shape 21"/>
          <p:cNvSpPr/>
          <p:nvPr/>
        </p:nvSpPr>
        <p:spPr>
          <a:xfrm>
            <a:off x="3383280" y="4032504"/>
            <a:ext cx="1213338" cy="393192"/>
          </a:xfrm>
          <a:prstGeom prst="rect">
            <a:avLst/>
          </a:prstGeom>
          <a:solidFill>
            <a:srgbClr val="3D1104"/>
          </a:solidFill>
          <a:ln w="12700">
            <a:solidFill>
              <a:srgbClr val="E3D8CC"/>
            </a:solidFill>
            <a:prstDash val="solid"/>
          </a:ln>
        </p:spPr>
        <p:txBody>
          <a:bodyPr/>
          <a:lstStyle/>
          <a:p>
            <a:endParaRPr/>
          </a:p>
        </p:txBody>
      </p:sp>
      <p:sp>
        <p:nvSpPr>
          <p:cNvPr id="24" name="Text 22"/>
          <p:cNvSpPr/>
          <p:nvPr/>
        </p:nvSpPr>
        <p:spPr>
          <a:xfrm>
            <a:off x="5513832" y="3968496"/>
            <a:ext cx="457200" cy="539496"/>
          </a:xfrm>
          <a:prstGeom prst="rect">
            <a:avLst/>
          </a:prstGeom>
          <a:noFill/>
          <a:ln>
            <a:noFill/>
          </a:ln>
        </p:spPr>
        <p:txBody>
          <a:bodyPr wrap="square" lIns="0" tIns="0" rIns="0" bIns="0" rtlCol="0" anchor="ctr"/>
          <a:lstStyle/>
          <a:p>
            <a:pPr marL="0" indent="0" algn="r">
              <a:buNone/>
            </a:pPr>
            <a:r>
              <a:rPr lang="en-US" sz="1050" b="1" dirty="0">
                <a:solidFill>
                  <a:srgbClr val="1F2933"/>
                </a:solidFill>
              </a:rPr>
              <a:t>23</a:t>
            </a:r>
            <a:endParaRPr lang="en-US" sz="1050" dirty="0"/>
          </a:p>
        </p:txBody>
      </p:sp>
      <p:sp>
        <p:nvSpPr>
          <p:cNvPr id="25" name="Text 23"/>
          <p:cNvSpPr/>
          <p:nvPr/>
        </p:nvSpPr>
        <p:spPr>
          <a:xfrm>
            <a:off x="6327648" y="1389888"/>
            <a:ext cx="4572000" cy="201168"/>
          </a:xfrm>
          <a:prstGeom prst="rect">
            <a:avLst/>
          </a:prstGeom>
          <a:noFill/>
          <a:ln>
            <a:noFill/>
          </a:ln>
        </p:spPr>
        <p:txBody>
          <a:bodyPr wrap="square" lIns="0" tIns="0" rIns="0" bIns="0" rtlCol="0" anchor="ctr"/>
          <a:lstStyle/>
          <a:p>
            <a:pPr marL="0" indent="0">
              <a:buNone/>
            </a:pPr>
            <a:r>
              <a:rPr lang="en-US" sz="1150" b="1" dirty="0">
                <a:solidFill>
                  <a:srgbClr val="1F2933"/>
                </a:solidFill>
              </a:rPr>
              <a:t>Formats préférés</a:t>
            </a:r>
            <a:endParaRPr lang="en-US" sz="1150" dirty="0"/>
          </a:p>
        </p:txBody>
      </p:sp>
      <p:sp>
        <p:nvSpPr>
          <p:cNvPr id="26" name="Text 24"/>
          <p:cNvSpPr/>
          <p:nvPr/>
        </p:nvSpPr>
        <p:spPr>
          <a:xfrm>
            <a:off x="6327648" y="1664208"/>
            <a:ext cx="2331720" cy="528066"/>
          </a:xfrm>
          <a:prstGeom prst="rect">
            <a:avLst/>
          </a:prstGeom>
          <a:noFill/>
          <a:ln>
            <a:noFill/>
          </a:ln>
        </p:spPr>
        <p:txBody>
          <a:bodyPr wrap="square" lIns="0" tIns="0" rIns="0" bIns="0" rtlCol="0" anchor="ctr">
            <a:normAutofit/>
          </a:bodyPr>
          <a:lstStyle/>
          <a:p>
            <a:pPr marL="0" indent="0">
              <a:buNone/>
            </a:pPr>
            <a:r>
              <a:rPr lang="en-US" sz="980" dirty="0">
                <a:solidFill>
                  <a:srgbClr val="1F2933"/>
                </a:solidFill>
              </a:rPr>
              <a:t>1-hour hands-on workshop</a:t>
            </a:r>
            <a:endParaRPr lang="en-US" sz="980" dirty="0"/>
          </a:p>
          <a:p>
            <a:pPr marL="0" indent="0">
              <a:buNone/>
            </a:pPr>
            <a:r>
              <a:rPr lang="en-US" sz="980" dirty="0">
                <a:solidFill>
                  <a:srgbClr val="1F2933"/>
                </a:solidFill>
              </a:rPr>
              <a:t>(Prompt Battle)</a:t>
            </a:r>
            <a:endParaRPr lang="en-US" sz="980" dirty="0"/>
          </a:p>
        </p:txBody>
      </p:sp>
      <p:sp>
        <p:nvSpPr>
          <p:cNvPr id="27" name="Shape 25"/>
          <p:cNvSpPr/>
          <p:nvPr/>
        </p:nvSpPr>
        <p:spPr>
          <a:xfrm>
            <a:off x="8769096" y="1728216"/>
            <a:ext cx="1554480" cy="400050"/>
          </a:xfrm>
          <a:prstGeom prst="rect">
            <a:avLst/>
          </a:prstGeom>
          <a:solidFill>
            <a:srgbClr val="F7F1E8"/>
          </a:solidFill>
          <a:ln w="12700">
            <a:solidFill>
              <a:srgbClr val="E3D8CC"/>
            </a:solidFill>
            <a:prstDash val="solid"/>
          </a:ln>
        </p:spPr>
        <p:txBody>
          <a:bodyPr/>
          <a:lstStyle/>
          <a:p>
            <a:endParaRPr/>
          </a:p>
        </p:txBody>
      </p:sp>
      <p:sp>
        <p:nvSpPr>
          <p:cNvPr id="28" name="Shape 26"/>
          <p:cNvSpPr/>
          <p:nvPr/>
        </p:nvSpPr>
        <p:spPr>
          <a:xfrm>
            <a:off x="8769096" y="1728216"/>
            <a:ext cx="1554480" cy="400050"/>
          </a:xfrm>
          <a:prstGeom prst="rect">
            <a:avLst/>
          </a:prstGeom>
          <a:solidFill>
            <a:srgbClr val="6F8A5C"/>
          </a:solidFill>
          <a:ln w="12700">
            <a:solidFill>
              <a:srgbClr val="E3D8CC"/>
            </a:solidFill>
            <a:prstDash val="solid"/>
          </a:ln>
        </p:spPr>
        <p:txBody>
          <a:bodyPr/>
          <a:lstStyle/>
          <a:p>
            <a:endParaRPr/>
          </a:p>
        </p:txBody>
      </p:sp>
      <p:sp>
        <p:nvSpPr>
          <p:cNvPr id="29" name="Text 27"/>
          <p:cNvSpPr/>
          <p:nvPr/>
        </p:nvSpPr>
        <p:spPr>
          <a:xfrm>
            <a:off x="10396728" y="1664208"/>
            <a:ext cx="457200" cy="546354"/>
          </a:xfrm>
          <a:prstGeom prst="rect">
            <a:avLst/>
          </a:prstGeom>
          <a:noFill/>
          <a:ln>
            <a:noFill/>
          </a:ln>
        </p:spPr>
        <p:txBody>
          <a:bodyPr wrap="square" lIns="0" tIns="0" rIns="0" bIns="0" rtlCol="0" anchor="ctr"/>
          <a:lstStyle/>
          <a:p>
            <a:pPr marL="0" indent="0" algn="r">
              <a:buNone/>
            </a:pPr>
            <a:r>
              <a:rPr lang="en-US" sz="1050" b="1" dirty="0">
                <a:solidFill>
                  <a:srgbClr val="1F2933"/>
                </a:solidFill>
              </a:rPr>
              <a:t>31</a:t>
            </a:r>
            <a:endParaRPr lang="en-US" sz="1050" dirty="0"/>
          </a:p>
        </p:txBody>
      </p:sp>
      <p:sp>
        <p:nvSpPr>
          <p:cNvPr id="30" name="Text 28"/>
          <p:cNvSpPr/>
          <p:nvPr/>
        </p:nvSpPr>
        <p:spPr>
          <a:xfrm>
            <a:off x="6327648" y="2247138"/>
            <a:ext cx="2331720" cy="528066"/>
          </a:xfrm>
          <a:prstGeom prst="rect">
            <a:avLst/>
          </a:prstGeom>
          <a:noFill/>
          <a:ln>
            <a:noFill/>
          </a:ln>
        </p:spPr>
        <p:txBody>
          <a:bodyPr wrap="square" lIns="0" tIns="0" rIns="0" bIns="0" rtlCol="0" anchor="ctr">
            <a:normAutofit/>
          </a:bodyPr>
          <a:lstStyle/>
          <a:p>
            <a:pPr marL="0" indent="0">
              <a:buNone/>
            </a:pPr>
            <a:r>
              <a:rPr lang="en-US" sz="980" dirty="0">
                <a:solidFill>
                  <a:srgbClr val="1F2933"/>
                </a:solidFill>
              </a:rPr>
              <a:t>Team-specific coaching</a:t>
            </a:r>
            <a:endParaRPr lang="en-US" sz="980" dirty="0"/>
          </a:p>
          <a:p>
            <a:pPr marL="0" indent="0">
              <a:buNone/>
            </a:pPr>
            <a:r>
              <a:rPr lang="en-US" sz="980" dirty="0">
                <a:solidFill>
                  <a:srgbClr val="1F2933"/>
                </a:solidFill>
              </a:rPr>
              <a:t>(by function)</a:t>
            </a:r>
            <a:endParaRPr lang="en-US" sz="980" dirty="0"/>
          </a:p>
        </p:txBody>
      </p:sp>
      <p:sp>
        <p:nvSpPr>
          <p:cNvPr id="31" name="Shape 29"/>
          <p:cNvSpPr/>
          <p:nvPr/>
        </p:nvSpPr>
        <p:spPr>
          <a:xfrm>
            <a:off x="8769096" y="2311146"/>
            <a:ext cx="1554480" cy="400050"/>
          </a:xfrm>
          <a:prstGeom prst="rect">
            <a:avLst/>
          </a:prstGeom>
          <a:solidFill>
            <a:srgbClr val="F7F1E8"/>
          </a:solidFill>
          <a:ln w="12700">
            <a:solidFill>
              <a:srgbClr val="E3D8CC"/>
            </a:solidFill>
            <a:prstDash val="solid"/>
          </a:ln>
        </p:spPr>
        <p:txBody>
          <a:bodyPr/>
          <a:lstStyle/>
          <a:p>
            <a:endParaRPr/>
          </a:p>
        </p:txBody>
      </p:sp>
      <p:sp>
        <p:nvSpPr>
          <p:cNvPr id="32" name="Shape 30"/>
          <p:cNvSpPr/>
          <p:nvPr/>
        </p:nvSpPr>
        <p:spPr>
          <a:xfrm>
            <a:off x="8769096" y="2311146"/>
            <a:ext cx="1554480" cy="400050"/>
          </a:xfrm>
          <a:prstGeom prst="rect">
            <a:avLst/>
          </a:prstGeom>
          <a:solidFill>
            <a:srgbClr val="6F8A5C"/>
          </a:solidFill>
          <a:ln w="12700">
            <a:solidFill>
              <a:srgbClr val="E3D8CC"/>
            </a:solidFill>
            <a:prstDash val="solid"/>
          </a:ln>
        </p:spPr>
        <p:txBody>
          <a:bodyPr/>
          <a:lstStyle/>
          <a:p>
            <a:endParaRPr/>
          </a:p>
        </p:txBody>
      </p:sp>
      <p:sp>
        <p:nvSpPr>
          <p:cNvPr id="33" name="Text 31"/>
          <p:cNvSpPr/>
          <p:nvPr/>
        </p:nvSpPr>
        <p:spPr>
          <a:xfrm>
            <a:off x="10396728" y="2247138"/>
            <a:ext cx="457200" cy="546354"/>
          </a:xfrm>
          <a:prstGeom prst="rect">
            <a:avLst/>
          </a:prstGeom>
          <a:noFill/>
          <a:ln>
            <a:noFill/>
          </a:ln>
        </p:spPr>
        <p:txBody>
          <a:bodyPr wrap="square" lIns="0" tIns="0" rIns="0" bIns="0" rtlCol="0" anchor="ctr"/>
          <a:lstStyle/>
          <a:p>
            <a:pPr marL="0" indent="0" algn="r">
              <a:buNone/>
            </a:pPr>
            <a:r>
              <a:rPr lang="en-US" sz="1050" b="1" dirty="0">
                <a:solidFill>
                  <a:srgbClr val="1F2933"/>
                </a:solidFill>
              </a:rPr>
              <a:t>31</a:t>
            </a:r>
            <a:endParaRPr lang="en-US" sz="1050" dirty="0"/>
          </a:p>
        </p:txBody>
      </p:sp>
      <p:sp>
        <p:nvSpPr>
          <p:cNvPr id="34" name="Text 32"/>
          <p:cNvSpPr/>
          <p:nvPr/>
        </p:nvSpPr>
        <p:spPr>
          <a:xfrm>
            <a:off x="6327648" y="2830068"/>
            <a:ext cx="2331720" cy="528066"/>
          </a:xfrm>
          <a:prstGeom prst="rect">
            <a:avLst/>
          </a:prstGeom>
          <a:noFill/>
          <a:ln>
            <a:noFill/>
          </a:ln>
        </p:spPr>
        <p:txBody>
          <a:bodyPr wrap="square" lIns="0" tIns="0" rIns="0" bIns="0" rtlCol="0" anchor="ctr">
            <a:normAutofit/>
          </a:bodyPr>
          <a:lstStyle/>
          <a:p>
            <a:pPr marL="0" indent="0">
              <a:buNone/>
            </a:pPr>
            <a:r>
              <a:rPr lang="en-US" sz="980" dirty="0">
                <a:solidFill>
                  <a:srgbClr val="1F2933"/>
                </a:solidFill>
              </a:rPr>
              <a:t>30-min live demo + Q&amp;A</a:t>
            </a:r>
            <a:endParaRPr lang="en-US" sz="980" dirty="0"/>
          </a:p>
        </p:txBody>
      </p:sp>
      <p:sp>
        <p:nvSpPr>
          <p:cNvPr id="35" name="Shape 33"/>
          <p:cNvSpPr/>
          <p:nvPr/>
        </p:nvSpPr>
        <p:spPr>
          <a:xfrm>
            <a:off x="8769096" y="2894076"/>
            <a:ext cx="1554480" cy="400050"/>
          </a:xfrm>
          <a:prstGeom prst="rect">
            <a:avLst/>
          </a:prstGeom>
          <a:solidFill>
            <a:srgbClr val="F7F1E8"/>
          </a:solidFill>
          <a:ln w="12700">
            <a:solidFill>
              <a:srgbClr val="E3D8CC"/>
            </a:solidFill>
            <a:prstDash val="solid"/>
          </a:ln>
        </p:spPr>
        <p:txBody>
          <a:bodyPr/>
          <a:lstStyle/>
          <a:p>
            <a:endParaRPr/>
          </a:p>
        </p:txBody>
      </p:sp>
      <p:sp>
        <p:nvSpPr>
          <p:cNvPr id="36" name="Shape 34"/>
          <p:cNvSpPr/>
          <p:nvPr/>
        </p:nvSpPr>
        <p:spPr>
          <a:xfrm>
            <a:off x="8769096" y="2894076"/>
            <a:ext cx="1404046" cy="400050"/>
          </a:xfrm>
          <a:prstGeom prst="rect">
            <a:avLst/>
          </a:prstGeom>
          <a:solidFill>
            <a:srgbClr val="6F8A5C"/>
          </a:solidFill>
          <a:ln w="12700">
            <a:solidFill>
              <a:srgbClr val="E3D8CC"/>
            </a:solidFill>
            <a:prstDash val="solid"/>
          </a:ln>
        </p:spPr>
        <p:txBody>
          <a:bodyPr/>
          <a:lstStyle/>
          <a:p>
            <a:endParaRPr/>
          </a:p>
        </p:txBody>
      </p:sp>
      <p:sp>
        <p:nvSpPr>
          <p:cNvPr id="37" name="Text 35"/>
          <p:cNvSpPr/>
          <p:nvPr/>
        </p:nvSpPr>
        <p:spPr>
          <a:xfrm>
            <a:off x="10396728" y="2830068"/>
            <a:ext cx="457200" cy="546354"/>
          </a:xfrm>
          <a:prstGeom prst="rect">
            <a:avLst/>
          </a:prstGeom>
          <a:noFill/>
          <a:ln>
            <a:noFill/>
          </a:ln>
        </p:spPr>
        <p:txBody>
          <a:bodyPr wrap="square" lIns="0" tIns="0" rIns="0" bIns="0" rtlCol="0" anchor="ctr"/>
          <a:lstStyle/>
          <a:p>
            <a:pPr marL="0" indent="0" algn="r">
              <a:buNone/>
            </a:pPr>
            <a:r>
              <a:rPr lang="en-US" sz="1050" b="1" dirty="0">
                <a:solidFill>
                  <a:srgbClr val="1F2933"/>
                </a:solidFill>
              </a:rPr>
              <a:t>28</a:t>
            </a:r>
            <a:endParaRPr lang="en-US" sz="1050" dirty="0"/>
          </a:p>
        </p:txBody>
      </p:sp>
      <p:sp>
        <p:nvSpPr>
          <p:cNvPr id="38" name="Text 36"/>
          <p:cNvSpPr/>
          <p:nvPr/>
        </p:nvSpPr>
        <p:spPr>
          <a:xfrm>
            <a:off x="6327648" y="3412998"/>
            <a:ext cx="2331720" cy="528066"/>
          </a:xfrm>
          <a:prstGeom prst="rect">
            <a:avLst/>
          </a:prstGeom>
          <a:noFill/>
          <a:ln>
            <a:noFill/>
          </a:ln>
        </p:spPr>
        <p:txBody>
          <a:bodyPr wrap="square" lIns="0" tIns="0" rIns="0" bIns="0" rtlCol="0" anchor="ctr">
            <a:normAutofit/>
          </a:bodyPr>
          <a:lstStyle/>
          <a:p>
            <a:pPr marL="0" indent="0">
              <a:buNone/>
            </a:pPr>
            <a:r>
              <a:rPr lang="en-US" sz="980" dirty="0">
                <a:solidFill>
                  <a:srgbClr val="1F2933"/>
                </a:solidFill>
              </a:rPr>
              <a:t>Short recurring</a:t>
            </a:r>
            <a:endParaRPr lang="en-US" sz="980" dirty="0"/>
          </a:p>
          <a:p>
            <a:pPr marL="0" indent="0">
              <a:buNone/>
            </a:pPr>
            <a:r>
              <a:rPr lang="en-US" sz="980" dirty="0">
                <a:solidFill>
                  <a:srgbClr val="1F2933"/>
                </a:solidFill>
              </a:rPr>
              <a:t>micro-sessions (10 min)</a:t>
            </a:r>
            <a:endParaRPr lang="en-US" sz="980" dirty="0"/>
          </a:p>
        </p:txBody>
      </p:sp>
      <p:sp>
        <p:nvSpPr>
          <p:cNvPr id="39" name="Shape 37"/>
          <p:cNvSpPr/>
          <p:nvPr/>
        </p:nvSpPr>
        <p:spPr>
          <a:xfrm>
            <a:off x="8769096" y="3477006"/>
            <a:ext cx="1554480" cy="400050"/>
          </a:xfrm>
          <a:prstGeom prst="rect">
            <a:avLst/>
          </a:prstGeom>
          <a:solidFill>
            <a:srgbClr val="F7F1E8"/>
          </a:solidFill>
          <a:ln w="12700">
            <a:solidFill>
              <a:srgbClr val="E3D8CC"/>
            </a:solidFill>
            <a:prstDash val="solid"/>
          </a:ln>
        </p:spPr>
        <p:txBody>
          <a:bodyPr/>
          <a:lstStyle/>
          <a:p>
            <a:endParaRPr/>
          </a:p>
        </p:txBody>
      </p:sp>
      <p:sp>
        <p:nvSpPr>
          <p:cNvPr id="40" name="Shape 38"/>
          <p:cNvSpPr/>
          <p:nvPr/>
        </p:nvSpPr>
        <p:spPr>
          <a:xfrm>
            <a:off x="8769096" y="3477006"/>
            <a:ext cx="852457" cy="400050"/>
          </a:xfrm>
          <a:prstGeom prst="rect">
            <a:avLst/>
          </a:prstGeom>
          <a:solidFill>
            <a:srgbClr val="6F8A5C"/>
          </a:solidFill>
          <a:ln w="12700">
            <a:solidFill>
              <a:srgbClr val="E3D8CC"/>
            </a:solidFill>
            <a:prstDash val="solid"/>
          </a:ln>
        </p:spPr>
        <p:txBody>
          <a:bodyPr/>
          <a:lstStyle/>
          <a:p>
            <a:endParaRPr/>
          </a:p>
        </p:txBody>
      </p:sp>
      <p:sp>
        <p:nvSpPr>
          <p:cNvPr id="41" name="Text 39"/>
          <p:cNvSpPr/>
          <p:nvPr/>
        </p:nvSpPr>
        <p:spPr>
          <a:xfrm>
            <a:off x="10396728" y="3412998"/>
            <a:ext cx="457200" cy="546354"/>
          </a:xfrm>
          <a:prstGeom prst="rect">
            <a:avLst/>
          </a:prstGeom>
          <a:noFill/>
          <a:ln>
            <a:noFill/>
          </a:ln>
        </p:spPr>
        <p:txBody>
          <a:bodyPr wrap="square" lIns="0" tIns="0" rIns="0" bIns="0" rtlCol="0" anchor="ctr"/>
          <a:lstStyle/>
          <a:p>
            <a:pPr marL="0" indent="0" algn="r">
              <a:buNone/>
            </a:pPr>
            <a:r>
              <a:rPr lang="en-US" sz="1050" b="1" dirty="0">
                <a:solidFill>
                  <a:srgbClr val="1F2933"/>
                </a:solidFill>
              </a:rPr>
              <a:t>17</a:t>
            </a:r>
            <a:endParaRPr lang="en-US" sz="1050" dirty="0"/>
          </a:p>
        </p:txBody>
      </p:sp>
      <p:sp>
        <p:nvSpPr>
          <p:cNvPr id="42" name="Shape 40"/>
          <p:cNvSpPr/>
          <p:nvPr/>
        </p:nvSpPr>
        <p:spPr>
          <a:xfrm>
            <a:off x="6327648" y="4251960"/>
            <a:ext cx="4572000" cy="1051560"/>
          </a:xfrm>
          <a:prstGeom prst="roundRect">
            <a:avLst>
              <a:gd name="adj" fmla="val 2609"/>
            </a:avLst>
          </a:prstGeom>
          <a:solidFill>
            <a:srgbClr val="FFFFFF"/>
          </a:solidFill>
          <a:ln w="12700">
            <a:solidFill>
              <a:srgbClr val="E3D8CC"/>
            </a:solidFill>
            <a:prstDash val="solid"/>
          </a:ln>
        </p:spPr>
        <p:txBody>
          <a:bodyPr/>
          <a:lstStyle/>
          <a:p>
            <a:endParaRPr/>
          </a:p>
        </p:txBody>
      </p:sp>
      <p:sp>
        <p:nvSpPr>
          <p:cNvPr id="43" name="Text 41"/>
          <p:cNvSpPr/>
          <p:nvPr/>
        </p:nvSpPr>
        <p:spPr>
          <a:xfrm>
            <a:off x="6537960" y="4462272"/>
            <a:ext cx="2331720" cy="164592"/>
          </a:xfrm>
          <a:prstGeom prst="rect">
            <a:avLst/>
          </a:prstGeom>
          <a:noFill/>
          <a:ln>
            <a:noFill/>
          </a:ln>
        </p:spPr>
        <p:txBody>
          <a:bodyPr wrap="square" lIns="0" tIns="0" rIns="0" bIns="0" rtlCol="0" anchor="ctr"/>
          <a:lstStyle/>
          <a:p>
            <a:pPr marL="0" indent="0">
              <a:buNone/>
            </a:pPr>
            <a:r>
              <a:rPr lang="en-US" sz="1150" b="1" dirty="0">
                <a:solidFill>
                  <a:srgbClr val="3D1104"/>
                </a:solidFill>
              </a:rPr>
              <a:t>Capacité de diffusion déjà présente</a:t>
            </a:r>
            <a:endParaRPr lang="en-US" sz="1150" dirty="0"/>
          </a:p>
        </p:txBody>
      </p:sp>
      <p:sp>
        <p:nvSpPr>
          <p:cNvPr id="44" name="Text 42"/>
          <p:cNvSpPr/>
          <p:nvPr/>
        </p:nvSpPr>
        <p:spPr>
          <a:xfrm>
            <a:off x="6537960" y="4736592"/>
            <a:ext cx="4114800" cy="201168"/>
          </a:xfrm>
          <a:prstGeom prst="rect">
            <a:avLst/>
          </a:prstGeom>
          <a:noFill/>
          <a:ln>
            <a:noFill/>
          </a:ln>
        </p:spPr>
        <p:txBody>
          <a:bodyPr wrap="square" lIns="0" tIns="0" rIns="0" bIns="0" rtlCol="0" anchor="ctr"/>
          <a:lstStyle/>
          <a:p>
            <a:pPr marL="0" indent="0">
              <a:buNone/>
            </a:pPr>
            <a:r>
              <a:rPr lang="en-US" sz="1140" dirty="0">
                <a:solidFill>
                  <a:srgbClr val="1F2933"/>
                </a:solidFill>
              </a:rPr>
              <a:t>30 “oui” et 16 “peut-être” sur 50 réponses : le réseau de relais existe déjà, il faut l’activer.</a:t>
            </a:r>
            <a:endParaRPr lang="en-US" sz="1140" dirty="0"/>
          </a:p>
        </p:txBody>
      </p:sp>
      <p:sp>
        <p:nvSpPr>
          <p:cNvPr id="45" name="Shape 43"/>
          <p:cNvSpPr/>
          <p:nvPr/>
        </p:nvSpPr>
        <p:spPr>
          <a:xfrm>
            <a:off x="713232" y="4892040"/>
            <a:ext cx="5303520" cy="566928"/>
          </a:xfrm>
          <a:prstGeom prst="roundRect">
            <a:avLst>
              <a:gd name="adj" fmla="val 4839"/>
            </a:avLst>
          </a:prstGeom>
          <a:solidFill>
            <a:srgbClr val="F3E8DD"/>
          </a:solidFill>
          <a:ln w="12700">
            <a:solidFill>
              <a:srgbClr val="E3D8CC"/>
            </a:solidFill>
            <a:prstDash val="solid"/>
          </a:ln>
        </p:spPr>
        <p:txBody>
          <a:bodyPr/>
          <a:lstStyle/>
          <a:p>
            <a:endParaRPr/>
          </a:p>
        </p:txBody>
      </p:sp>
      <p:sp>
        <p:nvSpPr>
          <p:cNvPr id="46" name="Text 44"/>
          <p:cNvSpPr/>
          <p:nvPr/>
        </p:nvSpPr>
        <p:spPr>
          <a:xfrm>
            <a:off x="932688" y="5074920"/>
            <a:ext cx="4846320" cy="146304"/>
          </a:xfrm>
          <a:prstGeom prst="rect">
            <a:avLst/>
          </a:prstGeom>
          <a:noFill/>
          <a:ln>
            <a:noFill/>
          </a:ln>
        </p:spPr>
        <p:txBody>
          <a:bodyPr wrap="square" lIns="0" tIns="0" rIns="0" bIns="0" rtlCol="0" anchor="ctr"/>
          <a:lstStyle/>
          <a:p>
            <a:pPr marL="0" indent="0" algn="ctr">
              <a:buNone/>
            </a:pPr>
            <a:r>
              <a:rPr lang="en-US" sz="1100" dirty="0">
                <a:solidFill>
                  <a:srgbClr val="1F2933"/>
                </a:solidFill>
              </a:rPr>
              <a:t>Implication : former par fonction, sur des cas réels, avec des formats courts et démonstratifs.</a:t>
            </a:r>
            <a:endParaRPr lang="en-US" sz="1100" dirty="0"/>
          </a:p>
        </p:txBody>
      </p:sp>
      <p:sp>
        <p:nvSpPr>
          <p:cNvPr id="47" name="TextBox 46"/>
          <p:cNvSpPr txBox="1"/>
          <p:nvPr/>
        </p:nvSpPr>
        <p:spPr>
          <a:xfrm>
            <a:off x="11292840" y="6455664"/>
            <a:ext cx="502920" cy="182880"/>
          </a:xfrm>
          <a:prstGeom prst="rect">
            <a:avLst/>
          </a:prstGeom>
          <a:noFill/>
          <a:ln>
            <a:noFill/>
          </a:ln>
        </p:spPr>
        <p:txBody>
          <a:bodyPr wrap="none">
            <a:spAutoFit/>
          </a:bodyPr>
          <a:lstStyle/>
          <a:p>
            <a:pPr algn="r">
              <a:defRPr sz="1000">
                <a:solidFill>
                  <a:srgbClr val="27333F"/>
                </a:solidFill>
                <a:latin typeface="Aptos"/>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8F4"/>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438912"/>
          </a:xfrm>
          <a:prstGeom prst="rect">
            <a:avLst/>
          </a:prstGeom>
          <a:noFill/>
          <a:ln>
            <a:noFill/>
          </a:ln>
        </p:spPr>
        <p:txBody>
          <a:bodyPr wrap="square" lIns="0" tIns="0" rIns="0" bIns="0" rtlCol="0" anchor="ctr"/>
          <a:lstStyle/>
          <a:p>
            <a:pPr marL="0" indent="0">
              <a:buNone/>
            </a:pPr>
            <a:r>
              <a:rPr lang="en-US" sz="2400" b="1" dirty="0">
                <a:solidFill>
                  <a:srgbClr val="1F2933"/>
                </a:solidFill>
                <a:latin typeface="Aptos Display" pitchFamily="34" charset="0"/>
                <a:ea typeface="Aptos Display" pitchFamily="34" charset="-122"/>
                <a:cs typeface="Aptos Display" pitchFamily="34" charset="-120"/>
              </a:rPr>
              <a:t>Décisions COMEX attendues</a:t>
            </a:r>
            <a:endParaRPr lang="en-US" sz="2400" dirty="0"/>
          </a:p>
        </p:txBody>
      </p:sp>
      <p:sp>
        <p:nvSpPr>
          <p:cNvPr id="3" name="Text 1"/>
          <p:cNvSpPr/>
          <p:nvPr/>
        </p:nvSpPr>
        <p:spPr>
          <a:xfrm>
            <a:off x="658368" y="896112"/>
            <a:ext cx="10241280" cy="256032"/>
          </a:xfrm>
          <a:prstGeom prst="rect">
            <a:avLst/>
          </a:prstGeom>
          <a:noFill/>
          <a:ln>
            <a:noFill/>
          </a:ln>
        </p:spPr>
        <p:txBody>
          <a:bodyPr wrap="square" lIns="0" tIns="0" rIns="0" bIns="0" rtlCol="0" anchor="ctr"/>
          <a:lstStyle/>
          <a:p>
            <a:pPr marL="0" indent="0">
              <a:buNone/>
            </a:pPr>
            <a:r>
              <a:rPr lang="en-US" sz="1150" dirty="0">
                <a:solidFill>
                  <a:srgbClr val="8B7D73"/>
                </a:solidFill>
                <a:latin typeface="Aptos" pitchFamily="34" charset="0"/>
                <a:ea typeface="Aptos" pitchFamily="34" charset="-122"/>
                <a:cs typeface="Aptos" pitchFamily="34" charset="-120"/>
              </a:rPr>
              <a:t>Quatre arbitrages suffisent pour sortir du statu quo</a:t>
            </a:r>
            <a:endParaRPr lang="en-US" sz="1150" dirty="0"/>
          </a:p>
        </p:txBody>
      </p:sp>
      <p:sp>
        <p:nvSpPr>
          <p:cNvPr id="4" name="Shape 2"/>
          <p:cNvSpPr/>
          <p:nvPr/>
        </p:nvSpPr>
        <p:spPr>
          <a:xfrm>
            <a:off x="822960" y="1554480"/>
            <a:ext cx="10561320" cy="749808"/>
          </a:xfrm>
          <a:prstGeom prst="roundRect">
            <a:avLst>
              <a:gd name="adj" fmla="val 3659"/>
            </a:avLst>
          </a:prstGeom>
          <a:solidFill>
            <a:srgbClr val="FFFFFF"/>
          </a:solidFill>
          <a:ln w="12700">
            <a:solidFill>
              <a:srgbClr val="E3D8CC"/>
            </a:solidFill>
            <a:prstDash val="solid"/>
          </a:ln>
        </p:spPr>
        <p:txBody>
          <a:bodyPr/>
          <a:lstStyle/>
          <a:p>
            <a:endParaRPr/>
          </a:p>
        </p:txBody>
      </p:sp>
      <p:sp>
        <p:nvSpPr>
          <p:cNvPr id="5" name="Shape 3"/>
          <p:cNvSpPr/>
          <p:nvPr/>
        </p:nvSpPr>
        <p:spPr>
          <a:xfrm>
            <a:off x="932688" y="1700784"/>
            <a:ext cx="329184" cy="329184"/>
          </a:xfrm>
          <a:prstGeom prst="roundRect">
            <a:avLst>
              <a:gd name="adj" fmla="val 50000"/>
            </a:avLst>
          </a:prstGeom>
          <a:solidFill>
            <a:srgbClr val="3D1104"/>
          </a:solidFill>
          <a:ln w="12700">
            <a:solidFill>
              <a:srgbClr val="E3D8CC"/>
            </a:solidFill>
            <a:prstDash val="solid"/>
          </a:ln>
        </p:spPr>
        <p:txBody>
          <a:bodyPr/>
          <a:lstStyle/>
          <a:p>
            <a:endParaRPr/>
          </a:p>
        </p:txBody>
      </p:sp>
      <p:sp>
        <p:nvSpPr>
          <p:cNvPr id="6" name="Text 4"/>
          <p:cNvSpPr/>
          <p:nvPr/>
        </p:nvSpPr>
        <p:spPr>
          <a:xfrm>
            <a:off x="932688" y="1741932"/>
            <a:ext cx="329184" cy="109728"/>
          </a:xfrm>
          <a:prstGeom prst="rect">
            <a:avLst/>
          </a:prstGeom>
          <a:noFill/>
          <a:ln>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7" name="Text 5"/>
          <p:cNvSpPr/>
          <p:nvPr/>
        </p:nvSpPr>
        <p:spPr>
          <a:xfrm>
            <a:off x="1481328" y="1719072"/>
            <a:ext cx="2788920" cy="164592"/>
          </a:xfrm>
          <a:prstGeom prst="rect">
            <a:avLst/>
          </a:prstGeom>
          <a:noFill/>
          <a:ln>
            <a:noFill/>
          </a:ln>
        </p:spPr>
        <p:txBody>
          <a:bodyPr wrap="square" lIns="0" tIns="0" rIns="0" bIns="0" rtlCol="0" anchor="ctr">
            <a:normAutofit fontScale="92500" lnSpcReduction="10000"/>
          </a:bodyPr>
          <a:lstStyle/>
          <a:p>
            <a:pPr marL="0" indent="0">
              <a:buNone/>
            </a:pPr>
            <a:r>
              <a:rPr lang="en-US" sz="1220" b="1" dirty="0">
                <a:solidFill>
                  <a:srgbClr val="1F2933"/>
                </a:solidFill>
              </a:rPr>
              <a:t>Valider un cadre d’usage IA simple</a:t>
            </a:r>
            <a:endParaRPr lang="en-US" sz="1220" dirty="0"/>
          </a:p>
        </p:txBody>
      </p:sp>
      <p:sp>
        <p:nvSpPr>
          <p:cNvPr id="8" name="Text 6"/>
          <p:cNvSpPr/>
          <p:nvPr/>
        </p:nvSpPr>
        <p:spPr>
          <a:xfrm>
            <a:off x="4480560" y="1719072"/>
            <a:ext cx="5760720" cy="201168"/>
          </a:xfrm>
          <a:prstGeom prst="rect">
            <a:avLst/>
          </a:prstGeom>
          <a:noFill/>
          <a:ln>
            <a:noFill/>
          </a:ln>
        </p:spPr>
        <p:txBody>
          <a:bodyPr wrap="square" lIns="0" tIns="0" rIns="0" bIns="0" rtlCol="0" anchor="ctr">
            <a:normAutofit/>
          </a:bodyPr>
          <a:lstStyle/>
          <a:p>
            <a:pPr marL="0" indent="0">
              <a:buNone/>
            </a:pPr>
            <a:r>
              <a:rPr lang="en-US" sz="1100" dirty="0">
                <a:solidFill>
                  <a:srgbClr val="1F2933"/>
                </a:solidFill>
              </a:rPr>
              <a:t>Données autorisées / interdites, validation humaine, outils autorisés, règles minimales.</a:t>
            </a:r>
            <a:endParaRPr lang="en-US" sz="1100" dirty="0"/>
          </a:p>
        </p:txBody>
      </p:sp>
      <p:sp>
        <p:nvSpPr>
          <p:cNvPr id="9" name="Shape 7"/>
          <p:cNvSpPr/>
          <p:nvPr/>
        </p:nvSpPr>
        <p:spPr>
          <a:xfrm>
            <a:off x="822960" y="2514600"/>
            <a:ext cx="10561320" cy="749808"/>
          </a:xfrm>
          <a:prstGeom prst="roundRect">
            <a:avLst>
              <a:gd name="adj" fmla="val 3659"/>
            </a:avLst>
          </a:prstGeom>
          <a:solidFill>
            <a:srgbClr val="FFFFFF"/>
          </a:solidFill>
          <a:ln w="12700">
            <a:solidFill>
              <a:srgbClr val="E3D8CC"/>
            </a:solidFill>
            <a:prstDash val="solid"/>
          </a:ln>
        </p:spPr>
        <p:txBody>
          <a:bodyPr/>
          <a:lstStyle/>
          <a:p>
            <a:endParaRPr/>
          </a:p>
        </p:txBody>
      </p:sp>
      <p:sp>
        <p:nvSpPr>
          <p:cNvPr id="10" name="Shape 8"/>
          <p:cNvSpPr/>
          <p:nvPr/>
        </p:nvSpPr>
        <p:spPr>
          <a:xfrm>
            <a:off x="932688" y="2660904"/>
            <a:ext cx="329184" cy="329184"/>
          </a:xfrm>
          <a:prstGeom prst="roundRect">
            <a:avLst>
              <a:gd name="adj" fmla="val 50000"/>
            </a:avLst>
          </a:prstGeom>
          <a:solidFill>
            <a:srgbClr val="3D1104"/>
          </a:solidFill>
          <a:ln w="12700">
            <a:solidFill>
              <a:srgbClr val="E3D8CC"/>
            </a:solidFill>
            <a:prstDash val="solid"/>
          </a:ln>
        </p:spPr>
        <p:txBody>
          <a:bodyPr/>
          <a:lstStyle/>
          <a:p>
            <a:endParaRPr/>
          </a:p>
        </p:txBody>
      </p:sp>
      <p:sp>
        <p:nvSpPr>
          <p:cNvPr id="11" name="Text 9"/>
          <p:cNvSpPr/>
          <p:nvPr/>
        </p:nvSpPr>
        <p:spPr>
          <a:xfrm>
            <a:off x="932688" y="2702052"/>
            <a:ext cx="329184" cy="109728"/>
          </a:xfrm>
          <a:prstGeom prst="rect">
            <a:avLst/>
          </a:prstGeom>
          <a:noFill/>
          <a:ln>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2" name="Text 10"/>
          <p:cNvSpPr/>
          <p:nvPr/>
        </p:nvSpPr>
        <p:spPr>
          <a:xfrm>
            <a:off x="1481328" y="2679192"/>
            <a:ext cx="2788920" cy="164592"/>
          </a:xfrm>
          <a:prstGeom prst="rect">
            <a:avLst/>
          </a:prstGeom>
          <a:noFill/>
          <a:ln>
            <a:noFill/>
          </a:ln>
        </p:spPr>
        <p:txBody>
          <a:bodyPr wrap="square" lIns="0" tIns="0" rIns="0" bIns="0" rtlCol="0" anchor="ctr">
            <a:normAutofit fontScale="92500" lnSpcReduction="10000"/>
          </a:bodyPr>
          <a:lstStyle/>
          <a:p>
            <a:pPr marL="0" indent="0">
              <a:buNone/>
            </a:pPr>
            <a:r>
              <a:rPr lang="en-US" sz="1220" b="1" dirty="0">
                <a:solidFill>
                  <a:srgbClr val="1F2933"/>
                </a:solidFill>
              </a:rPr>
              <a:t>Nommer les sponsors et owners</a:t>
            </a:r>
            <a:endParaRPr lang="en-US" sz="1220" dirty="0"/>
          </a:p>
        </p:txBody>
      </p:sp>
      <p:sp>
        <p:nvSpPr>
          <p:cNvPr id="13" name="Text 11"/>
          <p:cNvSpPr/>
          <p:nvPr/>
        </p:nvSpPr>
        <p:spPr>
          <a:xfrm>
            <a:off x="4480560" y="2679192"/>
            <a:ext cx="5760720" cy="201168"/>
          </a:xfrm>
          <a:prstGeom prst="rect">
            <a:avLst/>
          </a:prstGeom>
          <a:noFill/>
          <a:ln>
            <a:noFill/>
          </a:ln>
        </p:spPr>
        <p:txBody>
          <a:bodyPr wrap="square" lIns="0" tIns="0" rIns="0" bIns="0" rtlCol="0" anchor="ctr">
            <a:normAutofit/>
          </a:bodyPr>
          <a:lstStyle/>
          <a:p>
            <a:pPr marL="0" indent="0">
              <a:buNone/>
            </a:pPr>
            <a:r>
              <a:rPr lang="en-US" sz="1100" dirty="0">
                <a:solidFill>
                  <a:srgbClr val="1F2933"/>
                </a:solidFill>
              </a:rPr>
              <a:t>1 sponsor exécutif global + 1 owner métier par pilote prioritaire.</a:t>
            </a:r>
            <a:endParaRPr lang="en-US" sz="1100" dirty="0"/>
          </a:p>
        </p:txBody>
      </p:sp>
      <p:sp>
        <p:nvSpPr>
          <p:cNvPr id="14" name="Shape 12"/>
          <p:cNvSpPr/>
          <p:nvPr/>
        </p:nvSpPr>
        <p:spPr>
          <a:xfrm>
            <a:off x="822960" y="3474720"/>
            <a:ext cx="10561320" cy="749808"/>
          </a:xfrm>
          <a:prstGeom prst="roundRect">
            <a:avLst>
              <a:gd name="adj" fmla="val 3659"/>
            </a:avLst>
          </a:prstGeom>
          <a:solidFill>
            <a:srgbClr val="FFFFFF"/>
          </a:solidFill>
          <a:ln w="12700">
            <a:solidFill>
              <a:srgbClr val="E3D8CC"/>
            </a:solidFill>
            <a:prstDash val="solid"/>
          </a:ln>
        </p:spPr>
        <p:txBody>
          <a:bodyPr/>
          <a:lstStyle/>
          <a:p>
            <a:endParaRPr/>
          </a:p>
        </p:txBody>
      </p:sp>
      <p:sp>
        <p:nvSpPr>
          <p:cNvPr id="15" name="Shape 13"/>
          <p:cNvSpPr/>
          <p:nvPr/>
        </p:nvSpPr>
        <p:spPr>
          <a:xfrm>
            <a:off x="932688" y="3621024"/>
            <a:ext cx="329184" cy="329184"/>
          </a:xfrm>
          <a:prstGeom prst="roundRect">
            <a:avLst>
              <a:gd name="adj" fmla="val 50000"/>
            </a:avLst>
          </a:prstGeom>
          <a:solidFill>
            <a:srgbClr val="3D1104"/>
          </a:solidFill>
          <a:ln w="12700">
            <a:solidFill>
              <a:srgbClr val="E3D8CC"/>
            </a:solidFill>
            <a:prstDash val="solid"/>
          </a:ln>
        </p:spPr>
        <p:txBody>
          <a:bodyPr/>
          <a:lstStyle/>
          <a:p>
            <a:endParaRPr/>
          </a:p>
        </p:txBody>
      </p:sp>
      <p:sp>
        <p:nvSpPr>
          <p:cNvPr id="16" name="Text 14"/>
          <p:cNvSpPr/>
          <p:nvPr/>
        </p:nvSpPr>
        <p:spPr>
          <a:xfrm>
            <a:off x="932688" y="3662172"/>
            <a:ext cx="329184" cy="109728"/>
          </a:xfrm>
          <a:prstGeom prst="rect">
            <a:avLst/>
          </a:prstGeom>
          <a:noFill/>
          <a:ln>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17" name="Text 15"/>
          <p:cNvSpPr/>
          <p:nvPr/>
        </p:nvSpPr>
        <p:spPr>
          <a:xfrm>
            <a:off x="1481328" y="3639312"/>
            <a:ext cx="2788920" cy="164592"/>
          </a:xfrm>
          <a:prstGeom prst="rect">
            <a:avLst/>
          </a:prstGeom>
          <a:noFill/>
          <a:ln>
            <a:noFill/>
          </a:ln>
        </p:spPr>
        <p:txBody>
          <a:bodyPr wrap="square" lIns="0" tIns="0" rIns="0" bIns="0" rtlCol="0" anchor="ctr">
            <a:normAutofit fontScale="92500" lnSpcReduction="10000"/>
          </a:bodyPr>
          <a:lstStyle/>
          <a:p>
            <a:pPr marL="0" indent="0">
              <a:buNone/>
            </a:pPr>
            <a:r>
              <a:rPr lang="en-US" sz="1220" b="1" dirty="0">
                <a:solidFill>
                  <a:srgbClr val="1F2933"/>
                </a:solidFill>
              </a:rPr>
              <a:t>Lancer 2 quick wins + 1 pilote métier</a:t>
            </a:r>
            <a:endParaRPr lang="en-US" sz="1220" dirty="0"/>
          </a:p>
        </p:txBody>
      </p:sp>
      <p:sp>
        <p:nvSpPr>
          <p:cNvPr id="18" name="Text 16"/>
          <p:cNvSpPr/>
          <p:nvPr/>
        </p:nvSpPr>
        <p:spPr>
          <a:xfrm>
            <a:off x="4480560" y="3639312"/>
            <a:ext cx="5760720" cy="201168"/>
          </a:xfrm>
          <a:prstGeom prst="rect">
            <a:avLst/>
          </a:prstGeom>
          <a:noFill/>
          <a:ln>
            <a:noFill/>
          </a:ln>
        </p:spPr>
        <p:txBody>
          <a:bodyPr wrap="square" lIns="0" tIns="0" rIns="0" bIns="0" rtlCol="0" anchor="ctr">
            <a:normAutofit/>
          </a:bodyPr>
          <a:lstStyle/>
          <a:p>
            <a:pPr marL="0" indent="0">
              <a:buNone/>
            </a:pPr>
            <a:r>
              <a:rPr lang="en-US" sz="1100" dirty="0">
                <a:solidFill>
                  <a:srgbClr val="1F2933"/>
                </a:solidFill>
              </a:rPr>
              <a:t>Document workflow + efficacité commerciale + 1 pilote différenciant selon sponsor.</a:t>
            </a:r>
            <a:endParaRPr lang="en-US" sz="1100" dirty="0"/>
          </a:p>
        </p:txBody>
      </p:sp>
      <p:sp>
        <p:nvSpPr>
          <p:cNvPr id="19" name="Shape 17"/>
          <p:cNvSpPr/>
          <p:nvPr/>
        </p:nvSpPr>
        <p:spPr>
          <a:xfrm>
            <a:off x="822960" y="4434840"/>
            <a:ext cx="10561320" cy="749808"/>
          </a:xfrm>
          <a:prstGeom prst="roundRect">
            <a:avLst>
              <a:gd name="adj" fmla="val 3659"/>
            </a:avLst>
          </a:prstGeom>
          <a:solidFill>
            <a:srgbClr val="FFFFFF"/>
          </a:solidFill>
          <a:ln w="12700">
            <a:solidFill>
              <a:srgbClr val="E3D8CC"/>
            </a:solidFill>
            <a:prstDash val="solid"/>
          </a:ln>
        </p:spPr>
        <p:txBody>
          <a:bodyPr/>
          <a:lstStyle/>
          <a:p>
            <a:endParaRPr/>
          </a:p>
        </p:txBody>
      </p:sp>
      <p:sp>
        <p:nvSpPr>
          <p:cNvPr id="20" name="Shape 18"/>
          <p:cNvSpPr/>
          <p:nvPr/>
        </p:nvSpPr>
        <p:spPr>
          <a:xfrm>
            <a:off x="932688" y="4581144"/>
            <a:ext cx="329184" cy="329184"/>
          </a:xfrm>
          <a:prstGeom prst="roundRect">
            <a:avLst>
              <a:gd name="adj" fmla="val 50000"/>
            </a:avLst>
          </a:prstGeom>
          <a:solidFill>
            <a:srgbClr val="3D1104"/>
          </a:solidFill>
          <a:ln w="12700">
            <a:solidFill>
              <a:srgbClr val="E3D8CC"/>
            </a:solidFill>
            <a:prstDash val="solid"/>
          </a:ln>
        </p:spPr>
        <p:txBody>
          <a:bodyPr/>
          <a:lstStyle/>
          <a:p>
            <a:endParaRPr/>
          </a:p>
        </p:txBody>
      </p:sp>
      <p:sp>
        <p:nvSpPr>
          <p:cNvPr id="21" name="Text 19"/>
          <p:cNvSpPr/>
          <p:nvPr/>
        </p:nvSpPr>
        <p:spPr>
          <a:xfrm>
            <a:off x="932688" y="4622292"/>
            <a:ext cx="329184" cy="109728"/>
          </a:xfrm>
          <a:prstGeom prst="rect">
            <a:avLst/>
          </a:prstGeom>
          <a:noFill/>
          <a:ln>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22" name="Text 20"/>
          <p:cNvSpPr/>
          <p:nvPr/>
        </p:nvSpPr>
        <p:spPr>
          <a:xfrm>
            <a:off x="1481328" y="4599432"/>
            <a:ext cx="2788920" cy="164592"/>
          </a:xfrm>
          <a:prstGeom prst="rect">
            <a:avLst/>
          </a:prstGeom>
          <a:noFill/>
          <a:ln>
            <a:noFill/>
          </a:ln>
        </p:spPr>
        <p:txBody>
          <a:bodyPr wrap="square" lIns="0" tIns="0" rIns="0" bIns="0" rtlCol="0" anchor="ctr">
            <a:normAutofit fontScale="92500" lnSpcReduction="10000"/>
          </a:bodyPr>
          <a:lstStyle/>
          <a:p>
            <a:pPr marL="0" indent="0">
              <a:buNone/>
            </a:pPr>
            <a:r>
              <a:rPr lang="en-US" sz="1220" b="1" dirty="0">
                <a:solidFill>
                  <a:srgbClr val="1F2933"/>
                </a:solidFill>
              </a:rPr>
              <a:t>Activer l’adoption</a:t>
            </a:r>
            <a:endParaRPr lang="en-US" sz="1220" dirty="0"/>
          </a:p>
        </p:txBody>
      </p:sp>
      <p:sp>
        <p:nvSpPr>
          <p:cNvPr id="23" name="Text 21"/>
          <p:cNvSpPr/>
          <p:nvPr/>
        </p:nvSpPr>
        <p:spPr>
          <a:xfrm>
            <a:off x="4480560" y="4599432"/>
            <a:ext cx="5760720" cy="201168"/>
          </a:xfrm>
          <a:prstGeom prst="rect">
            <a:avLst/>
          </a:prstGeom>
          <a:noFill/>
          <a:ln>
            <a:noFill/>
          </a:ln>
        </p:spPr>
        <p:txBody>
          <a:bodyPr wrap="square" lIns="0" tIns="0" rIns="0" bIns="0" rtlCol="0" anchor="ctr">
            <a:normAutofit/>
          </a:bodyPr>
          <a:lstStyle/>
          <a:p>
            <a:pPr marL="0" indent="0">
              <a:buNone/>
            </a:pPr>
            <a:r>
              <a:rPr lang="en-US" sz="1100" dirty="0">
                <a:solidFill>
                  <a:srgbClr val="1F2933"/>
                </a:solidFill>
              </a:rPr>
              <a:t>Cycle court de formation par fonction + réseau Early Adopters + mesure légère des gains.</a:t>
            </a:r>
            <a:endParaRPr lang="en-US" sz="1100" dirty="0"/>
          </a:p>
        </p:txBody>
      </p:sp>
      <p:sp>
        <p:nvSpPr>
          <p:cNvPr id="24" name="Shape 22"/>
          <p:cNvSpPr/>
          <p:nvPr/>
        </p:nvSpPr>
        <p:spPr>
          <a:xfrm>
            <a:off x="822960" y="5577840"/>
            <a:ext cx="10561320" cy="530352"/>
          </a:xfrm>
          <a:prstGeom prst="roundRect">
            <a:avLst>
              <a:gd name="adj" fmla="val 5172"/>
            </a:avLst>
          </a:prstGeom>
          <a:solidFill>
            <a:srgbClr val="EAF4EC"/>
          </a:solidFill>
          <a:ln w="12700">
            <a:solidFill>
              <a:srgbClr val="E3D8CC"/>
            </a:solidFill>
            <a:prstDash val="solid"/>
          </a:ln>
        </p:spPr>
        <p:txBody>
          <a:bodyPr/>
          <a:lstStyle/>
          <a:p>
            <a:endParaRPr/>
          </a:p>
        </p:txBody>
      </p:sp>
      <p:sp>
        <p:nvSpPr>
          <p:cNvPr id="25" name="Text 23"/>
          <p:cNvSpPr/>
          <p:nvPr/>
        </p:nvSpPr>
        <p:spPr>
          <a:xfrm>
            <a:off x="1024128" y="5742432"/>
            <a:ext cx="10104120" cy="146304"/>
          </a:xfrm>
          <a:prstGeom prst="rect">
            <a:avLst/>
          </a:prstGeom>
          <a:noFill/>
          <a:ln>
            <a:noFill/>
          </a:ln>
        </p:spPr>
        <p:txBody>
          <a:bodyPr wrap="square" lIns="0" tIns="0" rIns="0" bIns="0" rtlCol="0" anchor="ctr"/>
          <a:lstStyle/>
          <a:p>
            <a:pPr marL="0" indent="0" algn="ctr">
              <a:buNone/>
            </a:pPr>
            <a:r>
              <a:rPr lang="en-US" sz="1160" b="1" dirty="0">
                <a:solidFill>
                  <a:srgbClr val="1F2933"/>
                </a:solidFill>
              </a:rPr>
              <a:t>Décision à obtenir aujourd’hui : passer d’usages individuels non gouvernés à une première vague pilotée, bornée et mesurable.</a:t>
            </a:r>
            <a:endParaRPr lang="en-US" sz="1160" dirty="0"/>
          </a:p>
        </p:txBody>
      </p:sp>
      <p:sp>
        <p:nvSpPr>
          <p:cNvPr id="26" name="TextBox 25"/>
          <p:cNvSpPr txBox="1"/>
          <p:nvPr/>
        </p:nvSpPr>
        <p:spPr>
          <a:xfrm>
            <a:off x="11292840" y="6455664"/>
            <a:ext cx="502920" cy="182880"/>
          </a:xfrm>
          <a:prstGeom prst="rect">
            <a:avLst/>
          </a:prstGeom>
          <a:noFill/>
          <a:ln>
            <a:noFill/>
          </a:ln>
        </p:spPr>
        <p:txBody>
          <a:bodyPr wrap="none">
            <a:spAutoFit/>
          </a:bodyPr>
          <a:lstStyle/>
          <a:p>
            <a:pPr algn="r">
              <a:defRPr sz="1000">
                <a:solidFill>
                  <a:srgbClr val="27333F"/>
                </a:solidFill>
                <a:latin typeface="Aptos"/>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8F4"/>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438912"/>
          </a:xfrm>
          <a:prstGeom prst="rect">
            <a:avLst/>
          </a:prstGeom>
          <a:noFill/>
          <a:ln>
            <a:noFill/>
          </a:ln>
        </p:spPr>
        <p:txBody>
          <a:bodyPr wrap="square" lIns="0" tIns="0" rIns="0" bIns="0" rtlCol="0" anchor="ctr"/>
          <a:lstStyle/>
          <a:p>
            <a:pPr marL="0" indent="0">
              <a:buNone/>
            </a:pPr>
            <a:r>
              <a:rPr lang="en-US" sz="2400" b="1" dirty="0">
                <a:solidFill>
                  <a:srgbClr val="1F2933"/>
                </a:solidFill>
                <a:latin typeface="Aptos Display" pitchFamily="34" charset="0"/>
                <a:ea typeface="Aptos Display" pitchFamily="34" charset="-122"/>
                <a:cs typeface="Aptos Display" pitchFamily="34" charset="-120"/>
              </a:rPr>
              <a:t>Annexe — nuances utiles par population</a:t>
            </a:r>
            <a:endParaRPr lang="en-US" sz="2400" dirty="0"/>
          </a:p>
        </p:txBody>
      </p:sp>
      <p:sp>
        <p:nvSpPr>
          <p:cNvPr id="3" name="Text 1"/>
          <p:cNvSpPr/>
          <p:nvPr/>
        </p:nvSpPr>
        <p:spPr>
          <a:xfrm>
            <a:off x="658368" y="896112"/>
            <a:ext cx="10241280" cy="256032"/>
          </a:xfrm>
          <a:prstGeom prst="rect">
            <a:avLst/>
          </a:prstGeom>
          <a:noFill/>
          <a:ln>
            <a:noFill/>
          </a:ln>
        </p:spPr>
        <p:txBody>
          <a:bodyPr wrap="square" lIns="0" tIns="0" rIns="0" bIns="0" rtlCol="0" anchor="ctr"/>
          <a:lstStyle/>
          <a:p>
            <a:pPr marL="0" indent="0">
              <a:buNone/>
            </a:pPr>
            <a:r>
              <a:rPr lang="en-US" sz="1150" dirty="0">
                <a:solidFill>
                  <a:srgbClr val="8B7D73"/>
                </a:solidFill>
                <a:latin typeface="Aptos" pitchFamily="34" charset="0"/>
                <a:ea typeface="Aptos" pitchFamily="34" charset="-122"/>
                <a:cs typeface="Aptos" pitchFamily="34" charset="-120"/>
              </a:rPr>
              <a:t>Ce qui change dans l’accompagnement selon les équipes</a:t>
            </a:r>
            <a:endParaRPr lang="en-US" sz="1150" dirty="0"/>
          </a:p>
        </p:txBody>
      </p:sp>
      <p:sp>
        <p:nvSpPr>
          <p:cNvPr id="4" name="Shape 2"/>
          <p:cNvSpPr/>
          <p:nvPr/>
        </p:nvSpPr>
        <p:spPr>
          <a:xfrm>
            <a:off x="731520" y="1417320"/>
            <a:ext cx="10972800" cy="4526280"/>
          </a:xfrm>
          <a:prstGeom prst="roundRect">
            <a:avLst>
              <a:gd name="adj" fmla="val 606"/>
            </a:avLst>
          </a:prstGeom>
          <a:solidFill>
            <a:srgbClr val="FFFFFF"/>
          </a:solidFill>
          <a:ln w="12700">
            <a:solidFill>
              <a:srgbClr val="E3D8CC"/>
            </a:solidFill>
            <a:prstDash val="solid"/>
          </a:ln>
        </p:spPr>
        <p:txBody>
          <a:bodyPr/>
          <a:lstStyle/>
          <a:p>
            <a:endParaRPr/>
          </a:p>
        </p:txBody>
      </p:sp>
      <p:sp>
        <p:nvSpPr>
          <p:cNvPr id="5" name="Shape 3"/>
          <p:cNvSpPr/>
          <p:nvPr/>
        </p:nvSpPr>
        <p:spPr>
          <a:xfrm>
            <a:off x="731520" y="1417320"/>
            <a:ext cx="10972800" cy="384048"/>
          </a:xfrm>
          <a:prstGeom prst="rect">
            <a:avLst/>
          </a:prstGeom>
          <a:solidFill>
            <a:srgbClr val="3D1104"/>
          </a:solidFill>
          <a:ln w="12700">
            <a:solidFill>
              <a:srgbClr val="E3D8CC"/>
            </a:solidFill>
            <a:prstDash val="solid"/>
          </a:ln>
        </p:spPr>
        <p:txBody>
          <a:bodyPr/>
          <a:lstStyle/>
          <a:p>
            <a:endParaRPr/>
          </a:p>
        </p:txBody>
      </p:sp>
      <p:sp>
        <p:nvSpPr>
          <p:cNvPr id="6" name="Text 4"/>
          <p:cNvSpPr/>
          <p:nvPr/>
        </p:nvSpPr>
        <p:spPr>
          <a:xfrm>
            <a:off x="914400" y="1545336"/>
            <a:ext cx="2011680" cy="128016"/>
          </a:xfrm>
          <a:prstGeom prst="rect">
            <a:avLst/>
          </a:prstGeom>
          <a:noFill/>
          <a:ln>
            <a:noFill/>
          </a:ln>
        </p:spPr>
        <p:txBody>
          <a:bodyPr wrap="square" lIns="0" tIns="0" rIns="0" bIns="0" rtlCol="0" anchor="ctr"/>
          <a:lstStyle/>
          <a:p>
            <a:pPr marL="0" indent="0">
              <a:buNone/>
            </a:pPr>
            <a:r>
              <a:rPr lang="en-US" sz="1150" b="1" dirty="0">
                <a:solidFill>
                  <a:srgbClr val="FFFFFF"/>
                </a:solidFill>
              </a:rPr>
              <a:t>Population</a:t>
            </a:r>
            <a:endParaRPr lang="en-US" sz="1150" dirty="0"/>
          </a:p>
        </p:txBody>
      </p:sp>
      <p:sp>
        <p:nvSpPr>
          <p:cNvPr id="7" name="Text 5"/>
          <p:cNvSpPr/>
          <p:nvPr/>
        </p:nvSpPr>
        <p:spPr>
          <a:xfrm>
            <a:off x="3154680" y="1545336"/>
            <a:ext cx="3383280" cy="128016"/>
          </a:xfrm>
          <a:prstGeom prst="rect">
            <a:avLst/>
          </a:prstGeom>
          <a:noFill/>
          <a:ln>
            <a:noFill/>
          </a:ln>
        </p:spPr>
        <p:txBody>
          <a:bodyPr wrap="square" lIns="0" tIns="0" rIns="0" bIns="0" rtlCol="0" anchor="ctr"/>
          <a:lstStyle/>
          <a:p>
            <a:pPr marL="0" indent="0">
              <a:buNone/>
            </a:pPr>
            <a:r>
              <a:rPr lang="en-US" sz="1150" b="1" dirty="0">
                <a:solidFill>
                  <a:srgbClr val="FFFFFF"/>
                </a:solidFill>
              </a:rPr>
              <a:t>Signal principal</a:t>
            </a:r>
            <a:endParaRPr lang="en-US" sz="1150" dirty="0"/>
          </a:p>
        </p:txBody>
      </p:sp>
      <p:sp>
        <p:nvSpPr>
          <p:cNvPr id="8" name="Text 6"/>
          <p:cNvSpPr/>
          <p:nvPr/>
        </p:nvSpPr>
        <p:spPr>
          <a:xfrm>
            <a:off x="6812280" y="1545336"/>
            <a:ext cx="4480560" cy="128016"/>
          </a:xfrm>
          <a:prstGeom prst="rect">
            <a:avLst/>
          </a:prstGeom>
          <a:noFill/>
          <a:ln>
            <a:noFill/>
          </a:ln>
        </p:spPr>
        <p:txBody>
          <a:bodyPr wrap="square" lIns="0" tIns="0" rIns="0" bIns="0" rtlCol="0" anchor="ctr"/>
          <a:lstStyle/>
          <a:p>
            <a:pPr marL="0" indent="0">
              <a:buNone/>
            </a:pPr>
            <a:r>
              <a:rPr lang="en-US" sz="1150" b="1" dirty="0">
                <a:solidFill>
                  <a:srgbClr val="FFFFFF"/>
                </a:solidFill>
              </a:rPr>
              <a:t>Modules / messages prioritaires</a:t>
            </a:r>
            <a:endParaRPr lang="en-US" sz="1150" dirty="0"/>
          </a:p>
        </p:txBody>
      </p:sp>
      <p:sp>
        <p:nvSpPr>
          <p:cNvPr id="9" name="Text 7"/>
          <p:cNvSpPr/>
          <p:nvPr/>
        </p:nvSpPr>
        <p:spPr>
          <a:xfrm>
            <a:off x="914400" y="1856232"/>
            <a:ext cx="2011680" cy="219456"/>
          </a:xfrm>
          <a:prstGeom prst="rect">
            <a:avLst/>
          </a:prstGeom>
          <a:noFill/>
          <a:ln>
            <a:noFill/>
          </a:ln>
        </p:spPr>
        <p:txBody>
          <a:bodyPr wrap="square" lIns="0" tIns="0" rIns="0" bIns="0" rtlCol="0" anchor="ctr">
            <a:normAutofit/>
          </a:bodyPr>
          <a:lstStyle/>
          <a:p>
            <a:pPr marL="0" indent="0">
              <a:buNone/>
            </a:pPr>
            <a:r>
              <a:rPr lang="en-US" sz="1080" b="1" dirty="0">
                <a:solidFill>
                  <a:srgbClr val="1F2933"/>
                </a:solidFill>
              </a:rPr>
              <a:t>Direction / Executive</a:t>
            </a:r>
            <a:endParaRPr lang="en-US" sz="1080" dirty="0"/>
          </a:p>
        </p:txBody>
      </p:sp>
      <p:sp>
        <p:nvSpPr>
          <p:cNvPr id="10" name="Text 8"/>
          <p:cNvSpPr/>
          <p:nvPr/>
        </p:nvSpPr>
        <p:spPr>
          <a:xfrm>
            <a:off x="3154680" y="1856232"/>
            <a:ext cx="3383280" cy="347472"/>
          </a:xfrm>
          <a:prstGeom prst="rect">
            <a:avLst/>
          </a:prstGeom>
          <a:noFill/>
          <a:ln>
            <a:noFill/>
          </a:ln>
        </p:spPr>
        <p:txBody>
          <a:bodyPr wrap="square" lIns="0" tIns="0" rIns="0" bIns="0" rtlCol="0" anchor="ctr">
            <a:normAutofit/>
          </a:bodyPr>
          <a:lstStyle/>
          <a:p>
            <a:pPr marL="0" indent="0">
              <a:buNone/>
            </a:pPr>
            <a:r>
              <a:rPr lang="en-US" sz="1020" dirty="0">
                <a:solidFill>
                  <a:srgbClr val="1F2933"/>
                </a:solidFill>
              </a:rPr>
              <a:t>Besoin de cadrage et d’aide à la décision</a:t>
            </a:r>
            <a:endParaRPr lang="en-US" sz="1020" dirty="0"/>
          </a:p>
        </p:txBody>
      </p:sp>
      <p:sp>
        <p:nvSpPr>
          <p:cNvPr id="11" name="Text 9"/>
          <p:cNvSpPr/>
          <p:nvPr/>
        </p:nvSpPr>
        <p:spPr>
          <a:xfrm>
            <a:off x="6812280" y="1856232"/>
            <a:ext cx="4526280" cy="384048"/>
          </a:xfrm>
          <a:prstGeom prst="rect">
            <a:avLst/>
          </a:prstGeom>
          <a:noFill/>
          <a:ln>
            <a:noFill/>
          </a:ln>
        </p:spPr>
        <p:txBody>
          <a:bodyPr wrap="square" lIns="0" tIns="0" rIns="0" bIns="0" rtlCol="0" anchor="ctr">
            <a:normAutofit/>
          </a:bodyPr>
          <a:lstStyle/>
          <a:p>
            <a:pPr marL="0" indent="0">
              <a:buNone/>
            </a:pPr>
            <a:r>
              <a:rPr lang="en-US" sz="1010" dirty="0">
                <a:solidFill>
                  <a:srgbClr val="1F2933"/>
                </a:solidFill>
              </a:rPr>
              <a:t>Prompting pour notes / décisions, lecture critique, règles de partage</a:t>
            </a:r>
            <a:endParaRPr lang="en-US" sz="1010" dirty="0"/>
          </a:p>
        </p:txBody>
      </p:sp>
      <p:sp>
        <p:nvSpPr>
          <p:cNvPr id="12" name="Shape 10"/>
          <p:cNvSpPr/>
          <p:nvPr/>
        </p:nvSpPr>
        <p:spPr>
          <a:xfrm>
            <a:off x="868680" y="2606040"/>
            <a:ext cx="10652760" cy="0"/>
          </a:xfrm>
          <a:prstGeom prst="line">
            <a:avLst/>
          </a:prstGeom>
          <a:noFill/>
          <a:ln w="12700">
            <a:solidFill>
              <a:srgbClr val="E3D8CC"/>
            </a:solidFill>
            <a:prstDash val="solid"/>
          </a:ln>
        </p:spPr>
        <p:txBody>
          <a:bodyPr/>
          <a:lstStyle/>
          <a:p>
            <a:endParaRPr/>
          </a:p>
        </p:txBody>
      </p:sp>
      <p:sp>
        <p:nvSpPr>
          <p:cNvPr id="13" name="Text 11"/>
          <p:cNvSpPr/>
          <p:nvPr/>
        </p:nvSpPr>
        <p:spPr>
          <a:xfrm>
            <a:off x="914400" y="2660904"/>
            <a:ext cx="2011680" cy="219456"/>
          </a:xfrm>
          <a:prstGeom prst="rect">
            <a:avLst/>
          </a:prstGeom>
          <a:noFill/>
          <a:ln>
            <a:noFill/>
          </a:ln>
        </p:spPr>
        <p:txBody>
          <a:bodyPr wrap="square" lIns="0" tIns="0" rIns="0" bIns="0" rtlCol="0" anchor="ctr">
            <a:normAutofit fontScale="85000" lnSpcReduction="10000"/>
          </a:bodyPr>
          <a:lstStyle/>
          <a:p>
            <a:pPr marL="0" indent="0">
              <a:buNone/>
            </a:pPr>
            <a:r>
              <a:rPr lang="en-US" sz="1080" b="1" dirty="0">
                <a:solidFill>
                  <a:srgbClr val="1F2933"/>
                </a:solidFill>
              </a:rPr>
              <a:t>Sales / Marketing / Communication</a:t>
            </a:r>
            <a:endParaRPr lang="en-US" sz="1080" dirty="0"/>
          </a:p>
        </p:txBody>
      </p:sp>
      <p:sp>
        <p:nvSpPr>
          <p:cNvPr id="14" name="Text 12"/>
          <p:cNvSpPr/>
          <p:nvPr/>
        </p:nvSpPr>
        <p:spPr>
          <a:xfrm>
            <a:off x="3154680" y="2660904"/>
            <a:ext cx="3383280" cy="347472"/>
          </a:xfrm>
          <a:prstGeom prst="rect">
            <a:avLst/>
          </a:prstGeom>
          <a:noFill/>
          <a:ln>
            <a:noFill/>
          </a:ln>
        </p:spPr>
        <p:txBody>
          <a:bodyPr wrap="square" lIns="0" tIns="0" rIns="0" bIns="0" rtlCol="0" anchor="ctr">
            <a:normAutofit/>
          </a:bodyPr>
          <a:lstStyle/>
          <a:p>
            <a:pPr marL="0" indent="0">
              <a:buNone/>
            </a:pPr>
            <a:r>
              <a:rPr lang="en-US" sz="1020" dirty="0">
                <a:solidFill>
                  <a:srgbClr val="1F2933"/>
                </a:solidFill>
              </a:rPr>
              <a:t>Population la plus nombreuse ; forte demande sur pitchs, prospection et slides</a:t>
            </a:r>
            <a:endParaRPr lang="en-US" sz="1020" dirty="0"/>
          </a:p>
        </p:txBody>
      </p:sp>
      <p:sp>
        <p:nvSpPr>
          <p:cNvPr id="15" name="Text 13"/>
          <p:cNvSpPr/>
          <p:nvPr/>
        </p:nvSpPr>
        <p:spPr>
          <a:xfrm>
            <a:off x="6812280" y="2660904"/>
            <a:ext cx="4526280" cy="384048"/>
          </a:xfrm>
          <a:prstGeom prst="rect">
            <a:avLst/>
          </a:prstGeom>
          <a:noFill/>
          <a:ln>
            <a:noFill/>
          </a:ln>
        </p:spPr>
        <p:txBody>
          <a:bodyPr wrap="square" lIns="0" tIns="0" rIns="0" bIns="0" rtlCol="0" anchor="ctr">
            <a:normAutofit/>
          </a:bodyPr>
          <a:lstStyle/>
          <a:p>
            <a:pPr marL="0" indent="0">
              <a:buNone/>
            </a:pPr>
            <a:r>
              <a:rPr lang="en-US" sz="1010" dirty="0">
                <a:solidFill>
                  <a:srgbClr val="1F2933"/>
                </a:solidFill>
              </a:rPr>
              <a:t>Préparation client, création de slides, qualité rédactionnelle</a:t>
            </a:r>
            <a:endParaRPr lang="en-US" sz="1010" dirty="0"/>
          </a:p>
        </p:txBody>
      </p:sp>
      <p:sp>
        <p:nvSpPr>
          <p:cNvPr id="16" name="Shape 14"/>
          <p:cNvSpPr/>
          <p:nvPr/>
        </p:nvSpPr>
        <p:spPr>
          <a:xfrm>
            <a:off x="868680" y="3410712"/>
            <a:ext cx="10652760" cy="0"/>
          </a:xfrm>
          <a:prstGeom prst="line">
            <a:avLst/>
          </a:prstGeom>
          <a:noFill/>
          <a:ln w="12700">
            <a:solidFill>
              <a:srgbClr val="E3D8CC"/>
            </a:solidFill>
            <a:prstDash val="solid"/>
          </a:ln>
        </p:spPr>
        <p:txBody>
          <a:bodyPr/>
          <a:lstStyle/>
          <a:p>
            <a:endParaRPr/>
          </a:p>
        </p:txBody>
      </p:sp>
      <p:sp>
        <p:nvSpPr>
          <p:cNvPr id="17" name="Text 15"/>
          <p:cNvSpPr/>
          <p:nvPr/>
        </p:nvSpPr>
        <p:spPr>
          <a:xfrm>
            <a:off x="914400" y="3465576"/>
            <a:ext cx="2011680" cy="219456"/>
          </a:xfrm>
          <a:prstGeom prst="rect">
            <a:avLst/>
          </a:prstGeom>
          <a:noFill/>
          <a:ln>
            <a:noFill/>
          </a:ln>
        </p:spPr>
        <p:txBody>
          <a:bodyPr wrap="square" lIns="0" tIns="0" rIns="0" bIns="0" rtlCol="0" anchor="ctr">
            <a:normAutofit/>
          </a:bodyPr>
          <a:lstStyle/>
          <a:p>
            <a:pPr marL="0" indent="0">
              <a:buNone/>
            </a:pPr>
            <a:r>
              <a:rPr lang="en-US" sz="1080" b="1" dirty="0">
                <a:solidFill>
                  <a:srgbClr val="1F2933"/>
                </a:solidFill>
              </a:rPr>
              <a:t>Operations / Supply / Quality</a:t>
            </a:r>
            <a:endParaRPr lang="en-US" sz="1080" dirty="0"/>
          </a:p>
        </p:txBody>
      </p:sp>
      <p:sp>
        <p:nvSpPr>
          <p:cNvPr id="18" name="Text 16"/>
          <p:cNvSpPr/>
          <p:nvPr/>
        </p:nvSpPr>
        <p:spPr>
          <a:xfrm>
            <a:off x="3154680" y="3465576"/>
            <a:ext cx="3383280" cy="347472"/>
          </a:xfrm>
          <a:prstGeom prst="rect">
            <a:avLst/>
          </a:prstGeom>
          <a:noFill/>
          <a:ln>
            <a:noFill/>
          </a:ln>
        </p:spPr>
        <p:txBody>
          <a:bodyPr wrap="square" lIns="0" tIns="0" rIns="0" bIns="0" rtlCol="0" anchor="ctr">
            <a:normAutofit/>
          </a:bodyPr>
          <a:lstStyle/>
          <a:p>
            <a:pPr marL="0" indent="0">
              <a:buNone/>
            </a:pPr>
            <a:r>
              <a:rPr lang="en-US" sz="1020" dirty="0">
                <a:solidFill>
                  <a:srgbClr val="1F2933"/>
                </a:solidFill>
              </a:rPr>
              <a:t>Adoption plus hétérogène ; besoin d’automatisation légère et de garde-fous</a:t>
            </a:r>
            <a:endParaRPr lang="en-US" sz="1020" dirty="0"/>
          </a:p>
        </p:txBody>
      </p:sp>
      <p:sp>
        <p:nvSpPr>
          <p:cNvPr id="19" name="Text 17"/>
          <p:cNvSpPr/>
          <p:nvPr/>
        </p:nvSpPr>
        <p:spPr>
          <a:xfrm>
            <a:off x="6812280" y="3465576"/>
            <a:ext cx="4526280" cy="384048"/>
          </a:xfrm>
          <a:prstGeom prst="rect">
            <a:avLst/>
          </a:prstGeom>
          <a:noFill/>
          <a:ln>
            <a:noFill/>
          </a:ln>
        </p:spPr>
        <p:txBody>
          <a:bodyPr wrap="square" lIns="0" tIns="0" rIns="0" bIns="0" rtlCol="0" anchor="ctr">
            <a:normAutofit/>
          </a:bodyPr>
          <a:lstStyle/>
          <a:p>
            <a:pPr marL="0" indent="0">
              <a:buNone/>
            </a:pPr>
            <a:r>
              <a:rPr lang="en-US" sz="1010" dirty="0">
                <a:solidFill>
                  <a:srgbClr val="1F2933"/>
                </a:solidFill>
              </a:rPr>
              <a:t>Synthèse documentaire, tâches répétitives, responsible use</a:t>
            </a:r>
            <a:endParaRPr lang="en-US" sz="1010" dirty="0"/>
          </a:p>
        </p:txBody>
      </p:sp>
      <p:sp>
        <p:nvSpPr>
          <p:cNvPr id="20" name="Shape 18"/>
          <p:cNvSpPr/>
          <p:nvPr/>
        </p:nvSpPr>
        <p:spPr>
          <a:xfrm>
            <a:off x="868680" y="4215384"/>
            <a:ext cx="10652760" cy="0"/>
          </a:xfrm>
          <a:prstGeom prst="line">
            <a:avLst/>
          </a:prstGeom>
          <a:noFill/>
          <a:ln w="12700">
            <a:solidFill>
              <a:srgbClr val="E3D8CC"/>
            </a:solidFill>
            <a:prstDash val="solid"/>
          </a:ln>
        </p:spPr>
        <p:txBody>
          <a:bodyPr/>
          <a:lstStyle/>
          <a:p>
            <a:endParaRPr/>
          </a:p>
        </p:txBody>
      </p:sp>
      <p:sp>
        <p:nvSpPr>
          <p:cNvPr id="21" name="Text 19"/>
          <p:cNvSpPr/>
          <p:nvPr/>
        </p:nvSpPr>
        <p:spPr>
          <a:xfrm>
            <a:off x="914400" y="4270248"/>
            <a:ext cx="2011680" cy="219456"/>
          </a:xfrm>
          <a:prstGeom prst="rect">
            <a:avLst/>
          </a:prstGeom>
          <a:noFill/>
          <a:ln>
            <a:noFill/>
          </a:ln>
        </p:spPr>
        <p:txBody>
          <a:bodyPr wrap="square" lIns="0" tIns="0" rIns="0" bIns="0" rtlCol="0" anchor="ctr">
            <a:normAutofit/>
          </a:bodyPr>
          <a:lstStyle/>
          <a:p>
            <a:pPr marL="0" indent="0">
              <a:buNone/>
            </a:pPr>
            <a:r>
              <a:rPr lang="en-US" sz="1080" b="1" dirty="0">
                <a:solidFill>
                  <a:srgbClr val="1F2933"/>
                </a:solidFill>
              </a:rPr>
              <a:t>R&amp;D / Innovation</a:t>
            </a:r>
            <a:endParaRPr lang="en-US" sz="1080" dirty="0"/>
          </a:p>
        </p:txBody>
      </p:sp>
      <p:sp>
        <p:nvSpPr>
          <p:cNvPr id="22" name="Text 20"/>
          <p:cNvSpPr/>
          <p:nvPr/>
        </p:nvSpPr>
        <p:spPr>
          <a:xfrm>
            <a:off x="3154680" y="4270248"/>
            <a:ext cx="3383280" cy="347472"/>
          </a:xfrm>
          <a:prstGeom prst="rect">
            <a:avLst/>
          </a:prstGeom>
          <a:noFill/>
          <a:ln>
            <a:noFill/>
          </a:ln>
        </p:spPr>
        <p:txBody>
          <a:bodyPr wrap="square" lIns="0" tIns="0" rIns="0" bIns="0" rtlCol="0" anchor="ctr">
            <a:normAutofit/>
          </a:bodyPr>
          <a:lstStyle/>
          <a:p>
            <a:pPr marL="0" indent="0">
              <a:buNone/>
            </a:pPr>
            <a:r>
              <a:rPr lang="en-US" sz="1020" dirty="0">
                <a:solidFill>
                  <a:srgbClr val="1F2933"/>
                </a:solidFill>
              </a:rPr>
              <a:t>Appétence élevée ; besoin fort sur data analysis et support technique</a:t>
            </a:r>
            <a:endParaRPr lang="en-US" sz="1020" dirty="0"/>
          </a:p>
        </p:txBody>
      </p:sp>
      <p:sp>
        <p:nvSpPr>
          <p:cNvPr id="23" name="Text 21"/>
          <p:cNvSpPr/>
          <p:nvPr/>
        </p:nvSpPr>
        <p:spPr>
          <a:xfrm>
            <a:off x="6812280" y="4270248"/>
            <a:ext cx="4526280" cy="384048"/>
          </a:xfrm>
          <a:prstGeom prst="rect">
            <a:avLst/>
          </a:prstGeom>
          <a:noFill/>
          <a:ln>
            <a:noFill/>
          </a:ln>
        </p:spPr>
        <p:txBody>
          <a:bodyPr wrap="square" lIns="0" tIns="0" rIns="0" bIns="0" rtlCol="0" anchor="ctr">
            <a:normAutofit/>
          </a:bodyPr>
          <a:lstStyle/>
          <a:p>
            <a:pPr marL="0" indent="0">
              <a:buNone/>
            </a:pPr>
            <a:r>
              <a:rPr lang="en-US" sz="1010" dirty="0">
                <a:solidFill>
                  <a:srgbClr val="1F2933"/>
                </a:solidFill>
              </a:rPr>
              <a:t>Analyse de données, recherche technique, bases documentaires métier</a:t>
            </a:r>
            <a:endParaRPr lang="en-US" sz="1010" dirty="0"/>
          </a:p>
        </p:txBody>
      </p:sp>
      <p:sp>
        <p:nvSpPr>
          <p:cNvPr id="24" name="Shape 22"/>
          <p:cNvSpPr/>
          <p:nvPr/>
        </p:nvSpPr>
        <p:spPr>
          <a:xfrm>
            <a:off x="868680" y="5020056"/>
            <a:ext cx="10652760" cy="0"/>
          </a:xfrm>
          <a:prstGeom prst="line">
            <a:avLst/>
          </a:prstGeom>
          <a:noFill/>
          <a:ln w="12700">
            <a:solidFill>
              <a:srgbClr val="E3D8CC"/>
            </a:solidFill>
            <a:prstDash val="solid"/>
          </a:ln>
        </p:spPr>
        <p:txBody>
          <a:bodyPr/>
          <a:lstStyle/>
          <a:p>
            <a:endParaRPr/>
          </a:p>
        </p:txBody>
      </p:sp>
      <p:sp>
        <p:nvSpPr>
          <p:cNvPr id="25" name="Text 23"/>
          <p:cNvSpPr/>
          <p:nvPr/>
        </p:nvSpPr>
        <p:spPr>
          <a:xfrm>
            <a:off x="914400" y="5074920"/>
            <a:ext cx="2011680" cy="219456"/>
          </a:xfrm>
          <a:prstGeom prst="rect">
            <a:avLst/>
          </a:prstGeom>
          <a:noFill/>
          <a:ln>
            <a:noFill/>
          </a:ln>
        </p:spPr>
        <p:txBody>
          <a:bodyPr wrap="square" lIns="0" tIns="0" rIns="0" bIns="0" rtlCol="0" anchor="ctr">
            <a:normAutofit/>
          </a:bodyPr>
          <a:lstStyle/>
          <a:p>
            <a:pPr marL="0" indent="0">
              <a:buNone/>
            </a:pPr>
            <a:r>
              <a:rPr lang="en-US" sz="1080" b="1" dirty="0">
                <a:solidFill>
                  <a:srgbClr val="1F2933"/>
                </a:solidFill>
              </a:rPr>
              <a:t>Finance / Legal / Procurement</a:t>
            </a:r>
            <a:endParaRPr lang="en-US" sz="1080" dirty="0"/>
          </a:p>
        </p:txBody>
      </p:sp>
      <p:sp>
        <p:nvSpPr>
          <p:cNvPr id="26" name="Text 24"/>
          <p:cNvSpPr/>
          <p:nvPr/>
        </p:nvSpPr>
        <p:spPr>
          <a:xfrm>
            <a:off x="3154680" y="5074920"/>
            <a:ext cx="3383280" cy="347472"/>
          </a:xfrm>
          <a:prstGeom prst="rect">
            <a:avLst/>
          </a:prstGeom>
          <a:noFill/>
          <a:ln>
            <a:noFill/>
          </a:ln>
        </p:spPr>
        <p:txBody>
          <a:bodyPr wrap="square" lIns="0" tIns="0" rIns="0" bIns="0" rtlCol="0" anchor="ctr">
            <a:normAutofit/>
          </a:bodyPr>
          <a:lstStyle/>
          <a:p>
            <a:pPr marL="0" indent="0">
              <a:buNone/>
            </a:pPr>
            <a:r>
              <a:rPr lang="en-US" sz="1020" dirty="0">
                <a:solidFill>
                  <a:srgbClr val="1F2933"/>
                </a:solidFill>
              </a:rPr>
              <a:t>Usage élevé mais très sensible au risque et à la précision</a:t>
            </a:r>
            <a:endParaRPr lang="en-US" sz="1020" dirty="0"/>
          </a:p>
        </p:txBody>
      </p:sp>
      <p:sp>
        <p:nvSpPr>
          <p:cNvPr id="27" name="Text 25"/>
          <p:cNvSpPr/>
          <p:nvPr/>
        </p:nvSpPr>
        <p:spPr>
          <a:xfrm>
            <a:off x="6812280" y="5074920"/>
            <a:ext cx="4526280" cy="384048"/>
          </a:xfrm>
          <a:prstGeom prst="rect">
            <a:avLst/>
          </a:prstGeom>
          <a:noFill/>
          <a:ln>
            <a:noFill/>
          </a:ln>
        </p:spPr>
        <p:txBody>
          <a:bodyPr wrap="square" lIns="0" tIns="0" rIns="0" bIns="0" rtlCol="0" anchor="ctr">
            <a:normAutofit/>
          </a:bodyPr>
          <a:lstStyle/>
          <a:p>
            <a:pPr marL="0" indent="0">
              <a:buNone/>
            </a:pPr>
            <a:r>
              <a:rPr lang="en-US" sz="1010" dirty="0">
                <a:solidFill>
                  <a:srgbClr val="1F2933"/>
                </a:solidFill>
              </a:rPr>
              <a:t>Analyse documentaire, extraction / synthèse, gouvernance et validation</a:t>
            </a:r>
            <a:endParaRPr lang="en-US" sz="1010" dirty="0"/>
          </a:p>
        </p:txBody>
      </p:sp>
      <p:sp>
        <p:nvSpPr>
          <p:cNvPr id="28" name="TextBox 27"/>
          <p:cNvSpPr txBox="1"/>
          <p:nvPr/>
        </p:nvSpPr>
        <p:spPr>
          <a:xfrm>
            <a:off x="11292840" y="6455664"/>
            <a:ext cx="502920" cy="182880"/>
          </a:xfrm>
          <a:prstGeom prst="rect">
            <a:avLst/>
          </a:prstGeom>
          <a:noFill/>
          <a:ln>
            <a:noFill/>
          </a:ln>
        </p:spPr>
        <p:txBody>
          <a:bodyPr wrap="none">
            <a:spAutoFit/>
          </a:bodyPr>
          <a:lstStyle/>
          <a:p>
            <a:pPr algn="r">
              <a:defRPr sz="1000">
                <a:solidFill>
                  <a:srgbClr val="27333F"/>
                </a:solidFill>
                <a:latin typeface="Aptos"/>
              </a:defRPr>
            </a:pPr>
            <a: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F261F"/>
      </a:dk2>
      <a:lt2>
        <a:srgbClr val="F4EDE4"/>
      </a:lt2>
      <a:accent1>
        <a:srgbClr val="3D1104"/>
      </a:accent1>
      <a:accent2>
        <a:srgbClr val="CA5151"/>
      </a:accent2>
      <a:accent3>
        <a:srgbClr val="B9A99B"/>
      </a:accent3>
      <a:accent4>
        <a:srgbClr val="B07A1A"/>
      </a:accent4>
      <a:accent5>
        <a:srgbClr val="9C623A"/>
      </a:accent5>
      <a:accent6>
        <a:srgbClr val="6F8A5C"/>
      </a:accent6>
      <a:hlink>
        <a:srgbClr val="7C4A34"/>
      </a:hlink>
      <a:folHlink>
        <a:srgbClr val="8B7D73"/>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D9D918D462B4E4993FCDCB9DB4C8DE7" ma:contentTypeVersion="19" ma:contentTypeDescription="Crée un document." ma:contentTypeScope="" ma:versionID="b3432d06c92e5e3b3a54946bb57d7535">
  <xsd:schema xmlns:xsd="http://www.w3.org/2001/XMLSchema" xmlns:xs="http://www.w3.org/2001/XMLSchema" xmlns:p="http://schemas.microsoft.com/office/2006/metadata/properties" xmlns:ns2="2dccb1bd-70de-4ca3-a941-00cc3a0d28b7" xmlns:ns3="fb696982-d1b4-47b5-866c-d0b87666aab5" targetNamespace="http://schemas.microsoft.com/office/2006/metadata/properties" ma:root="true" ma:fieldsID="d2829e0dac4801ee4a0bae0ae71882eb" ns2:_="" ns3:_="">
    <xsd:import namespace="2dccb1bd-70de-4ca3-a941-00cc3a0d28b7"/>
    <xsd:import namespace="fb696982-d1b4-47b5-866c-d0b87666aab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element ref="ns2:MediaLengthInSeconds" minOccurs="0"/>
                <xsd:element ref="ns2:MediaServiceOCR" minOccurs="0"/>
                <xsd:element ref="ns2:MediaServiceBillingMetadata" minOccurs="0"/>
                <xsd:element ref="ns2:VF"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dccb1bd-70de-4ca3-a941-00cc3a0d28b7" elementFormDefault="qualified">
    <xsd:import namespace="http://schemas.microsoft.com/office/2006/documentManagement/types"/>
    <xsd:import namespace="http://schemas.microsoft.com/office/infopath/2007/PartnerControls"/>
    <xsd:element name="MediaServiceMetadata" ma:index="7" nillable="true" ma:displayName="MediaServiceMetadata" ma:hidden="true" ma:internalName="MediaServiceMetadata" ma:readOnly="true">
      <xsd:simpleType>
        <xsd:restriction base="dms:Note"/>
      </xsd:simpleType>
    </xsd:element>
    <xsd:element name="MediaServiceFastMetadata" ma:index="8" nillable="true" ma:displayName="MediaServiceFastMetadata" ma:hidden="true" ma:internalName="MediaServiceFastMetadata" ma:readOnly="true">
      <xsd:simpleType>
        <xsd:restriction base="dms:Note"/>
      </xsd:simpleType>
    </xsd:element>
    <xsd:element name="MediaServiceObjectDetectorVersions" ma:index="9" nillable="true" ma:displayName="MediaServiceObjectDetectorVersions" ma:hidden="true" ma:indexed="true" ma:internalName="MediaServiceObjectDetectorVersions" ma:readOnly="true">
      <xsd:simpleType>
        <xsd:restriction base="dms:Text"/>
      </xsd:simpleType>
    </xsd:element>
    <xsd:element name="lcf76f155ced4ddcb4097134ff3c332f" ma:index="11" nillable="true" ma:taxonomy="true" ma:internalName="lcf76f155ced4ddcb4097134ff3c332f" ma:taxonomyFieldName="MediaServiceImageTags" ma:displayName="Balises d’images" ma:readOnly="false" ma:fieldId="{5cf76f15-5ced-4ddc-b409-7134ff3c332f}" ma:taxonomyMulti="true" ma:sspId="3dc0473d-e3d3-4225-875c-4da37086fd3f"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CR" ma:index="20" nillable="true" ma:displayName="Extracted Text" ma:hidden="true" ma:internalName="MediaServiceOCR" ma:readOnly="true">
      <xsd:simpleType>
        <xsd:restriction base="dms:Note"/>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VF" ma:index="22" nillable="true" ma:displayName="VF" ma:default="1" ma:format="Dropdown" ma:hidden="true" ma:internalName="VF" ma:readOnly="false">
      <xsd:simpleType>
        <xsd:restriction base="dms:Boolean"/>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696982-d1b4-47b5-866c-d0b87666aab5"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bf630265-40d3-4158-afcb-2416a47e8d2e}" ma:internalName="TaxCatchAll" ma:readOnly="false" ma:showField="CatchAllData" ma:web="fb696982-d1b4-47b5-866c-d0b87666aab5">
      <xsd:complexType>
        <xsd:complexContent>
          <xsd:extension base="dms:MultiChoiceLookup">
            <xsd:sequence>
              <xsd:element name="Value" type="dms:Lookup" maxOccurs="unbounded" minOccurs="0" nillable="true"/>
            </xsd:sequence>
          </xsd:extension>
        </xsd:complexContent>
      </xsd:complexType>
    </xsd:element>
    <xsd:element name="SharedWithUsers" ma:index="15" nillable="true" ma:displayName="Partagé avec"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Partagé avec dé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Type de contenu"/>
        <xsd:element ref="dc:title" minOccurs="0" maxOccurs="1" ma:index="1"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dccb1bd-70de-4ca3-a941-00cc3a0d28b7">
      <Terms xmlns="http://schemas.microsoft.com/office/infopath/2007/PartnerControls"/>
    </lcf76f155ced4ddcb4097134ff3c332f>
    <VF xmlns="2dccb1bd-70de-4ca3-a941-00cc3a0d28b7">true</VF>
    <TaxCatchAll xmlns="fb696982-d1b4-47b5-866c-d0b87666aab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8259325-2E99-4E6D-AD14-AEA743B8DF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dccb1bd-70de-4ca3-a941-00cc3a0d28b7"/>
    <ds:schemaRef ds:uri="fb696982-d1b4-47b5-866c-d0b87666aa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6018089-E841-46DF-AFC1-E3503911CADF}">
  <ds:schemaRefs>
    <ds:schemaRef ds:uri="http://schemas.microsoft.com/office/2006/metadata/properties"/>
    <ds:schemaRef ds:uri="http://schemas.microsoft.com/office/infopath/2007/PartnerControls"/>
    <ds:schemaRef ds:uri="2dccb1bd-70de-4ca3-a941-00cc3a0d28b7"/>
    <ds:schemaRef ds:uri="fb696982-d1b4-47b5-866c-d0b87666aab5"/>
  </ds:schemaRefs>
</ds:datastoreItem>
</file>

<file path=customXml/itemProps3.xml><?xml version="1.0" encoding="utf-8"?>
<ds:datastoreItem xmlns:ds="http://schemas.openxmlformats.org/officeDocument/2006/customXml" ds:itemID="{B89BD099-A1FC-4A64-8CE0-CF86A44A10B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2513</Words>
  <Application>Microsoft Office PowerPoint</Application>
  <PresentationFormat>Grand écran</PresentationFormat>
  <Paragraphs>280</Paragraphs>
  <Slides>10</Slides>
  <Notes>10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Aptos</vt:lpstr>
      <vt:lpstr>Aptos Display</vt: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Usages de l’IA — état des lieux et décisions COMEX</dc:title>
  <dc:subject>Deck COMEX - enquête IA</dc:subject>
  <dc:creator>OpenAI</dc:creator>
  <cp:lastModifiedBy>Damien BERGER</cp:lastModifiedBy>
  <cp:revision>1</cp:revision>
  <dcterms:created xsi:type="dcterms:W3CDTF">2026-04-10T14:08:39Z</dcterms:created>
  <dcterms:modified xsi:type="dcterms:W3CDTF">2026-04-10T15:50:22Z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0x010100FD9D918D462B4E4993FCDCB9DB4C8DE7</vt:lpwstr>
  </property>
  <property fmtid="{D5CDD505-2E9C-101B-9397-08002B2CF9AE}" pid="3" name="MediaServiceImageTags">
    <vt:lpwstr/>
  </property>
</Properties>
</file>